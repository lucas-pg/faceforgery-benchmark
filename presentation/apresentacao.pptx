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Apresente primeiro os resultados do benchmark anterior. Em seguida, explique os três protocolos implementados para investigar as decisões dos detectores. Esta apresentação não contém heatmaps novos nem resultados inferidos como se tivessem sido medidos. Autores mantidos conforme o manuscrito fornecido; o material requer revisão da equipe.</a:t>
            </a:r>
          </a:p>
          <a:p/>
          <a:p>
            <a:r>
              <a:t>Fontes: A · Estudo anterior; B · seção V-A.</a:t>
            </a:r>
          </a:p>
          <a:p>
            <a:r>
              <a:t>[A] Cunha et al. — estudo anterior: https://github.com/Lucas-PG/FaceForgery-Benchmark/blob/e9beb4e212b7e3f749f65e84d27ef7f10b52de99/paper/original-sibgrapi.pdf</a:t>
            </a:r>
          </a:p>
          <a:p>
            <a:r>
              <a:t>[B] Manuscrito principal — seis páginas: https://github.com/Lucas-PG/FaceForgery-Benchmark/blob/e9beb4e212b7e3f749f65e84d27ef7f10b52de99/paper/six-page/main.tex</a:t>
            </a:r>
          </a:p>
          <a:p>
            <a:r>
              <a:t>[C] Guia de execução e configuração: https://github.com/Lucas-PG/FaceForgery-Benchmark/blob/e9beb4e212b7e3f749f65e84d27ef7f10b52de99/docs/explicability.md</a:t>
            </a:r>
          </a:p>
          <a:p>
            <a:r>
              <a:t>[D] Sundararajan et al. — Integrated Gradients: https://proceedings.mlr.press/v70/sundararajan17a.html</a:t>
            </a:r>
          </a:p>
          <a:p>
            <a:r>
              <a:t>[E] Selvaraju et al. — Grad-CAM: https://openaccess.thecvf.com/content_iccv_2017/html/Selvaraju_Grad-CAM_Visual_Explanations_ICCV_2017_paper.html</a:t>
            </a:r>
          </a:p>
          <a:p>
            <a:r>
              <a:t>[F] Adebayo et al. — Sanity Checks for Saliency Maps: https://arxiv.org/abs/1810.03292</a:t>
            </a:r>
          </a:p>
          <a:p>
            <a:r>
              <a:t>[G] Hedström et al. — Quantus: https://jmlr.org/papers/v24/22-0142.html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 MFFI contém, no estudo anterior, 524.429 imagens de treino, 147.363 de validação e 181.947 de teste, além do teste degradado correspondente. Os resultados são médias de três sementes. Cinco famílias foram treinadas do zero; a configuração DINOv3 do estudo anterior tinha o backbone congelado. Não confundir esses modelos com o release fine-tuned usado pela extensão. ROC-AUC resume a ordenação entre classes ao variar o limiar; não é a porcentagem de acertos em um limiar específico.</a:t>
            </a:r>
          </a:p>
          <a:p/>
          <a:p>
            <a:r>
              <a:t>Fontes: A · seções III–IV; B · seção III.</a:t>
            </a:r>
          </a:p>
          <a:p>
            <a:r>
              <a:t>[A] Cunha et al. — estudo anterior: https://github.com/Lucas-PG/FaceForgery-Benchmark/blob/e9beb4e212b7e3f749f65e84d27ef7f10b52de99/paper/original-sibgrapi.pdf</a:t>
            </a:r>
          </a:p>
          <a:p>
            <a:r>
              <a:t>[B] Manuscrito principal — seis páginas: https://github.com/Lucas-PG/FaceForgery-Benchmark/blob/e9beb4e212b7e3f749f65e84d27ef7f10b52de99/paper/six-page/main.tex</a:t>
            </a:r>
          </a:p>
          <a:p>
            <a:r>
              <a:t>[C] Guia de execução e configuração: https://github.com/Lucas-PG/FaceForgery-Benchmark/blob/e9beb4e212b7e3f749f65e84d27ef7f10b52de99/docs/explicability.md</a:t>
            </a:r>
          </a:p>
          <a:p>
            <a:r>
              <a:t>[D] Sundararajan et al. — Integrated Gradients: https://proceedings.mlr.press/v70/sundararajan17a.html</a:t>
            </a:r>
          </a:p>
          <a:p>
            <a:r>
              <a:t>[E] Selvaraju et al. — Grad-CAM: https://openaccess.thecvf.com/content_iccv_2017/html/Selvaraju_Grad-CAM_Visual_Explanations_ICCV_2017_paper.html</a:t>
            </a:r>
          </a:p>
          <a:p>
            <a:r>
              <a:t>[F] Adebayo et al. — Sanity Checks for Saliency Maps: https://arxiv.org/abs/1810.03292</a:t>
            </a:r>
          </a:p>
          <a:p>
            <a:r>
              <a:t>[G] Hedström et al. — Quantus: https://jmlr.org/papers/v24/22-0142.html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Todos os pontos são médias RGB do estudo anterior. Círculo azul indica teste limpo; quadrado verde indica teste degradado. O eixo começa em 0,50 e termina em 1,00, de forma explícita: é um gráfico de posições, não de barras. Xception lidera o limpo, enquanto DINOv3 congelado lidera o degradado entre as seis configurações mostradas. A figura não adiciona intervalos de confiança nem prova superioridade estatística. DINOv3 e os demais modelos diferem também no regime de pré-treinamento.</a:t>
            </a:r>
          </a:p>
          <a:p/>
          <a:p>
            <a:r>
              <a:t>Fontes: A · Estudo anterior; B · seção V-A.</a:t>
            </a:r>
          </a:p>
          <a:p>
            <a:r>
              <a:t>[A] Cunha et al. — estudo anterior: https://github.com/Lucas-PG/FaceForgery-Benchmark/blob/e9beb4e212b7e3f749f65e84d27ef7f10b52de99/paper/original-sibgrapi.pdf</a:t>
            </a:r>
          </a:p>
          <a:p>
            <a:r>
              <a:t>[B] Manuscrito principal — seis páginas: https://github.com/Lucas-PG/FaceForgery-Benchmark/blob/e9beb4e212b7e3f749f65e84d27ef7f10b52de99/paper/six-page/main.tex</a:t>
            </a:r>
          </a:p>
          <a:p>
            <a:r>
              <a:t>[C] Guia de execução e configuração: https://github.com/Lucas-PG/FaceForgery-Benchmark/blob/e9beb4e212b7e3f749f65e84d27ef7f10b52de99/docs/explicability.md</a:t>
            </a:r>
          </a:p>
          <a:p>
            <a:r>
              <a:t>[D] Sundararajan et al. — Integrated Gradients: https://proceedings.mlr.press/v70/sundararajan17a.html</a:t>
            </a:r>
          </a:p>
          <a:p>
            <a:r>
              <a:t>[E] Selvaraju et al. — Grad-CAM: https://openaccess.thecvf.com/content_iccv_2017/html/Selvaraju_Grad-CAM_Visual_Explanations_ICCV_2017_paper.html</a:t>
            </a:r>
          </a:p>
          <a:p>
            <a:r>
              <a:t>[F] Adebayo et al. — Sanity Checks for Saliency Maps: https://arxiv.org/abs/1810.03292</a:t>
            </a:r>
          </a:p>
          <a:p>
            <a:r>
              <a:t>[G] Hedström et al. — Quantus: https://jmlr.org/papers/v24/22-0142.html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queda absoluta do ViT é menor, mas seu ponto de partida já é baixo: 0,624 no limpo e 0,608 no degradado. DINOv3 cai mais, 0,083, porém mantém AUC degradada maior, 0,726. Portanto, classificar robustez apenas pela menor queda pode favorecer um modelo pouco discriminativo. Estes são contrastes descritivos; não se isola a arquitetura do pré-treinamento.</a:t>
            </a:r>
          </a:p>
          <a:p/>
          <a:p>
            <a:r>
              <a:t>Fontes: A · Estudo anterior; B · seção V-A.</a:t>
            </a:r>
          </a:p>
          <a:p>
            <a:r>
              <a:t>[A] Cunha et al. — estudo anterior: https://github.com/Lucas-PG/FaceForgery-Benchmark/blob/e9beb4e212b7e3f749f65e84d27ef7f10b52de99/paper/original-sibgrapi.pdf</a:t>
            </a:r>
          </a:p>
          <a:p>
            <a:r>
              <a:t>[B] Manuscrito principal — seis páginas: https://github.com/Lucas-PG/FaceForgery-Benchmark/blob/e9beb4e212b7e3f749f65e84d27ef7f10b52de99/paper/six-page/main.tex</a:t>
            </a:r>
          </a:p>
          <a:p>
            <a:r>
              <a:t>[C] Guia de execução e configuração: https://github.com/Lucas-PG/FaceForgery-Benchmark/blob/e9beb4e212b7e3f749f65e84d27ef7f10b52de99/docs/explicability.md</a:t>
            </a:r>
          </a:p>
          <a:p>
            <a:r>
              <a:t>[D] Sundararajan et al. — Integrated Gradients: https://proceedings.mlr.press/v70/sundararajan17a.html</a:t>
            </a:r>
          </a:p>
          <a:p>
            <a:r>
              <a:t>[E] Selvaraju et al. — Grad-CAM: https://openaccess.thecvf.com/content_iccv_2017/html/Selvaraju_Grad-CAM_Visual_Explanations_ICCV_2017_paper.html</a:t>
            </a:r>
          </a:p>
          <a:p>
            <a:r>
              <a:t>[F] Adebayo et al. — Sanity Checks for Saliency Maps: https://arxiv.org/abs/1810.03292</a:t>
            </a:r>
          </a:p>
          <a:p>
            <a:r>
              <a:t>[G] Hedström et al. — Quantus: https://jmlr.org/papers/v24/22-0142.html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Três comparações descritas no artigo anterior: Xception RGB+magnitude melhora de 0,609 para 0,650; ResNet híbrido de 0,635 para 0,648; MobileNet RGB+magnitude de 0,594 para 0,612 no teste degradado. Os ganhos são 0,041, 0,013 e 0,018 unidades de AUC, calculados das médias arredondadas. São exemplos reportados, não todos os modos nem uma seleção feita em validação nesta apresentação. Não chamar AUC de porcentagem de acerto nem os ganhos de prova causal.</a:t>
            </a:r>
          </a:p>
          <a:p/>
          <a:p>
            <a:r>
              <a:t>Fontes: A · Estudo anterior; B · seção V-A.</a:t>
            </a:r>
          </a:p>
          <a:p>
            <a:r>
              <a:t>[A] Cunha et al. — estudo anterior: https://github.com/Lucas-PG/FaceForgery-Benchmark/blob/e9beb4e212b7e3f749f65e84d27ef7f10b52de99/paper/original-sibgrapi.pdf</a:t>
            </a:r>
          </a:p>
          <a:p>
            <a:r>
              <a:t>[B] Manuscrito principal — seis páginas: https://github.com/Lucas-PG/FaceForgery-Benchmark/blob/e9beb4e212b7e3f749f65e84d27ef7f10b52de99/paper/six-page/main.tex</a:t>
            </a:r>
          </a:p>
          <a:p>
            <a:r>
              <a:t>[C] Guia de execução e configuração: https://github.com/Lucas-PG/FaceForgery-Benchmark/blob/e9beb4e212b7e3f749f65e84d27ef7f10b52de99/docs/explicability.md</a:t>
            </a:r>
          </a:p>
          <a:p>
            <a:r>
              <a:t>[D] Sundararajan et al. — Integrated Gradients: https://proceedings.mlr.press/v70/sundararajan17a.html</a:t>
            </a:r>
          </a:p>
          <a:p>
            <a:r>
              <a:t>[E] Selvaraju et al. — Grad-CAM: https://openaccess.thecvf.com/content_iccv_2017/html/Selvaraju_Grad-CAM_Visual_Explanations_ICCV_2017_paper.html</a:t>
            </a:r>
          </a:p>
          <a:p>
            <a:r>
              <a:t>[F] Adebayo et al. — Sanity Checks for Saliency Maps: https://arxiv.org/abs/1810.03292</a:t>
            </a:r>
          </a:p>
          <a:p>
            <a:r>
              <a:t>[G] Hedström et al. — Quantus: https://jmlr.org/papers/v24/22-0142.html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Separar observação de mecanismo: o ranking muda e existem ganhos em entradas híbridas selecionadas no artigo. Esses resultados motivam investigar evidência local ou espectral, mas não demonstram que uma rede identificou um tipo específico de artefato. Tampouco isolam efeitos de arquitetura, pré-treinamento, identidade ou fonte. As análises de explicabilidade entram para formular e examinar essas hipóteses.</a:t>
            </a:r>
          </a:p>
          <a:p/>
          <a:p>
            <a:r>
              <a:t>Fontes: A · Estudo anterior; B · seção V-A.</a:t>
            </a:r>
          </a:p>
          <a:p>
            <a:r>
              <a:t>[A] Cunha et al. — estudo anterior: https://github.com/Lucas-PG/FaceForgery-Benchmark/blob/e9beb4e212b7e3f749f65e84d27ef7f10b52de99/paper/original-sibgrapi.pdf</a:t>
            </a:r>
          </a:p>
          <a:p>
            <a:r>
              <a:t>[B] Manuscrito principal — seis páginas: https://github.com/Lucas-PG/FaceForgery-Benchmark/blob/e9beb4e212b7e3f749f65e84d27ef7f10b52de99/paper/six-page/main.tex</a:t>
            </a:r>
          </a:p>
          <a:p>
            <a:r>
              <a:t>[C] Guia de execução e configuração: https://github.com/Lucas-PG/FaceForgery-Benchmark/blob/e9beb4e212b7e3f749f65e84d27ef7f10b52de99/docs/explicability.md</a:t>
            </a:r>
          </a:p>
          <a:p>
            <a:r>
              <a:t>[D] Sundararajan et al. — Integrated Gradients: https://proceedings.mlr.press/v70/sundararajan17a.html</a:t>
            </a:r>
          </a:p>
          <a:p>
            <a:r>
              <a:t>[E] Selvaraju et al. — Grad-CAM: https://openaccess.thecvf.com/content_iccv_2017/html/Selvaraju_Grad-CAM_Visual_Explanations_ICCV_2017_paper.html</a:t>
            </a:r>
          </a:p>
          <a:p>
            <a:r>
              <a:t>[F] Adebayo et al. — Sanity Checks for Saliency Maps: https://arxiv.org/abs/1810.03292</a:t>
            </a:r>
          </a:p>
          <a:p>
            <a:r>
              <a:t>[G] Hedström et al. — Quantus: https://jmlr.org/papers/v24/22-0142.html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partir daqui, apresenta-se o protocolo implementado, não resultados recém-observados. A primeira tarefa controla as imagens; a segunda controla a comparação RGB–frequência; a terceira define a população de falhas compartilhadas. Todas preservam rastreabilidade, limiares congelados e limitações de interpretação.</a:t>
            </a:r>
          </a:p>
          <a:p/>
          <a:p>
            <a:r>
              <a:t>Fontes: B · seção IV; C · guia de execução.</a:t>
            </a:r>
          </a:p>
          <a:p>
            <a:r>
              <a:t>[A] Cunha et al. — estudo anterior: https://github.com/Lucas-PG/FaceForgery-Benchmark/blob/e9beb4e212b7e3f749f65e84d27ef7f10b52de99/paper/original-sibgrapi.pdf</a:t>
            </a:r>
          </a:p>
          <a:p>
            <a:r>
              <a:t>[B] Manuscrito principal — seis páginas: https://github.com/Lucas-PG/FaceForgery-Benchmark/blob/e9beb4e212b7e3f749f65e84d27ef7f10b52de99/paper/six-page/main.tex</a:t>
            </a:r>
          </a:p>
          <a:p>
            <a:r>
              <a:t>[C] Guia de execução e configuração: https://github.com/Lucas-PG/FaceForgery-Benchmark/blob/e9beb4e212b7e3f749f65e84d27ef7f10b52de99/docs/explicability.md</a:t>
            </a:r>
          </a:p>
          <a:p>
            <a:r>
              <a:t>[D] Sundararajan et al. — Integrated Gradients: https://proceedings.mlr.press/v70/sundararajan17a.html</a:t>
            </a:r>
          </a:p>
          <a:p>
            <a:r>
              <a:t>[E] Selvaraju et al. — Grad-CAM: https://openaccess.thecvf.com/content_iccv_2017/html/Selvaraju_Grad-CAM_Visual_Explanations_ICCV_2017_paper.html</a:t>
            </a:r>
          </a:p>
          <a:p>
            <a:r>
              <a:t>[F] Adebayo et al. — Sanity Checks for Saliency Maps: https://arxiv.org/abs/1810.03292</a:t>
            </a:r>
          </a:p>
          <a:p>
            <a:r>
              <a:t>[G] Hedström et al. — Quantus: https://jmlr.org/papers/v24/22-0142.html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classe positiva é falsa. O modelo de referência é ResNet/RGB/seed 42; a semente de amostragem é 42. VP: falsa prevista falsa; FN: falsa prevista real; VN: real prevista real; FP: real prevista falsa. São 16 casos sem reposição em cada estrato. As mesmas identidades e ordem são reutilizadas; outros modelos mantêm seus próprios desfechos. Essa amostra super-representa erros, portanto não estima acurácia populacional nem prevalência de falhas.</a:t>
            </a:r>
          </a:p>
          <a:p/>
          <a:p>
            <a:r>
              <a:t>Fontes: B · tarefa 1; C · configuração.</a:t>
            </a:r>
          </a:p>
          <a:p>
            <a:r>
              <a:t>[A] Cunha et al. — estudo anterior: https://github.com/Lucas-PG/FaceForgery-Benchmark/blob/e9beb4e212b7e3f749f65e84d27ef7f10b52de99/paper/original-sibgrapi.pdf</a:t>
            </a:r>
          </a:p>
          <a:p>
            <a:r>
              <a:t>[B] Manuscrito principal — seis páginas: https://github.com/Lucas-PG/FaceForgery-Benchmark/blob/e9beb4e212b7e3f749f65e84d27ef7f10b52de99/paper/six-page/main.tex</a:t>
            </a:r>
          </a:p>
          <a:p>
            <a:r>
              <a:t>[C] Guia de execução e configuração: https://github.com/Lucas-PG/FaceForgery-Benchmark/blob/e9beb4e212b7e3f749f65e84d27ef7f10b52de99/docs/explicability.md</a:t>
            </a:r>
          </a:p>
          <a:p>
            <a:r>
              <a:t>[D] Sundararajan et al. — Integrated Gradients: https://proceedings.mlr.press/v70/sundararajan17a.html</a:t>
            </a:r>
          </a:p>
          <a:p>
            <a:r>
              <a:t>[E] Selvaraju et al. — Grad-CAM: https://openaccess.thecvf.com/content_iccv_2017/html/Selvaraju_Grad-CAM_Visual_Explanations_ICCV_2017_paper.html</a:t>
            </a:r>
          </a:p>
          <a:p>
            <a:r>
              <a:t>[F] Adebayo et al. — Sanity Checks for Saliency Maps: https://arxiv.org/abs/1810.03292</a:t>
            </a:r>
          </a:p>
          <a:p>
            <a:r>
              <a:t>[G] Hedström et al. — Quantus: https://jmlr.org/papers/v24/22-0142.html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comparação exige checkpoints separadamente treinados, da mesma família, regime e semente, em RGB e frequência. A seleção usa apenas validação e um piso de competência, não o ranking do teste. A implementação compara as mesmas 64 imagens, com atribuições em pixels sobre RGB e em bins sobre a entrada de frequência. Este slide é um esquema textual, sem heatmaps simulados. Um coeficiente global de Fourier não corresponde a uma posição facial; não calcular sobreposição espacial RGB–espectro como se fossem as mesmas coordenadas.</a:t>
            </a:r>
          </a:p>
          <a:p/>
          <a:p>
            <a:r>
              <a:t>Fontes: B · tarefa 2; C · seleção e renderização.</a:t>
            </a:r>
          </a:p>
          <a:p>
            <a:r>
              <a:t>[A] Cunha et al. — estudo anterior: https://github.com/Lucas-PG/FaceForgery-Benchmark/blob/e9beb4e212b7e3f749f65e84d27ef7f10b52de99/paper/original-sibgrapi.pdf</a:t>
            </a:r>
          </a:p>
          <a:p>
            <a:r>
              <a:t>[B] Manuscrito principal — seis páginas: https://github.com/Lucas-PG/FaceForgery-Benchmark/blob/e9beb4e212b7e3f749f65e84d27ef7f10b52de99/paper/six-page/main.tex</a:t>
            </a:r>
          </a:p>
          <a:p>
            <a:r>
              <a:t>[C] Guia de execução e configuração: https://github.com/Lucas-PG/FaceForgery-Benchmark/blob/e9beb4e212b7e3f749f65e84d27ef7f10b52de99/docs/explicability.md</a:t>
            </a:r>
          </a:p>
          <a:p>
            <a:r>
              <a:t>[D] Sundararajan et al. — Integrated Gradients: https://proceedings.mlr.press/v70/sundararajan17a.html</a:t>
            </a:r>
          </a:p>
          <a:p>
            <a:r>
              <a:t>[E] Selvaraju et al. — Grad-CAM: https://openaccess.thecvf.com/content_iccv_2017/html/Selvaraju_Grad-CAM_Visual_Explanations_ICCV_2017_paper.html</a:t>
            </a:r>
          </a:p>
          <a:p>
            <a:r>
              <a:t>[F] Adebayo et al. — Sanity Checks for Saliency Maps: https://arxiv.org/abs/1810.03292</a:t>
            </a:r>
          </a:p>
          <a:p>
            <a:r>
              <a:t>[G] Hedström et al. — Quantus: https://jmlr.org/papers/v24/22-0142.html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interseção exige todos os modelos no mesmo conjunto de imagens, com IDs únicos, rótulos consistentes e predições completas. A população primária usa seis checkpoints RGB seed 42; a análise de sensibilidade usa os 18 checkpoints de três sementes. São mantidas todas as falhas compartilhadas, sem teto oculto. Os controles são pareados por rótulo e não pertencem à interseção; podem falhar em parte dos modelos. Iluminação e oclusão exigem anotação e comparação; rótulo pareado não controla identidade, fonte ou compressão. Não inferir demografia automaticamente.</a:t>
            </a:r>
          </a:p>
          <a:p/>
          <a:p>
            <a:r>
              <a:t>Fontes: B · tarefa 3; C · controles e revisão humana.</a:t>
            </a:r>
          </a:p>
          <a:p>
            <a:r>
              <a:t>[A] Cunha et al. — estudo anterior: https://github.com/Lucas-PG/FaceForgery-Benchmark/blob/e9beb4e212b7e3f749f65e84d27ef7f10b52de99/paper/original-sibgrapi.pdf</a:t>
            </a:r>
          </a:p>
          <a:p>
            <a:r>
              <a:t>[B] Manuscrito principal — seis páginas: https://github.com/Lucas-PG/FaceForgery-Benchmark/blob/e9beb4e212b7e3f749f65e84d27ef7f10b52de99/paper/six-page/main.tex</a:t>
            </a:r>
          </a:p>
          <a:p>
            <a:r>
              <a:t>[C] Guia de execução e configuração: https://github.com/Lucas-PG/FaceForgery-Benchmark/blob/e9beb4e212b7e3f749f65e84d27ef7f10b52de99/docs/explicability.md</a:t>
            </a:r>
          </a:p>
          <a:p>
            <a:r>
              <a:t>[D] Sundararajan et al. — Integrated Gradients: https://proceedings.mlr.press/v70/sundararajan17a.html</a:t>
            </a:r>
          </a:p>
          <a:p>
            <a:r>
              <a:t>[E] Selvaraju et al. — Grad-CAM: https://openaccess.thecvf.com/content_iccv_2017/html/Selvaraju_Grad-CAM_Visual_Explanations_ICCV_2017_paper.html</a:t>
            </a:r>
          </a:p>
          <a:p>
            <a:r>
              <a:t>[F] Adebayo et al. — Sanity Checks for Saliency Maps: https://arxiv.org/abs/1810.03292</a:t>
            </a:r>
          </a:p>
          <a:p>
            <a:r>
              <a:t>[G] Hedström et al. — Quantus: https://jmlr.org/papers/v24/22-0142.html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Métodos agrupados pela forma predominante de análise: seis por gradientes/localização, cinco por perturbação/surrogates e um de atenção. Kernel SHAP e LIME produzem contribuições de grupos sob perturbação; Grad-CAM localiza em uma camada; IG é relativo a baseline. Attention Rollout é agnóstico à classe e não é equivalente à explicação por gradiente da margem falso-real. Nem todos os métodos são aplicáveis a todos os modelos. O número de métodos não corresponde a confirmações independentes.</a:t>
            </a:r>
          </a:p>
          <a:p/>
          <a:p>
            <a:r>
              <a:t>Fontes: B · tabela de métodos; D–G · base metodológica.</a:t>
            </a:r>
          </a:p>
          <a:p>
            <a:r>
              <a:t>[A] Cunha et al. — estudo anterior: https://github.com/Lucas-PG/FaceForgery-Benchmark/blob/e9beb4e212b7e3f749f65e84d27ef7f10b52de99/paper/original-sibgrapi.pdf</a:t>
            </a:r>
          </a:p>
          <a:p>
            <a:r>
              <a:t>[B] Manuscrito principal — seis páginas: https://github.com/Lucas-PG/FaceForgery-Benchmark/blob/e9beb4e212b7e3f749f65e84d27ef7f10b52de99/paper/six-page/main.tex</a:t>
            </a:r>
          </a:p>
          <a:p>
            <a:r>
              <a:t>[C] Guia de execução e configuração: https://github.com/Lucas-PG/FaceForgery-Benchmark/blob/e9beb4e212b7e3f749f65e84d27ef7f10b52de99/docs/explicability.md</a:t>
            </a:r>
          </a:p>
          <a:p>
            <a:r>
              <a:t>[D] Sundararajan et al. — Integrated Gradients: https://proceedings.mlr.press/v70/sundararajan17a.html</a:t>
            </a:r>
          </a:p>
          <a:p>
            <a:r>
              <a:t>[E] Selvaraju et al. — Grad-CAM: https://openaccess.thecvf.com/content_iccv_2017/html/Selvaraju_Grad-CAM_Visual_Explanations_ICCV_2017_paper.html</a:t>
            </a:r>
          </a:p>
          <a:p>
            <a:r>
              <a:t>[F] Adebayo et al. — Sanity Checks for Saliency Maps: https://arxiv.org/abs/1810.03292</a:t>
            </a:r>
          </a:p>
          <a:p>
            <a:r>
              <a:t>[G] Hedström et al. — Quantus: https://jmlr.org/papers/v24/22-0142.html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parte implementada inclui amostragem e seleção reproduzíveis, atribuições, exportação, hashes, verificação das predições, retomada por partições e controles numéricos. As experiências de imagem ainda precisam ser executadas para produzir as galerias e a análise de falhas. Nesta apresentação não se treina modelo, não se usa GPU e não se produz nova AUC. Testes sintéticos de software e compilação não são evidência de fidelidade das explicações em dados reais.</a:t>
            </a:r>
          </a:p>
          <a:p/>
          <a:p>
            <a:r>
              <a:t>Fontes: B · seção VI; C · execução e cobertura.</a:t>
            </a:r>
          </a:p>
          <a:p>
            <a:r>
              <a:t>[A] Cunha et al. — estudo anterior: https://github.com/Lucas-PG/FaceForgery-Benchmark/blob/e9beb4e212b7e3f749f65e84d27ef7f10b52de99/paper/original-sibgrapi.pdf</a:t>
            </a:r>
          </a:p>
          <a:p>
            <a:r>
              <a:t>[B] Manuscrito principal — seis páginas: https://github.com/Lucas-PG/FaceForgery-Benchmark/blob/e9beb4e212b7e3f749f65e84d27ef7f10b52de99/paper/six-page/main.tex</a:t>
            </a:r>
          </a:p>
          <a:p>
            <a:r>
              <a:t>[C] Guia de execução e configuração: https://github.com/Lucas-PG/FaceForgery-Benchmark/blob/e9beb4e212b7e3f749f65e84d27ef7f10b52de99/docs/explicability.md</a:t>
            </a:r>
          </a:p>
          <a:p>
            <a:r>
              <a:t>[D] Sundararajan et al. — Integrated Gradients: https://proceedings.mlr.press/v70/sundararajan17a.html</a:t>
            </a:r>
          </a:p>
          <a:p>
            <a:r>
              <a:t>[E] Selvaraju et al. — Grad-CAM: https://openaccess.thecvf.com/content_iccv_2017/html/Selvaraju_Grad-CAM_Visual_Explanations_ICCV_2017_paper.html</a:t>
            </a:r>
          </a:p>
          <a:p>
            <a:r>
              <a:t>[F] Adebayo et al. — Sanity Checks for Saliency Maps: https://arxiv.org/abs/1810.03292</a:t>
            </a:r>
          </a:p>
          <a:p>
            <a:r>
              <a:t>[G] Hedström et al. — Quantus: https://jmlr.org/papers/v24/22-0142.html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Encerrar com três mensagens: avaliar no limpo não substitui avaliar sob degradação; sinais espectrais podem complementar RGB mas não revelam automaticamente o mecanismo; explicar exige controlar a amostra, o alvo, as coordenadas e os métodos. As tarefas implementadas permitem investigar essas questões sem antecipar achados. Os materiais completos e fontes estão na pasta presentation e no notebook.</a:t>
            </a:r>
          </a:p>
          <a:p/>
          <a:p>
            <a:r>
              <a:t>Fontes: A–C · resultados anteriores e extensão.</a:t>
            </a:r>
          </a:p>
          <a:p>
            <a:r>
              <a:t>[A] Cunha et al. — estudo anterior: https://github.com/Lucas-PG/FaceForgery-Benchmark/blob/e9beb4e212b7e3f749f65e84d27ef7f10b52de99/paper/original-sibgrapi.pdf</a:t>
            </a:r>
          </a:p>
          <a:p>
            <a:r>
              <a:t>[B] Manuscrito principal — seis páginas: https://github.com/Lucas-PG/FaceForgery-Benchmark/blob/e9beb4e212b7e3f749f65e84d27ef7f10b52de99/paper/six-page/main.tex</a:t>
            </a:r>
          </a:p>
          <a:p>
            <a:r>
              <a:t>[C] Guia de execução e configuração: https://github.com/Lucas-PG/FaceForgery-Benchmark/blob/e9beb4e212b7e3f749f65e84d27ef7f10b52de99/docs/explicability.md</a:t>
            </a:r>
          </a:p>
          <a:p>
            <a:r>
              <a:t>[D] Sundararajan et al. — Integrated Gradients: https://proceedings.mlr.press/v70/sundararajan17a.html</a:t>
            </a:r>
          </a:p>
          <a:p>
            <a:r>
              <a:t>[E] Selvaraju et al. — Grad-CAM: https://openaccess.thecvf.com/content_iccv_2017/html/Selvaraju_Grad-CAM_Visual_Explanations_ICCV_2017_paper.html</a:t>
            </a:r>
          </a:p>
          <a:p>
            <a:r>
              <a:t>[F] Adebayo et al. — Sanity Checks for Saliency Maps: https://arxiv.org/abs/1810.03292</a:t>
            </a:r>
          </a:p>
          <a:p>
            <a:r>
              <a:t>[G] Hedström et al. — Quantus: https://jmlr.org/papers/v24/22-0142.html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Tabela de consulta com todas as seis médias RGB e suas quedas. O valor na última coluna é limpo menos degradado, com Decimal para preservar a subtração das médias arredondadas. Não misturar esses números com o release atual fine-tuned. Os desvios-padrão do estudo original não são reconstruídos a partir de médias. Fontes A e B indicam a origem; dados.json permite editar e verificar o material.</a:t>
            </a:r>
          </a:p>
          <a:p/>
          <a:p>
            <a:r>
              <a:t>Fontes: A · Estudo anterior; B · seção V-A.</a:t>
            </a:r>
          </a:p>
          <a:p>
            <a:r>
              <a:t>[A] Cunha et al. — estudo anterior: https://github.com/Lucas-PG/FaceForgery-Benchmark/blob/e9beb4e212b7e3f749f65e84d27ef7f10b52de99/paper/original-sibgrapi.pdf</a:t>
            </a:r>
          </a:p>
          <a:p>
            <a:r>
              <a:t>[B] Manuscrito principal — seis páginas: https://github.com/Lucas-PG/FaceForgery-Benchmark/blob/e9beb4e212b7e3f749f65e84d27ef7f10b52de99/paper/six-page/main.tex</a:t>
            </a:r>
          </a:p>
          <a:p>
            <a:r>
              <a:t>[C] Guia de execução e configuração: https://github.com/Lucas-PG/FaceForgery-Benchmark/blob/e9beb4e212b7e3f749f65e84d27ef7f10b52de99/docs/explicability.md</a:t>
            </a:r>
          </a:p>
          <a:p>
            <a:r>
              <a:t>[D] Sundararajan et al. — Integrated Gradients: https://proceedings.mlr.press/v70/sundararajan17a.html</a:t>
            </a:r>
          </a:p>
          <a:p>
            <a:r>
              <a:t>[E] Selvaraju et al. — Grad-CAM: https://openaccess.thecvf.com/content_iccv_2017/html/Selvaraju_Grad-CAM_Visual_Explanations_ICCV_2017_paper.html</a:t>
            </a:r>
          </a:p>
          <a:p>
            <a:r>
              <a:t>[F] Adebayo et al. — Sanity Checks for Saliency Maps: https://arxiv.org/abs/1810.03292</a:t>
            </a:r>
          </a:p>
          <a:p>
            <a:r>
              <a:t>[G] Hedström et al. — Quantus: https://jmlr.org/papers/v24/22-0142.html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 links de documentos do repositório estão fixados no commit usado para construir a apresentação. A referência A contém o estudo original; B, a edição de seis páginas; C, a implementação operacional. D–G fundamentam as distinções de métodos e a avaliação de explicações. A bibliografia completa da pesquisa permanece em paper/explicability/references.bib. O notebook reproduz somente as tabelas e gráficos de médias, sem treino ou inferência.</a:t>
            </a:r>
          </a:p>
          <a:p/>
          <a:p>
            <a:r>
              <a:t>Fontes: Links completos em dados.json, roteiro.md e apresentacao.ipynb.</a:t>
            </a:r>
          </a:p>
          <a:p>
            <a:r>
              <a:t>[A] Cunha et al. — estudo anterior: https://github.com/Lucas-PG/FaceForgery-Benchmark/blob/e9beb4e212b7e3f749f65e84d27ef7f10b52de99/paper/original-sibgrapi.pdf</a:t>
            </a:r>
          </a:p>
          <a:p>
            <a:r>
              <a:t>[B] Manuscrito principal — seis páginas: https://github.com/Lucas-PG/FaceForgery-Benchmark/blob/e9beb4e212b7e3f749f65e84d27ef7f10b52de99/paper/six-page/main.tex</a:t>
            </a:r>
          </a:p>
          <a:p>
            <a:r>
              <a:t>[C] Guia de execução e configuração: https://github.com/Lucas-PG/FaceForgery-Benchmark/blob/e9beb4e212b7e3f749f65e84d27ef7f10b52de99/docs/explicability.md</a:t>
            </a:r>
          </a:p>
          <a:p>
            <a:r>
              <a:t>[D] Sundararajan et al. — Integrated Gradients: https://proceedings.mlr.press/v70/sundararajan17a.html</a:t>
            </a:r>
          </a:p>
          <a:p>
            <a:r>
              <a:t>[E] Selvaraju et al. — Grad-CAM: https://openaccess.thecvf.com/content_iccv_2017/html/Selvaraju_Grad-CAM_Visual_Explanations_ICCV_2017_paper.html</a:t>
            </a:r>
          </a:p>
          <a:p>
            <a:r>
              <a:t>[F] Adebayo et al. — Sanity Checks for Saliency Maps: https://arxiv.org/abs/1810.03292</a:t>
            </a:r>
          </a:p>
          <a:p>
            <a:r>
              <a:t>[G] Hedström et al. — Quantus: https://jmlr.org/papers/v24/22-0142.html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487680"/>
            <a:ext cx="68580" cy="175260"/>
          </a:xfrm>
          <a:prstGeom prst="roundRect">
            <a:avLst>
              <a:gd name="adj" fmla="val 20000"/>
            </a:avLst>
          </a:prstGeom>
          <a:solidFill>
            <a:srgbClr val="087F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5340" y="449580"/>
            <a:ext cx="10439400" cy="231038"/>
          </a:xfrm>
          <a:prstGeom prst="rect">
            <a:avLst/>
          </a:prstGeom>
          <a:noFill/>
        </p:spPr>
        <p:txBody>
          <a:bodyPr wrap="none" anchor="t" lIns="0" rIns="0" tIns="0" bIns="0">
            <a:noAutofit/>
          </a:bodyPr>
          <a:lstStyle/>
          <a:p>
            <a:pPr>
              <a:lnSpc>
                <a:spcPts val="1339"/>
              </a:lnSpc>
              <a:spcBef>
                <a:spcPts val="0"/>
              </a:spcBef>
              <a:spcAft>
                <a:spcPts val="0"/>
              </a:spcAft>
              <a:defRPr sz="1080" b="1">
                <a:solidFill>
                  <a:srgbClr val="087F7B"/>
                </a:solidFill>
                <a:latin typeface="Arial"/>
              </a:defRPr>
            </a:pPr>
            <a:r>
              <a:t>MFFI · RESULTADOS E EXPLICABILIDADE</a:t>
            </a:r>
          </a:p>
        </p:txBody>
      </p:sp>
      <p:sp>
        <p:nvSpPr>
          <p:cNvPr id="5" name="TextBox 4"/>
          <p:cNvSpPr txBox="1"/>
          <p:nvPr/>
        </p:nvSpPr>
        <p:spPr>
          <a:xfrm>
            <a:off x="609600" y="876300"/>
            <a:ext cx="10972800" cy="571195"/>
          </a:xfrm>
          <a:prstGeom prst="rect">
            <a:avLst/>
          </a:prstGeom>
          <a:noFill/>
        </p:spPr>
        <p:txBody>
          <a:bodyPr wrap="none" anchor="t" lIns="0" rIns="0" tIns="0" bIns="0">
            <a:noAutofit/>
          </a:bodyPr>
          <a:lstStyle/>
          <a:p>
            <a:pPr>
              <a:lnSpc>
                <a:spcPts val="4017"/>
              </a:lnSpc>
              <a:spcBef>
                <a:spcPts val="0"/>
              </a:spcBef>
              <a:spcAft>
                <a:spcPts val="0"/>
              </a:spcAft>
              <a:defRPr sz="3240" b="1">
                <a:solidFill>
                  <a:srgbClr val="17283F"/>
                </a:solidFill>
                <a:latin typeface="Arial"/>
              </a:defRPr>
            </a:pPr>
            <a:r>
              <a:t>Detecção de falsificações faciais</a:t>
            </a:r>
          </a:p>
        </p:txBody>
      </p:sp>
      <p:cxnSp>
        <p:nvCxnSpPr>
          <p:cNvPr id="6" name="Connector 5"/>
          <p:cNvCxnSpPr/>
          <p:nvPr/>
        </p:nvCxnSpPr>
        <p:spPr>
          <a:xfrm>
            <a:off x="609600" y="6179820"/>
            <a:ext cx="10972800" cy="0"/>
          </a:xfrm>
          <a:prstGeom prst="line">
            <a:avLst/>
          </a:prstGeom>
          <a:ln w="15240">
            <a:solidFill>
              <a:srgbClr val="DDE4E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347460"/>
            <a:ext cx="10058400" cy="221589"/>
          </a:xfrm>
          <a:prstGeom prst="rect">
            <a:avLst/>
          </a:prstGeom>
          <a:noFill/>
        </p:spPr>
        <p:txBody>
          <a:bodyPr wrap="none" anchor="t" lIns="0" rIns="0" tIns="0" bIns="0">
            <a:noAutofit/>
          </a:bodyPr>
          <a:lstStyle/>
          <a:p>
            <a:pPr>
              <a:lnSpc>
                <a:spcPts val="1264"/>
              </a:lnSpc>
              <a:spcBef>
                <a:spcPts val="0"/>
              </a:spcBef>
              <a:spcAft>
                <a:spcPts val="0"/>
              </a:spcAft>
              <a:defRPr sz="1019" b="0">
                <a:solidFill>
                  <a:srgbClr val="526278"/>
                </a:solidFill>
                <a:latin typeface="Arial"/>
              </a:defRPr>
            </a:pPr>
            <a:r>
              <a:t>FONTES: A · Estudo anterior; B · seção V-A.</a:t>
            </a:r>
          </a:p>
        </p:txBody>
      </p:sp>
      <p:sp>
        <p:nvSpPr>
          <p:cNvPr id="8" name="TextBox 7"/>
          <p:cNvSpPr txBox="1"/>
          <p:nvPr/>
        </p:nvSpPr>
        <p:spPr>
          <a:xfrm>
            <a:off x="11125200" y="6309360"/>
            <a:ext cx="457200" cy="278282"/>
          </a:xfrm>
          <a:prstGeom prst="rect">
            <a:avLst/>
          </a:prstGeom>
          <a:noFill/>
        </p:spPr>
        <p:txBody>
          <a:bodyPr wrap="none" anchor="t" lIns="0" rIns="0" tIns="0" bIns="0">
            <a:noAutofit/>
          </a:bodyPr>
          <a:lstStyle/>
          <a:p>
            <a:pPr>
              <a:lnSpc>
                <a:spcPts val="1711"/>
              </a:lnSpc>
              <a:spcBef>
                <a:spcPts val="0"/>
              </a:spcBef>
              <a:spcAft>
                <a:spcPts val="0"/>
              </a:spcAft>
              <a:defRPr sz="1380" b="1">
                <a:solidFill>
                  <a:srgbClr val="526278"/>
                </a:solidFill>
                <a:latin typeface="Arial"/>
              </a:defRPr>
            </a:pPr>
            <a:r>
              <a:t>01</a:t>
            </a:r>
          </a:p>
        </p:txBody>
      </p:sp>
      <p:sp>
        <p:nvSpPr>
          <p:cNvPr id="9" name="TextBox 8"/>
          <p:cNvSpPr txBox="1"/>
          <p:nvPr/>
        </p:nvSpPr>
        <p:spPr>
          <a:xfrm>
            <a:off x="609600" y="2133600"/>
            <a:ext cx="7239000" cy="1534972"/>
          </a:xfrm>
          <a:prstGeom prst="rect">
            <a:avLst/>
          </a:prstGeom>
          <a:noFill/>
        </p:spPr>
        <p:txBody>
          <a:bodyPr wrap="none" anchor="t" lIns="0" rIns="0" tIns="0" bIns="0">
            <a:noAutofit/>
          </a:bodyPr>
          <a:lstStyle/>
          <a:p>
            <a:pPr>
              <a:lnSpc>
                <a:spcPts val="5803"/>
              </a:lnSpc>
              <a:spcBef>
                <a:spcPts val="0"/>
              </a:spcBef>
              <a:spcAft>
                <a:spcPts val="0"/>
              </a:spcAft>
              <a:defRPr sz="4680" b="1">
                <a:solidFill>
                  <a:srgbClr val="17283F"/>
                </a:solidFill>
                <a:latin typeface="Arial"/>
              </a:defRPr>
            </a:pPr>
            <a:r>
              <a:t>Acertar não é o</a:t>
            </a:r>
          </a:p>
          <a:p>
            <a:pPr>
              <a:lnSpc>
                <a:spcPts val="5803"/>
              </a:lnSpc>
              <a:spcBef>
                <a:spcPts val="0"/>
              </a:spcBef>
              <a:spcAft>
                <a:spcPts val="0"/>
              </a:spcAft>
              <a:defRPr sz="4680" b="1">
                <a:solidFill>
                  <a:srgbClr val="17283F"/>
                </a:solidFill>
                <a:latin typeface="Arial"/>
              </a:defRPr>
            </a:pPr>
            <a:r>
              <a:t>mesmo que explicar.</a:t>
            </a:r>
          </a:p>
        </p:txBody>
      </p:sp>
      <p:sp>
        <p:nvSpPr>
          <p:cNvPr id="10" name="TextBox 9"/>
          <p:cNvSpPr txBox="1"/>
          <p:nvPr/>
        </p:nvSpPr>
        <p:spPr>
          <a:xfrm>
            <a:off x="640080" y="3909060"/>
            <a:ext cx="6934200" cy="703478"/>
          </a:xfrm>
          <a:prstGeom prst="rect">
            <a:avLst/>
          </a:prstGeom>
          <a:noFill/>
        </p:spPr>
        <p:txBody>
          <a:bodyPr wrap="none" anchor="t" lIns="0" rIns="0" tIns="0" bIns="0">
            <a:noAutofit/>
          </a:bodyPr>
          <a:lstStyle/>
          <a:p>
            <a:pPr>
              <a:lnSpc>
                <a:spcPts val="2529"/>
              </a:lnSpc>
              <a:spcBef>
                <a:spcPts val="0"/>
              </a:spcBef>
              <a:spcAft>
                <a:spcPts val="0"/>
              </a:spcAft>
              <a:defRPr sz="2039" b="0">
                <a:solidFill>
                  <a:srgbClr val="526278"/>
                </a:solidFill>
                <a:latin typeface="Arial"/>
              </a:defRPr>
            </a:pPr>
            <a:r>
              <a:t>Resultados do benchmark espacial–espectral</a:t>
            </a:r>
          </a:p>
          <a:p>
            <a:pPr>
              <a:lnSpc>
                <a:spcPts val="2529"/>
              </a:lnSpc>
              <a:spcBef>
                <a:spcPts val="0"/>
              </a:spcBef>
              <a:spcAft>
                <a:spcPts val="0"/>
              </a:spcAft>
              <a:defRPr sz="2039" b="0">
                <a:solidFill>
                  <a:srgbClr val="526278"/>
                </a:solidFill>
                <a:latin typeface="Arial"/>
              </a:defRPr>
            </a:pPr>
            <a:r>
              <a:t>e uma extensão para comparar explicações.</a:t>
            </a:r>
          </a:p>
        </p:txBody>
      </p:sp>
      <p:sp>
        <p:nvSpPr>
          <p:cNvPr id="11" name="Rounded Rectangle 10"/>
          <p:cNvSpPr/>
          <p:nvPr/>
        </p:nvSpPr>
        <p:spPr>
          <a:xfrm>
            <a:off x="8458200" y="2057400"/>
            <a:ext cx="3124200" cy="2514600"/>
          </a:xfrm>
          <a:prstGeom prst="roundRect">
            <a:avLst>
              <a:gd name="adj" fmla="val 7272"/>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0" y="2293620"/>
            <a:ext cx="2667000" cy="240487"/>
          </a:xfrm>
          <a:prstGeom prst="rect">
            <a:avLst/>
          </a:prstGeom>
          <a:noFill/>
        </p:spPr>
        <p:txBody>
          <a:bodyPr wrap="none" anchor="t" lIns="0" rIns="0" tIns="0" bIns="0">
            <a:noAutofit/>
          </a:bodyPr>
          <a:lstStyle/>
          <a:p>
            <a:pPr>
              <a:lnSpc>
                <a:spcPts val="1413"/>
              </a:lnSpc>
              <a:spcBef>
                <a:spcPts val="0"/>
              </a:spcBef>
              <a:spcAft>
                <a:spcPts val="0"/>
              </a:spcAft>
              <a:defRPr sz="1140" b="1">
                <a:solidFill>
                  <a:srgbClr val="087F7B"/>
                </a:solidFill>
                <a:latin typeface="Arial"/>
              </a:defRPr>
            </a:pPr>
            <a:r>
              <a:t>DUAS LIDERANÇAS</a:t>
            </a:r>
          </a:p>
        </p:txBody>
      </p:sp>
      <p:sp>
        <p:nvSpPr>
          <p:cNvPr id="13" name="TextBox 12"/>
          <p:cNvSpPr txBox="1"/>
          <p:nvPr/>
        </p:nvSpPr>
        <p:spPr>
          <a:xfrm>
            <a:off x="8686800" y="2674620"/>
            <a:ext cx="2667000" cy="712927"/>
          </a:xfrm>
          <a:prstGeom prst="rect">
            <a:avLst/>
          </a:prstGeom>
          <a:noFill/>
        </p:spPr>
        <p:txBody>
          <a:bodyPr wrap="none" anchor="t" lIns="0" rIns="0" tIns="0" bIns="0">
            <a:noAutofit/>
          </a:bodyPr>
          <a:lstStyle/>
          <a:p>
            <a:pPr>
              <a:lnSpc>
                <a:spcPts val="5133"/>
              </a:lnSpc>
              <a:spcBef>
                <a:spcPts val="0"/>
              </a:spcBef>
              <a:spcAft>
                <a:spcPts val="0"/>
              </a:spcAft>
              <a:defRPr sz="4140" b="1">
                <a:solidFill>
                  <a:srgbClr val="17283F"/>
                </a:solidFill>
                <a:latin typeface="Arial"/>
              </a:defRPr>
            </a:pPr>
            <a:r>
              <a:t>0,884</a:t>
            </a:r>
          </a:p>
        </p:txBody>
      </p:sp>
      <p:sp>
        <p:nvSpPr>
          <p:cNvPr id="14" name="TextBox 13"/>
          <p:cNvSpPr txBox="1"/>
          <p:nvPr/>
        </p:nvSpPr>
        <p:spPr>
          <a:xfrm>
            <a:off x="8686800" y="3390900"/>
            <a:ext cx="2667000" cy="297180"/>
          </a:xfrm>
          <a:prstGeom prst="rect">
            <a:avLst/>
          </a:prstGeom>
          <a:noFill/>
        </p:spPr>
        <p:txBody>
          <a:bodyPr wrap="none" anchor="t" lIns="0" rIns="0" tIns="0" bIns="0">
            <a:noAutofit/>
          </a:bodyPr>
          <a:lstStyle/>
          <a:p>
            <a:pPr>
              <a:lnSpc>
                <a:spcPts val="1859"/>
              </a:lnSpc>
              <a:spcBef>
                <a:spcPts val="0"/>
              </a:spcBef>
              <a:spcAft>
                <a:spcPts val="0"/>
              </a:spcAft>
              <a:defRPr sz="1500" b="0">
                <a:solidFill>
                  <a:srgbClr val="526278"/>
                </a:solidFill>
                <a:latin typeface="Arial"/>
              </a:defRPr>
            </a:pPr>
            <a:r>
              <a:t>Xception · teste limpo</a:t>
            </a:r>
          </a:p>
        </p:txBody>
      </p:sp>
      <p:sp>
        <p:nvSpPr>
          <p:cNvPr id="15" name="TextBox 14"/>
          <p:cNvSpPr txBox="1"/>
          <p:nvPr/>
        </p:nvSpPr>
        <p:spPr>
          <a:xfrm>
            <a:off x="8686800" y="3756660"/>
            <a:ext cx="1371600" cy="476707"/>
          </a:xfrm>
          <a:prstGeom prst="rect">
            <a:avLst/>
          </a:prstGeom>
          <a:noFill/>
        </p:spPr>
        <p:txBody>
          <a:bodyPr wrap="none" anchor="t" lIns="0" rIns="0" tIns="0" bIns="0">
            <a:noAutofit/>
          </a:bodyPr>
          <a:lstStyle/>
          <a:p>
            <a:pPr>
              <a:lnSpc>
                <a:spcPts val="3273"/>
              </a:lnSpc>
              <a:spcBef>
                <a:spcPts val="0"/>
              </a:spcBef>
              <a:spcAft>
                <a:spcPts val="0"/>
              </a:spcAft>
              <a:defRPr sz="2640" b="1">
                <a:solidFill>
                  <a:srgbClr val="087F7B"/>
                </a:solidFill>
                <a:latin typeface="Arial"/>
              </a:defRPr>
            </a:pPr>
            <a:r>
              <a:t>0,726</a:t>
            </a:r>
          </a:p>
        </p:txBody>
      </p:sp>
      <p:sp>
        <p:nvSpPr>
          <p:cNvPr id="16" name="TextBox 15"/>
          <p:cNvSpPr txBox="1"/>
          <p:nvPr/>
        </p:nvSpPr>
        <p:spPr>
          <a:xfrm>
            <a:off x="8686800" y="4236720"/>
            <a:ext cx="2667000" cy="278282"/>
          </a:xfrm>
          <a:prstGeom prst="rect">
            <a:avLst/>
          </a:prstGeom>
          <a:noFill/>
        </p:spPr>
        <p:txBody>
          <a:bodyPr wrap="none" anchor="t" lIns="0" rIns="0" tIns="0" bIns="0">
            <a:noAutofit/>
          </a:bodyPr>
          <a:lstStyle/>
          <a:p>
            <a:pPr>
              <a:lnSpc>
                <a:spcPts val="1711"/>
              </a:lnSpc>
              <a:spcBef>
                <a:spcPts val="0"/>
              </a:spcBef>
              <a:spcAft>
                <a:spcPts val="0"/>
              </a:spcAft>
              <a:defRPr sz="1380" b="0">
                <a:solidFill>
                  <a:srgbClr val="526278"/>
                </a:solidFill>
                <a:latin typeface="Arial"/>
              </a:defRPr>
            </a:pPr>
            <a:r>
              <a:t>DINOv3 · degradado</a:t>
            </a:r>
          </a:p>
        </p:txBody>
      </p:sp>
      <p:sp>
        <p:nvSpPr>
          <p:cNvPr id="17" name="TextBox 16"/>
          <p:cNvSpPr txBox="1"/>
          <p:nvPr/>
        </p:nvSpPr>
        <p:spPr>
          <a:xfrm>
            <a:off x="640080" y="5158740"/>
            <a:ext cx="10515600" cy="297180"/>
          </a:xfrm>
          <a:prstGeom prst="rect">
            <a:avLst/>
          </a:prstGeom>
          <a:noFill/>
        </p:spPr>
        <p:txBody>
          <a:bodyPr wrap="none" anchor="t" lIns="0" rIns="0" tIns="0" bIns="0">
            <a:noAutofit/>
          </a:bodyPr>
          <a:lstStyle/>
          <a:p>
            <a:pPr>
              <a:lnSpc>
                <a:spcPts val="1859"/>
              </a:lnSpc>
              <a:spcBef>
                <a:spcPts val="0"/>
              </a:spcBef>
              <a:spcAft>
                <a:spcPts val="0"/>
              </a:spcAft>
              <a:defRPr sz="1500" b="0">
                <a:solidFill>
                  <a:srgbClr val="17283F"/>
                </a:solidFill>
                <a:latin typeface="Arial"/>
              </a:defRPr>
            </a:pPr>
            <a:r>
              <a:t>Lucas Cunha · Lucas Sotomaior · Lucas Gasperin</a:t>
            </a:r>
          </a:p>
        </p:txBody>
      </p:sp>
      <p:sp>
        <p:nvSpPr>
          <p:cNvPr id="18" name="TextBox 17"/>
          <p:cNvSpPr txBox="1"/>
          <p:nvPr/>
        </p:nvSpPr>
        <p:spPr>
          <a:xfrm>
            <a:off x="640080" y="5455920"/>
            <a:ext cx="10515600" cy="297180"/>
          </a:xfrm>
          <a:prstGeom prst="rect">
            <a:avLst/>
          </a:prstGeom>
          <a:noFill/>
        </p:spPr>
        <p:txBody>
          <a:bodyPr wrap="none" anchor="t" lIns="0" rIns="0" tIns="0" bIns="0">
            <a:noAutofit/>
          </a:bodyPr>
          <a:lstStyle/>
          <a:p>
            <a:pPr>
              <a:lnSpc>
                <a:spcPts val="1859"/>
              </a:lnSpc>
              <a:spcBef>
                <a:spcPts val="0"/>
              </a:spcBef>
              <a:spcAft>
                <a:spcPts val="0"/>
              </a:spcAft>
              <a:defRPr sz="1500" b="0">
                <a:solidFill>
                  <a:srgbClr val="17283F"/>
                </a:solidFill>
                <a:latin typeface="Arial"/>
              </a:defRPr>
            </a:pPr>
            <a:r>
              <a:t>Beatriz Caldas · Eduardo Pianovski · Rayson Laroca</a:t>
            </a:r>
          </a:p>
        </p:txBody>
      </p:sp>
      <p:sp>
        <p:nvSpPr>
          <p:cNvPr id="19" name="TextBox 18"/>
          <p:cNvSpPr txBox="1"/>
          <p:nvPr/>
        </p:nvSpPr>
        <p:spPr>
          <a:xfrm>
            <a:off x="640080" y="5814060"/>
            <a:ext cx="10515600" cy="259384"/>
          </a:xfrm>
          <a:prstGeom prst="rect">
            <a:avLst/>
          </a:prstGeom>
          <a:noFill/>
        </p:spPr>
        <p:txBody>
          <a:bodyPr wrap="none" anchor="t" lIns="0" rIns="0" tIns="0" bIns="0">
            <a:noAutofit/>
          </a:bodyPr>
          <a:lstStyle/>
          <a:p>
            <a:pPr>
              <a:lnSpc>
                <a:spcPts val="1562"/>
              </a:lnSpc>
              <a:spcBef>
                <a:spcPts val="0"/>
              </a:spcBef>
              <a:spcAft>
                <a:spcPts val="0"/>
              </a:spcAft>
              <a:defRPr sz="1260" b="0">
                <a:solidFill>
                  <a:srgbClr val="526278"/>
                </a:solidFill>
                <a:latin typeface="Arial"/>
              </a:defRPr>
            </a:pPr>
            <a:r>
              <a:t>Pontifícia Universidade Católica do Paraná</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487680"/>
            <a:ext cx="68580" cy="175260"/>
          </a:xfrm>
          <a:prstGeom prst="roundRect">
            <a:avLst>
              <a:gd name="adj" fmla="val 20000"/>
            </a:avLst>
          </a:prstGeom>
          <a:solidFill>
            <a:srgbClr val="087F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5340" y="449580"/>
            <a:ext cx="10439400" cy="231038"/>
          </a:xfrm>
          <a:prstGeom prst="rect">
            <a:avLst/>
          </a:prstGeom>
          <a:noFill/>
        </p:spPr>
        <p:txBody>
          <a:bodyPr wrap="none" anchor="t" lIns="0" rIns="0" tIns="0" bIns="0">
            <a:noAutofit/>
          </a:bodyPr>
          <a:lstStyle/>
          <a:p>
            <a:pPr>
              <a:lnSpc>
                <a:spcPts val="1339"/>
              </a:lnSpc>
              <a:spcBef>
                <a:spcPts val="0"/>
              </a:spcBef>
              <a:spcAft>
                <a:spcPts val="0"/>
              </a:spcAft>
              <a:defRPr sz="1080" b="1">
                <a:solidFill>
                  <a:srgbClr val="087F7B"/>
                </a:solidFill>
                <a:latin typeface="Arial"/>
              </a:defRPr>
            </a:pPr>
            <a:r>
              <a:t>RESULTADOS REPORTADOS</a:t>
            </a:r>
          </a:p>
        </p:txBody>
      </p:sp>
      <p:sp>
        <p:nvSpPr>
          <p:cNvPr id="5" name="TextBox 4"/>
          <p:cNvSpPr txBox="1"/>
          <p:nvPr/>
        </p:nvSpPr>
        <p:spPr>
          <a:xfrm>
            <a:off x="609600" y="876300"/>
            <a:ext cx="10972800" cy="571195"/>
          </a:xfrm>
          <a:prstGeom prst="rect">
            <a:avLst/>
          </a:prstGeom>
          <a:noFill/>
        </p:spPr>
        <p:txBody>
          <a:bodyPr wrap="none" anchor="t" lIns="0" rIns="0" tIns="0" bIns="0">
            <a:noAutofit/>
          </a:bodyPr>
          <a:lstStyle/>
          <a:p>
            <a:pPr>
              <a:lnSpc>
                <a:spcPts val="4017"/>
              </a:lnSpc>
              <a:spcBef>
                <a:spcPts val="0"/>
              </a:spcBef>
              <a:spcAft>
                <a:spcPts val="0"/>
              </a:spcAft>
              <a:defRPr sz="3240" b="1">
                <a:solidFill>
                  <a:srgbClr val="17283F"/>
                </a:solidFill>
                <a:latin typeface="Arial"/>
              </a:defRPr>
            </a:pPr>
            <a:r>
              <a:t>O que está sendo comparado</a:t>
            </a:r>
          </a:p>
        </p:txBody>
      </p:sp>
      <p:cxnSp>
        <p:nvCxnSpPr>
          <p:cNvPr id="6" name="Connector 5"/>
          <p:cNvCxnSpPr/>
          <p:nvPr/>
        </p:nvCxnSpPr>
        <p:spPr>
          <a:xfrm>
            <a:off x="609600" y="6179820"/>
            <a:ext cx="10972800" cy="0"/>
          </a:xfrm>
          <a:prstGeom prst="line">
            <a:avLst/>
          </a:prstGeom>
          <a:ln w="15240">
            <a:solidFill>
              <a:srgbClr val="DDE4E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347460"/>
            <a:ext cx="10058400" cy="221589"/>
          </a:xfrm>
          <a:prstGeom prst="rect">
            <a:avLst/>
          </a:prstGeom>
          <a:noFill/>
        </p:spPr>
        <p:txBody>
          <a:bodyPr wrap="none" anchor="t" lIns="0" rIns="0" tIns="0" bIns="0">
            <a:noAutofit/>
          </a:bodyPr>
          <a:lstStyle/>
          <a:p>
            <a:pPr>
              <a:lnSpc>
                <a:spcPts val="1264"/>
              </a:lnSpc>
              <a:spcBef>
                <a:spcPts val="0"/>
              </a:spcBef>
              <a:spcAft>
                <a:spcPts val="0"/>
              </a:spcAft>
              <a:defRPr sz="1019" b="0">
                <a:solidFill>
                  <a:srgbClr val="526278"/>
                </a:solidFill>
                <a:latin typeface="Arial"/>
              </a:defRPr>
            </a:pPr>
            <a:r>
              <a:t>FONTES: A · seções III–IV; B · seção III.</a:t>
            </a:r>
          </a:p>
        </p:txBody>
      </p:sp>
      <p:sp>
        <p:nvSpPr>
          <p:cNvPr id="8" name="TextBox 7"/>
          <p:cNvSpPr txBox="1"/>
          <p:nvPr/>
        </p:nvSpPr>
        <p:spPr>
          <a:xfrm>
            <a:off x="11125200" y="6309360"/>
            <a:ext cx="457200" cy="278282"/>
          </a:xfrm>
          <a:prstGeom prst="rect">
            <a:avLst/>
          </a:prstGeom>
          <a:noFill/>
        </p:spPr>
        <p:txBody>
          <a:bodyPr wrap="none" anchor="t" lIns="0" rIns="0" tIns="0" bIns="0">
            <a:noAutofit/>
          </a:bodyPr>
          <a:lstStyle/>
          <a:p>
            <a:pPr>
              <a:lnSpc>
                <a:spcPts val="1711"/>
              </a:lnSpc>
              <a:spcBef>
                <a:spcPts val="0"/>
              </a:spcBef>
              <a:spcAft>
                <a:spcPts val="0"/>
              </a:spcAft>
              <a:defRPr sz="1380" b="1">
                <a:solidFill>
                  <a:srgbClr val="526278"/>
                </a:solidFill>
                <a:latin typeface="Arial"/>
              </a:defRPr>
            </a:pPr>
            <a:r>
              <a:t>02</a:t>
            </a:r>
          </a:p>
        </p:txBody>
      </p:sp>
      <p:sp>
        <p:nvSpPr>
          <p:cNvPr id="9" name="Rounded Rectangle 8"/>
          <p:cNvSpPr/>
          <p:nvPr/>
        </p:nvSpPr>
        <p:spPr>
          <a:xfrm>
            <a:off x="609600" y="2133600"/>
            <a:ext cx="3352800" cy="2362200"/>
          </a:xfrm>
          <a:prstGeom prst="roundRect">
            <a:avLst>
              <a:gd name="adj" fmla="val 6451"/>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415540"/>
            <a:ext cx="2926080" cy="703478"/>
          </a:xfrm>
          <a:prstGeom prst="rect">
            <a:avLst/>
          </a:prstGeom>
          <a:noFill/>
        </p:spPr>
        <p:txBody>
          <a:bodyPr wrap="none" anchor="t" lIns="0" rIns="0" tIns="0" bIns="0">
            <a:noAutofit/>
          </a:bodyPr>
          <a:lstStyle/>
          <a:p>
            <a:pPr>
              <a:lnSpc>
                <a:spcPts val="5059"/>
              </a:lnSpc>
              <a:spcBef>
                <a:spcPts val="0"/>
              </a:spcBef>
              <a:spcAft>
                <a:spcPts val="0"/>
              </a:spcAft>
              <a:defRPr sz="4079" b="1">
                <a:solidFill>
                  <a:srgbClr val="087F7B"/>
                </a:solidFill>
                <a:latin typeface="Arial"/>
              </a:defRPr>
            </a:pPr>
            <a:r>
              <a:t>6</a:t>
            </a:r>
          </a:p>
        </p:txBody>
      </p:sp>
      <p:sp>
        <p:nvSpPr>
          <p:cNvPr id="11" name="TextBox 10"/>
          <p:cNvSpPr txBox="1"/>
          <p:nvPr/>
        </p:nvSpPr>
        <p:spPr>
          <a:xfrm>
            <a:off x="822960" y="3131820"/>
            <a:ext cx="2926080" cy="334975"/>
          </a:xfrm>
          <a:prstGeom prst="rect">
            <a:avLst/>
          </a:prstGeom>
          <a:noFill/>
        </p:spPr>
        <p:txBody>
          <a:bodyPr wrap="none" anchor="t" lIns="0" rIns="0" tIns="0" bIns="0">
            <a:noAutofit/>
          </a:bodyPr>
          <a:lstStyle/>
          <a:p>
            <a:pPr>
              <a:lnSpc>
                <a:spcPts val="2157"/>
              </a:lnSpc>
              <a:spcBef>
                <a:spcPts val="0"/>
              </a:spcBef>
              <a:spcAft>
                <a:spcPts val="0"/>
              </a:spcAft>
              <a:defRPr sz="1739" b="1">
                <a:solidFill>
                  <a:srgbClr val="17283F"/>
                </a:solidFill>
                <a:latin typeface="Arial"/>
              </a:defRPr>
            </a:pPr>
            <a:r>
              <a:t>famílias de modelos</a:t>
            </a:r>
          </a:p>
        </p:txBody>
      </p:sp>
      <p:sp>
        <p:nvSpPr>
          <p:cNvPr id="12" name="TextBox 11"/>
          <p:cNvSpPr txBox="1"/>
          <p:nvPr/>
        </p:nvSpPr>
        <p:spPr>
          <a:xfrm>
            <a:off x="822960" y="3893820"/>
            <a:ext cx="2926080" cy="297180"/>
          </a:xfrm>
          <a:prstGeom prst="rect">
            <a:avLst/>
          </a:prstGeom>
          <a:noFill/>
        </p:spPr>
        <p:txBody>
          <a:bodyPr wrap="none" anchor="t" lIns="0" rIns="0" tIns="0" bIns="0">
            <a:noAutofit/>
          </a:bodyPr>
          <a:lstStyle/>
          <a:p>
            <a:pPr>
              <a:lnSpc>
                <a:spcPts val="1859"/>
              </a:lnSpc>
              <a:spcBef>
                <a:spcPts val="0"/>
              </a:spcBef>
              <a:spcAft>
                <a:spcPts val="0"/>
              </a:spcAft>
              <a:defRPr sz="1500" b="0">
                <a:solidFill>
                  <a:srgbClr val="526278"/>
                </a:solidFill>
                <a:latin typeface="Arial"/>
              </a:defRPr>
            </a:pPr>
            <a:r>
              <a:t>CNNs, transformers e DINOv3</a:t>
            </a:r>
          </a:p>
        </p:txBody>
      </p:sp>
      <p:sp>
        <p:nvSpPr>
          <p:cNvPr id="13" name="Rounded Rectangle 12"/>
          <p:cNvSpPr/>
          <p:nvPr/>
        </p:nvSpPr>
        <p:spPr>
          <a:xfrm>
            <a:off x="4419600" y="2133600"/>
            <a:ext cx="3352800" cy="2362200"/>
          </a:xfrm>
          <a:prstGeom prst="roundRect">
            <a:avLst>
              <a:gd name="adj" fmla="val 6451"/>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32960" y="2415540"/>
            <a:ext cx="2926080" cy="703478"/>
          </a:xfrm>
          <a:prstGeom prst="rect">
            <a:avLst/>
          </a:prstGeom>
          <a:noFill/>
        </p:spPr>
        <p:txBody>
          <a:bodyPr wrap="none" anchor="t" lIns="0" rIns="0" tIns="0" bIns="0">
            <a:noAutofit/>
          </a:bodyPr>
          <a:lstStyle/>
          <a:p>
            <a:pPr>
              <a:lnSpc>
                <a:spcPts val="5059"/>
              </a:lnSpc>
              <a:spcBef>
                <a:spcPts val="0"/>
              </a:spcBef>
              <a:spcAft>
                <a:spcPts val="0"/>
              </a:spcAft>
              <a:defRPr sz="4079" b="1">
                <a:solidFill>
                  <a:srgbClr val="087F7B"/>
                </a:solidFill>
                <a:latin typeface="Arial"/>
              </a:defRPr>
            </a:pPr>
            <a:r>
              <a:t>181.947</a:t>
            </a:r>
          </a:p>
        </p:txBody>
      </p:sp>
      <p:sp>
        <p:nvSpPr>
          <p:cNvPr id="15" name="TextBox 14"/>
          <p:cNvSpPr txBox="1"/>
          <p:nvPr/>
        </p:nvSpPr>
        <p:spPr>
          <a:xfrm>
            <a:off x="4632960" y="3131820"/>
            <a:ext cx="2926080" cy="334975"/>
          </a:xfrm>
          <a:prstGeom prst="rect">
            <a:avLst/>
          </a:prstGeom>
          <a:noFill/>
        </p:spPr>
        <p:txBody>
          <a:bodyPr wrap="none" anchor="t" lIns="0" rIns="0" tIns="0" bIns="0">
            <a:noAutofit/>
          </a:bodyPr>
          <a:lstStyle/>
          <a:p>
            <a:pPr>
              <a:lnSpc>
                <a:spcPts val="2157"/>
              </a:lnSpc>
              <a:spcBef>
                <a:spcPts val="0"/>
              </a:spcBef>
              <a:spcAft>
                <a:spcPts val="0"/>
              </a:spcAft>
              <a:defRPr sz="1739" b="1">
                <a:solidFill>
                  <a:srgbClr val="17283F"/>
                </a:solidFill>
                <a:latin typeface="Arial"/>
              </a:defRPr>
            </a:pPr>
            <a:r>
              <a:t>imagens no teste</a:t>
            </a:r>
          </a:p>
        </p:txBody>
      </p:sp>
      <p:sp>
        <p:nvSpPr>
          <p:cNvPr id="16" name="TextBox 15"/>
          <p:cNvSpPr txBox="1"/>
          <p:nvPr/>
        </p:nvSpPr>
        <p:spPr>
          <a:xfrm>
            <a:off x="4632960" y="3893820"/>
            <a:ext cx="2926080" cy="297180"/>
          </a:xfrm>
          <a:prstGeom prst="rect">
            <a:avLst/>
          </a:prstGeom>
          <a:noFill/>
        </p:spPr>
        <p:txBody>
          <a:bodyPr wrap="none" anchor="t" lIns="0" rIns="0" tIns="0" bIns="0">
            <a:noAutofit/>
          </a:bodyPr>
          <a:lstStyle/>
          <a:p>
            <a:pPr>
              <a:lnSpc>
                <a:spcPts val="1859"/>
              </a:lnSpc>
              <a:spcBef>
                <a:spcPts val="0"/>
              </a:spcBef>
              <a:spcAft>
                <a:spcPts val="0"/>
              </a:spcAft>
              <a:defRPr sz="1500" b="0">
                <a:solidFill>
                  <a:srgbClr val="526278"/>
                </a:solidFill>
                <a:latin typeface="Arial"/>
              </a:defRPr>
            </a:pPr>
            <a:r>
              <a:t>Comparação limpa e degradada</a:t>
            </a:r>
          </a:p>
        </p:txBody>
      </p:sp>
      <p:sp>
        <p:nvSpPr>
          <p:cNvPr id="17" name="Rounded Rectangle 16"/>
          <p:cNvSpPr/>
          <p:nvPr/>
        </p:nvSpPr>
        <p:spPr>
          <a:xfrm>
            <a:off x="8229600" y="2133600"/>
            <a:ext cx="3352800" cy="2362200"/>
          </a:xfrm>
          <a:prstGeom prst="roundRect">
            <a:avLst>
              <a:gd name="adj" fmla="val 6451"/>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42960" y="2415540"/>
            <a:ext cx="2926080" cy="703478"/>
          </a:xfrm>
          <a:prstGeom prst="rect">
            <a:avLst/>
          </a:prstGeom>
          <a:noFill/>
        </p:spPr>
        <p:txBody>
          <a:bodyPr wrap="none" anchor="t" lIns="0" rIns="0" tIns="0" bIns="0">
            <a:noAutofit/>
          </a:bodyPr>
          <a:lstStyle/>
          <a:p>
            <a:pPr>
              <a:lnSpc>
                <a:spcPts val="5059"/>
              </a:lnSpc>
              <a:spcBef>
                <a:spcPts val="0"/>
              </a:spcBef>
              <a:spcAft>
                <a:spcPts val="0"/>
              </a:spcAft>
              <a:defRPr sz="4079" b="1">
                <a:solidFill>
                  <a:srgbClr val="087F7B"/>
                </a:solidFill>
                <a:latin typeface="Arial"/>
              </a:defRPr>
            </a:pPr>
            <a:r>
              <a:t>3</a:t>
            </a:r>
          </a:p>
        </p:txBody>
      </p:sp>
      <p:sp>
        <p:nvSpPr>
          <p:cNvPr id="19" name="TextBox 18"/>
          <p:cNvSpPr txBox="1"/>
          <p:nvPr/>
        </p:nvSpPr>
        <p:spPr>
          <a:xfrm>
            <a:off x="8442960" y="3131820"/>
            <a:ext cx="2926080" cy="608990"/>
          </a:xfrm>
          <a:prstGeom prst="rect">
            <a:avLst/>
          </a:prstGeom>
          <a:noFill/>
        </p:spPr>
        <p:txBody>
          <a:bodyPr wrap="none" anchor="t" lIns="0" rIns="0" tIns="0" bIns="0">
            <a:noAutofit/>
          </a:bodyPr>
          <a:lstStyle/>
          <a:p>
            <a:pPr>
              <a:lnSpc>
                <a:spcPts val="2157"/>
              </a:lnSpc>
              <a:spcBef>
                <a:spcPts val="0"/>
              </a:spcBef>
              <a:spcAft>
                <a:spcPts val="0"/>
              </a:spcAft>
              <a:defRPr sz="1739" b="1">
                <a:solidFill>
                  <a:srgbClr val="17283F"/>
                </a:solidFill>
                <a:latin typeface="Arial"/>
              </a:defRPr>
            </a:pPr>
            <a:r>
              <a:t>sementes por</a:t>
            </a:r>
          </a:p>
          <a:p>
            <a:pPr>
              <a:lnSpc>
                <a:spcPts val="2157"/>
              </a:lnSpc>
              <a:spcBef>
                <a:spcPts val="0"/>
              </a:spcBef>
              <a:spcAft>
                <a:spcPts val="0"/>
              </a:spcAft>
              <a:defRPr sz="1739" b="1">
                <a:solidFill>
                  <a:srgbClr val="17283F"/>
                </a:solidFill>
                <a:latin typeface="Arial"/>
              </a:defRPr>
            </a:pPr>
            <a:r>
              <a:t>configuração</a:t>
            </a:r>
          </a:p>
        </p:txBody>
      </p:sp>
      <p:sp>
        <p:nvSpPr>
          <p:cNvPr id="20" name="TextBox 19"/>
          <p:cNvSpPr txBox="1"/>
          <p:nvPr/>
        </p:nvSpPr>
        <p:spPr>
          <a:xfrm>
            <a:off x="8442960" y="3893820"/>
            <a:ext cx="2926080" cy="297180"/>
          </a:xfrm>
          <a:prstGeom prst="rect">
            <a:avLst/>
          </a:prstGeom>
          <a:noFill/>
        </p:spPr>
        <p:txBody>
          <a:bodyPr wrap="none" anchor="t" lIns="0" rIns="0" tIns="0" bIns="0">
            <a:noAutofit/>
          </a:bodyPr>
          <a:lstStyle/>
          <a:p>
            <a:pPr>
              <a:lnSpc>
                <a:spcPts val="1859"/>
              </a:lnSpc>
              <a:spcBef>
                <a:spcPts val="0"/>
              </a:spcBef>
              <a:spcAft>
                <a:spcPts val="0"/>
              </a:spcAft>
              <a:defRPr sz="1500" b="0">
                <a:solidFill>
                  <a:srgbClr val="526278"/>
                </a:solidFill>
                <a:latin typeface="Arial"/>
              </a:defRPr>
            </a:pPr>
            <a:r>
              <a:t>Médias reportadas no estudo</a:t>
            </a:r>
          </a:p>
        </p:txBody>
      </p:sp>
      <p:sp>
        <p:nvSpPr>
          <p:cNvPr id="21" name="Rounded Rectangle 20"/>
          <p:cNvSpPr/>
          <p:nvPr/>
        </p:nvSpPr>
        <p:spPr>
          <a:xfrm>
            <a:off x="609600" y="4914900"/>
            <a:ext cx="10972800" cy="838200"/>
          </a:xfrm>
          <a:prstGeom prst="roundRect">
            <a:avLst>
              <a:gd name="adj" fmla="val 16363"/>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0580" y="5113020"/>
            <a:ext cx="1981199" cy="382219"/>
          </a:xfrm>
          <a:prstGeom prst="rect">
            <a:avLst/>
          </a:prstGeom>
          <a:noFill/>
        </p:spPr>
        <p:txBody>
          <a:bodyPr wrap="none" anchor="t" lIns="0" rIns="0" tIns="0" bIns="0">
            <a:noAutofit/>
          </a:bodyPr>
          <a:lstStyle/>
          <a:p>
            <a:pPr>
              <a:lnSpc>
                <a:spcPts val="2529"/>
              </a:lnSpc>
              <a:spcBef>
                <a:spcPts val="0"/>
              </a:spcBef>
              <a:spcAft>
                <a:spcPts val="0"/>
              </a:spcAft>
              <a:defRPr sz="2039" b="1">
                <a:solidFill>
                  <a:srgbClr val="17283F"/>
                </a:solidFill>
                <a:latin typeface="Arial"/>
              </a:defRPr>
            </a:pPr>
            <a:r>
              <a:t>ROC-AUC</a:t>
            </a:r>
          </a:p>
        </p:txBody>
      </p:sp>
      <p:sp>
        <p:nvSpPr>
          <p:cNvPr id="23" name="TextBox 22"/>
          <p:cNvSpPr txBox="1"/>
          <p:nvPr/>
        </p:nvSpPr>
        <p:spPr>
          <a:xfrm>
            <a:off x="3070860" y="5143500"/>
            <a:ext cx="8153399" cy="334975"/>
          </a:xfrm>
          <a:prstGeom prst="rect">
            <a:avLst/>
          </a:prstGeom>
          <a:noFill/>
        </p:spPr>
        <p:txBody>
          <a:bodyPr wrap="none" anchor="t" lIns="0" rIns="0" tIns="0" bIns="0">
            <a:noAutofit/>
          </a:bodyPr>
          <a:lstStyle/>
          <a:p>
            <a:pPr>
              <a:lnSpc>
                <a:spcPts val="2157"/>
              </a:lnSpc>
              <a:spcBef>
                <a:spcPts val="0"/>
              </a:spcBef>
              <a:spcAft>
                <a:spcPts val="0"/>
              </a:spcAft>
              <a:defRPr sz="1739" b="0">
                <a:solidFill>
                  <a:srgbClr val="17283F"/>
                </a:solidFill>
                <a:latin typeface="Arial"/>
              </a:defRPr>
            </a:pPr>
            <a:r>
              <a:t>0,50: referência aleatória · 1,00: separação perfeita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487680"/>
            <a:ext cx="68580" cy="175260"/>
          </a:xfrm>
          <a:prstGeom prst="roundRect">
            <a:avLst>
              <a:gd name="adj" fmla="val 20000"/>
            </a:avLst>
          </a:prstGeom>
          <a:solidFill>
            <a:srgbClr val="087F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5340" y="449580"/>
            <a:ext cx="10439400" cy="231038"/>
          </a:xfrm>
          <a:prstGeom prst="rect">
            <a:avLst/>
          </a:prstGeom>
          <a:noFill/>
        </p:spPr>
        <p:txBody>
          <a:bodyPr wrap="none" anchor="t" lIns="0" rIns="0" tIns="0" bIns="0">
            <a:noAutofit/>
          </a:bodyPr>
          <a:lstStyle/>
          <a:p>
            <a:pPr>
              <a:lnSpc>
                <a:spcPts val="1339"/>
              </a:lnSpc>
              <a:spcBef>
                <a:spcPts val="0"/>
              </a:spcBef>
              <a:spcAft>
                <a:spcPts val="0"/>
              </a:spcAft>
              <a:defRPr sz="1080" b="1">
                <a:solidFill>
                  <a:srgbClr val="087F7B"/>
                </a:solidFill>
                <a:latin typeface="Arial"/>
              </a:defRPr>
            </a:pPr>
            <a:r>
              <a:t>RESULTADOS REPORTADOS</a:t>
            </a:r>
          </a:p>
        </p:txBody>
      </p:sp>
      <p:sp>
        <p:nvSpPr>
          <p:cNvPr id="5" name="TextBox 4"/>
          <p:cNvSpPr txBox="1"/>
          <p:nvPr/>
        </p:nvSpPr>
        <p:spPr>
          <a:xfrm>
            <a:off x="609600" y="876300"/>
            <a:ext cx="10972800" cy="571195"/>
          </a:xfrm>
          <a:prstGeom prst="rect">
            <a:avLst/>
          </a:prstGeom>
          <a:noFill/>
        </p:spPr>
        <p:txBody>
          <a:bodyPr wrap="none" anchor="t" lIns="0" rIns="0" tIns="0" bIns="0">
            <a:noAutofit/>
          </a:bodyPr>
          <a:lstStyle/>
          <a:p>
            <a:pPr>
              <a:lnSpc>
                <a:spcPts val="4017"/>
              </a:lnSpc>
              <a:spcBef>
                <a:spcPts val="0"/>
              </a:spcBef>
              <a:spcAft>
                <a:spcPts val="0"/>
              </a:spcAft>
              <a:defRPr sz="3240" b="1">
                <a:solidFill>
                  <a:srgbClr val="17283F"/>
                </a:solidFill>
                <a:latin typeface="Arial"/>
              </a:defRPr>
            </a:pPr>
            <a:r>
              <a:t>A degradação muda o ranking</a:t>
            </a:r>
          </a:p>
        </p:txBody>
      </p:sp>
      <p:cxnSp>
        <p:nvCxnSpPr>
          <p:cNvPr id="6" name="Connector 5"/>
          <p:cNvCxnSpPr/>
          <p:nvPr/>
        </p:nvCxnSpPr>
        <p:spPr>
          <a:xfrm>
            <a:off x="609600" y="6179820"/>
            <a:ext cx="10972800" cy="0"/>
          </a:xfrm>
          <a:prstGeom prst="line">
            <a:avLst/>
          </a:prstGeom>
          <a:ln w="15240">
            <a:solidFill>
              <a:srgbClr val="DDE4E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347460"/>
            <a:ext cx="10058400" cy="221589"/>
          </a:xfrm>
          <a:prstGeom prst="rect">
            <a:avLst/>
          </a:prstGeom>
          <a:noFill/>
        </p:spPr>
        <p:txBody>
          <a:bodyPr wrap="none" anchor="t" lIns="0" rIns="0" tIns="0" bIns="0">
            <a:noAutofit/>
          </a:bodyPr>
          <a:lstStyle/>
          <a:p>
            <a:pPr>
              <a:lnSpc>
                <a:spcPts val="1264"/>
              </a:lnSpc>
              <a:spcBef>
                <a:spcPts val="0"/>
              </a:spcBef>
              <a:spcAft>
                <a:spcPts val="0"/>
              </a:spcAft>
              <a:defRPr sz="1019" b="0">
                <a:solidFill>
                  <a:srgbClr val="526278"/>
                </a:solidFill>
                <a:latin typeface="Arial"/>
              </a:defRPr>
            </a:pPr>
            <a:r>
              <a:t>FONTES: A · Estudo anterior; B · seção V-A.</a:t>
            </a:r>
          </a:p>
        </p:txBody>
      </p:sp>
      <p:sp>
        <p:nvSpPr>
          <p:cNvPr id="8" name="TextBox 7"/>
          <p:cNvSpPr txBox="1"/>
          <p:nvPr/>
        </p:nvSpPr>
        <p:spPr>
          <a:xfrm>
            <a:off x="11125200" y="6309360"/>
            <a:ext cx="457200" cy="278282"/>
          </a:xfrm>
          <a:prstGeom prst="rect">
            <a:avLst/>
          </a:prstGeom>
          <a:noFill/>
        </p:spPr>
        <p:txBody>
          <a:bodyPr wrap="none" anchor="t" lIns="0" rIns="0" tIns="0" bIns="0">
            <a:noAutofit/>
          </a:bodyPr>
          <a:lstStyle/>
          <a:p>
            <a:pPr>
              <a:lnSpc>
                <a:spcPts val="1711"/>
              </a:lnSpc>
              <a:spcBef>
                <a:spcPts val="0"/>
              </a:spcBef>
              <a:spcAft>
                <a:spcPts val="0"/>
              </a:spcAft>
              <a:defRPr sz="1380" b="1">
                <a:solidFill>
                  <a:srgbClr val="526278"/>
                </a:solidFill>
                <a:latin typeface="Arial"/>
              </a:defRPr>
            </a:pPr>
            <a:r>
              <a:t>03</a:t>
            </a:r>
          </a:p>
        </p:txBody>
      </p:sp>
      <p:sp>
        <p:nvSpPr>
          <p:cNvPr id="9" name="Oval 8"/>
          <p:cNvSpPr/>
          <p:nvPr/>
        </p:nvSpPr>
        <p:spPr>
          <a:xfrm>
            <a:off x="716280" y="1714500"/>
            <a:ext cx="121920" cy="121920"/>
          </a:xfrm>
          <a:prstGeom prst="ellipse">
            <a:avLst/>
          </a:prstGeom>
          <a:solidFill>
            <a:srgbClr val="315F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638300"/>
            <a:ext cx="1981199" cy="297180"/>
          </a:xfrm>
          <a:prstGeom prst="rect">
            <a:avLst/>
          </a:prstGeom>
          <a:noFill/>
        </p:spPr>
        <p:txBody>
          <a:bodyPr wrap="none" anchor="t" lIns="0" rIns="0" tIns="0" bIns="0">
            <a:noAutofit/>
          </a:bodyPr>
          <a:lstStyle/>
          <a:p>
            <a:pPr>
              <a:lnSpc>
                <a:spcPts val="1859"/>
              </a:lnSpc>
              <a:spcBef>
                <a:spcPts val="0"/>
              </a:spcBef>
              <a:spcAft>
                <a:spcPts val="0"/>
              </a:spcAft>
              <a:defRPr sz="1500" b="0">
                <a:solidFill>
                  <a:srgbClr val="315FA4"/>
                </a:solidFill>
                <a:latin typeface="Arial"/>
              </a:defRPr>
            </a:pPr>
            <a:r>
              <a:t>Teste limpo</a:t>
            </a:r>
          </a:p>
        </p:txBody>
      </p:sp>
      <p:sp>
        <p:nvSpPr>
          <p:cNvPr id="11" name="Rectangle 10"/>
          <p:cNvSpPr/>
          <p:nvPr/>
        </p:nvSpPr>
        <p:spPr>
          <a:xfrm>
            <a:off x="3185160" y="1714500"/>
            <a:ext cx="121920" cy="121920"/>
          </a:xfrm>
          <a:prstGeom prst="rect">
            <a:avLst/>
          </a:prstGeom>
          <a:solidFill>
            <a:srgbClr val="087F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29000" y="1638300"/>
            <a:ext cx="2895600" cy="297180"/>
          </a:xfrm>
          <a:prstGeom prst="rect">
            <a:avLst/>
          </a:prstGeom>
          <a:noFill/>
        </p:spPr>
        <p:txBody>
          <a:bodyPr wrap="none" anchor="t" lIns="0" rIns="0" tIns="0" bIns="0">
            <a:noAutofit/>
          </a:bodyPr>
          <a:lstStyle/>
          <a:p>
            <a:pPr>
              <a:lnSpc>
                <a:spcPts val="1859"/>
              </a:lnSpc>
              <a:spcBef>
                <a:spcPts val="0"/>
              </a:spcBef>
              <a:spcAft>
                <a:spcPts val="0"/>
              </a:spcAft>
              <a:defRPr sz="1500" b="0">
                <a:solidFill>
                  <a:srgbClr val="087F7B"/>
                </a:solidFill>
                <a:latin typeface="Arial"/>
              </a:defRPr>
            </a:pPr>
            <a:r>
              <a:t>Teste degradado</a:t>
            </a:r>
          </a:p>
        </p:txBody>
      </p:sp>
      <p:cxnSp>
        <p:nvCxnSpPr>
          <p:cNvPr id="13" name="Connector 12"/>
          <p:cNvCxnSpPr/>
          <p:nvPr/>
        </p:nvCxnSpPr>
        <p:spPr>
          <a:xfrm>
            <a:off x="3810000" y="2141220"/>
            <a:ext cx="0" cy="3497580"/>
          </a:xfrm>
          <a:prstGeom prst="line">
            <a:avLst/>
          </a:prstGeom>
          <a:ln w="15240">
            <a:solidFill>
              <a:srgbClr val="DDE4EC"/>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3619500" y="5737860"/>
            <a:ext cx="655320" cy="249935"/>
          </a:xfrm>
          <a:prstGeom prst="rect">
            <a:avLst/>
          </a:prstGeom>
          <a:noFill/>
        </p:spPr>
        <p:txBody>
          <a:bodyPr wrap="none" anchor="t" lIns="0" rIns="0" tIns="0" bIns="0">
            <a:noAutofit/>
          </a:bodyPr>
          <a:lstStyle/>
          <a:p>
            <a:pPr>
              <a:lnSpc>
                <a:spcPts val="1488"/>
              </a:lnSpc>
              <a:spcBef>
                <a:spcPts val="0"/>
              </a:spcBef>
              <a:spcAft>
                <a:spcPts val="0"/>
              </a:spcAft>
              <a:defRPr sz="1200" b="0">
                <a:solidFill>
                  <a:srgbClr val="526278"/>
                </a:solidFill>
                <a:latin typeface="Arial"/>
              </a:defRPr>
            </a:pPr>
            <a:r>
              <a:t>0,50</a:t>
            </a:r>
          </a:p>
        </p:txBody>
      </p:sp>
      <p:cxnSp>
        <p:nvCxnSpPr>
          <p:cNvPr id="15" name="Connector 14"/>
          <p:cNvCxnSpPr/>
          <p:nvPr/>
        </p:nvCxnSpPr>
        <p:spPr>
          <a:xfrm>
            <a:off x="5227320" y="2141220"/>
            <a:ext cx="0" cy="3497580"/>
          </a:xfrm>
          <a:prstGeom prst="line">
            <a:avLst/>
          </a:prstGeom>
          <a:ln w="15240">
            <a:solidFill>
              <a:srgbClr val="DDE4EC"/>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036820" y="5737860"/>
            <a:ext cx="655320" cy="249935"/>
          </a:xfrm>
          <a:prstGeom prst="rect">
            <a:avLst/>
          </a:prstGeom>
          <a:noFill/>
        </p:spPr>
        <p:txBody>
          <a:bodyPr wrap="none" anchor="t" lIns="0" rIns="0" tIns="0" bIns="0">
            <a:noAutofit/>
          </a:bodyPr>
          <a:lstStyle/>
          <a:p>
            <a:pPr>
              <a:lnSpc>
                <a:spcPts val="1488"/>
              </a:lnSpc>
              <a:spcBef>
                <a:spcPts val="0"/>
              </a:spcBef>
              <a:spcAft>
                <a:spcPts val="0"/>
              </a:spcAft>
              <a:defRPr sz="1200" b="0">
                <a:solidFill>
                  <a:srgbClr val="526278"/>
                </a:solidFill>
                <a:latin typeface="Arial"/>
              </a:defRPr>
            </a:pPr>
            <a:r>
              <a:t>0,60</a:t>
            </a:r>
          </a:p>
        </p:txBody>
      </p:sp>
      <p:cxnSp>
        <p:nvCxnSpPr>
          <p:cNvPr id="17" name="Connector 16"/>
          <p:cNvCxnSpPr/>
          <p:nvPr/>
        </p:nvCxnSpPr>
        <p:spPr>
          <a:xfrm>
            <a:off x="6644640" y="2141220"/>
            <a:ext cx="0" cy="3497580"/>
          </a:xfrm>
          <a:prstGeom prst="line">
            <a:avLst/>
          </a:prstGeom>
          <a:ln w="15240">
            <a:solidFill>
              <a:srgbClr val="DDE4EC"/>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454140" y="5737860"/>
            <a:ext cx="655320" cy="249935"/>
          </a:xfrm>
          <a:prstGeom prst="rect">
            <a:avLst/>
          </a:prstGeom>
          <a:noFill/>
        </p:spPr>
        <p:txBody>
          <a:bodyPr wrap="none" anchor="t" lIns="0" rIns="0" tIns="0" bIns="0">
            <a:noAutofit/>
          </a:bodyPr>
          <a:lstStyle/>
          <a:p>
            <a:pPr>
              <a:lnSpc>
                <a:spcPts val="1488"/>
              </a:lnSpc>
              <a:spcBef>
                <a:spcPts val="0"/>
              </a:spcBef>
              <a:spcAft>
                <a:spcPts val="0"/>
              </a:spcAft>
              <a:defRPr sz="1200" b="0">
                <a:solidFill>
                  <a:srgbClr val="526278"/>
                </a:solidFill>
                <a:latin typeface="Arial"/>
              </a:defRPr>
            </a:pPr>
            <a:r>
              <a:t>0,70</a:t>
            </a:r>
          </a:p>
        </p:txBody>
      </p:sp>
      <p:cxnSp>
        <p:nvCxnSpPr>
          <p:cNvPr id="19" name="Connector 18"/>
          <p:cNvCxnSpPr/>
          <p:nvPr/>
        </p:nvCxnSpPr>
        <p:spPr>
          <a:xfrm>
            <a:off x="8061960" y="2141220"/>
            <a:ext cx="0" cy="3497580"/>
          </a:xfrm>
          <a:prstGeom prst="line">
            <a:avLst/>
          </a:prstGeom>
          <a:ln w="15240">
            <a:solidFill>
              <a:srgbClr val="DDE4EC"/>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871459" y="5737860"/>
            <a:ext cx="655320" cy="249935"/>
          </a:xfrm>
          <a:prstGeom prst="rect">
            <a:avLst/>
          </a:prstGeom>
          <a:noFill/>
        </p:spPr>
        <p:txBody>
          <a:bodyPr wrap="none" anchor="t" lIns="0" rIns="0" tIns="0" bIns="0">
            <a:noAutofit/>
          </a:bodyPr>
          <a:lstStyle/>
          <a:p>
            <a:pPr>
              <a:lnSpc>
                <a:spcPts val="1488"/>
              </a:lnSpc>
              <a:spcBef>
                <a:spcPts val="0"/>
              </a:spcBef>
              <a:spcAft>
                <a:spcPts val="0"/>
              </a:spcAft>
              <a:defRPr sz="1200" b="0">
                <a:solidFill>
                  <a:srgbClr val="526278"/>
                </a:solidFill>
                <a:latin typeface="Arial"/>
              </a:defRPr>
            </a:pPr>
            <a:r>
              <a:t>0,80</a:t>
            </a:r>
          </a:p>
        </p:txBody>
      </p:sp>
      <p:cxnSp>
        <p:nvCxnSpPr>
          <p:cNvPr id="21" name="Connector 20"/>
          <p:cNvCxnSpPr/>
          <p:nvPr/>
        </p:nvCxnSpPr>
        <p:spPr>
          <a:xfrm>
            <a:off x="9479280" y="2141220"/>
            <a:ext cx="0" cy="3497580"/>
          </a:xfrm>
          <a:prstGeom prst="line">
            <a:avLst/>
          </a:prstGeom>
          <a:ln w="15240">
            <a:solidFill>
              <a:srgbClr val="DDE4EC"/>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288780" y="5737860"/>
            <a:ext cx="655320" cy="249935"/>
          </a:xfrm>
          <a:prstGeom prst="rect">
            <a:avLst/>
          </a:prstGeom>
          <a:noFill/>
        </p:spPr>
        <p:txBody>
          <a:bodyPr wrap="none" anchor="t" lIns="0" rIns="0" tIns="0" bIns="0">
            <a:noAutofit/>
          </a:bodyPr>
          <a:lstStyle/>
          <a:p>
            <a:pPr>
              <a:lnSpc>
                <a:spcPts val="1488"/>
              </a:lnSpc>
              <a:spcBef>
                <a:spcPts val="0"/>
              </a:spcBef>
              <a:spcAft>
                <a:spcPts val="0"/>
              </a:spcAft>
              <a:defRPr sz="1200" b="0">
                <a:solidFill>
                  <a:srgbClr val="526278"/>
                </a:solidFill>
                <a:latin typeface="Arial"/>
              </a:defRPr>
            </a:pPr>
            <a:r>
              <a:t>0,90</a:t>
            </a:r>
          </a:p>
        </p:txBody>
      </p:sp>
      <p:cxnSp>
        <p:nvCxnSpPr>
          <p:cNvPr id="23" name="Connector 22"/>
          <p:cNvCxnSpPr/>
          <p:nvPr/>
        </p:nvCxnSpPr>
        <p:spPr>
          <a:xfrm>
            <a:off x="10896600" y="2141220"/>
            <a:ext cx="0" cy="3497580"/>
          </a:xfrm>
          <a:prstGeom prst="line">
            <a:avLst/>
          </a:prstGeom>
          <a:ln w="15240">
            <a:solidFill>
              <a:srgbClr val="DDE4EC"/>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0706100" y="5737860"/>
            <a:ext cx="655320" cy="249935"/>
          </a:xfrm>
          <a:prstGeom prst="rect">
            <a:avLst/>
          </a:prstGeom>
          <a:noFill/>
        </p:spPr>
        <p:txBody>
          <a:bodyPr wrap="none" anchor="t" lIns="0" rIns="0" tIns="0" bIns="0">
            <a:noAutofit/>
          </a:bodyPr>
          <a:lstStyle/>
          <a:p>
            <a:pPr>
              <a:lnSpc>
                <a:spcPts val="1488"/>
              </a:lnSpc>
              <a:spcBef>
                <a:spcPts val="0"/>
              </a:spcBef>
              <a:spcAft>
                <a:spcPts val="0"/>
              </a:spcAft>
              <a:defRPr sz="1200" b="0">
                <a:solidFill>
                  <a:srgbClr val="526278"/>
                </a:solidFill>
                <a:latin typeface="Arial"/>
              </a:defRPr>
            </a:pPr>
            <a:r>
              <a:t>1,00</a:t>
            </a:r>
          </a:p>
        </p:txBody>
      </p:sp>
      <p:sp>
        <p:nvSpPr>
          <p:cNvPr id="25" name="TextBox 24"/>
          <p:cNvSpPr txBox="1"/>
          <p:nvPr/>
        </p:nvSpPr>
        <p:spPr>
          <a:xfrm>
            <a:off x="609600" y="2186940"/>
            <a:ext cx="3055620" cy="316077"/>
          </a:xfrm>
          <a:prstGeom prst="rect">
            <a:avLst/>
          </a:prstGeom>
          <a:noFill/>
        </p:spPr>
        <p:txBody>
          <a:bodyPr wrap="none" anchor="t" lIns="0" rIns="0" tIns="0" bIns="0">
            <a:noAutofit/>
          </a:bodyPr>
          <a:lstStyle/>
          <a:p>
            <a:pPr>
              <a:lnSpc>
                <a:spcPts val="2008"/>
              </a:lnSpc>
              <a:spcBef>
                <a:spcPts val="0"/>
              </a:spcBef>
              <a:spcAft>
                <a:spcPts val="0"/>
              </a:spcAft>
              <a:defRPr sz="1620" b="1">
                <a:solidFill>
                  <a:srgbClr val="17283F"/>
                </a:solidFill>
                <a:latin typeface="Arial"/>
              </a:defRPr>
            </a:pPr>
            <a:r>
              <a:t>Xception</a:t>
            </a:r>
          </a:p>
        </p:txBody>
      </p:sp>
      <p:cxnSp>
        <p:nvCxnSpPr>
          <p:cNvPr id="26" name="Connector 25"/>
          <p:cNvCxnSpPr/>
          <p:nvPr/>
        </p:nvCxnSpPr>
        <p:spPr>
          <a:xfrm flipH="1">
            <a:off x="5354878" y="2331720"/>
            <a:ext cx="3897630" cy="0"/>
          </a:xfrm>
          <a:prstGeom prst="line">
            <a:avLst/>
          </a:prstGeom>
          <a:ln w="30480">
            <a:solidFill>
              <a:srgbClr val="B7C4D3"/>
            </a:solidFill>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9187738" y="2266950"/>
            <a:ext cx="129540" cy="129540"/>
          </a:xfrm>
          <a:prstGeom prst="ellipse">
            <a:avLst/>
          </a:prstGeom>
          <a:solidFill>
            <a:srgbClr val="315F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290108" y="2266950"/>
            <a:ext cx="129540" cy="129540"/>
          </a:xfrm>
          <a:prstGeom prst="rect">
            <a:avLst/>
          </a:prstGeom>
          <a:solidFill>
            <a:srgbClr val="087F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008668" y="2080260"/>
            <a:ext cx="876300" cy="268833"/>
          </a:xfrm>
          <a:prstGeom prst="rect">
            <a:avLst/>
          </a:prstGeom>
          <a:noFill/>
        </p:spPr>
        <p:txBody>
          <a:bodyPr wrap="none" anchor="t" lIns="0" rIns="0" tIns="0" bIns="0">
            <a:noAutofit/>
          </a:bodyPr>
          <a:lstStyle/>
          <a:p>
            <a:pPr>
              <a:lnSpc>
                <a:spcPts val="1636"/>
              </a:lnSpc>
              <a:spcBef>
                <a:spcPts val="0"/>
              </a:spcBef>
              <a:spcAft>
                <a:spcPts val="0"/>
              </a:spcAft>
              <a:defRPr sz="1320" b="0">
                <a:solidFill>
                  <a:srgbClr val="315FA4"/>
                </a:solidFill>
                <a:latin typeface="Arial"/>
              </a:defRPr>
            </a:pPr>
            <a:r>
              <a:t>0,884</a:t>
            </a:r>
          </a:p>
        </p:txBody>
      </p:sp>
      <p:sp>
        <p:nvSpPr>
          <p:cNvPr id="30" name="TextBox 29"/>
          <p:cNvSpPr txBox="1"/>
          <p:nvPr/>
        </p:nvSpPr>
        <p:spPr>
          <a:xfrm>
            <a:off x="5111038" y="2423160"/>
            <a:ext cx="876300" cy="268833"/>
          </a:xfrm>
          <a:prstGeom prst="rect">
            <a:avLst/>
          </a:prstGeom>
          <a:noFill/>
        </p:spPr>
        <p:txBody>
          <a:bodyPr wrap="none" anchor="t" lIns="0" rIns="0" tIns="0" bIns="0">
            <a:noAutofit/>
          </a:bodyPr>
          <a:lstStyle/>
          <a:p>
            <a:pPr>
              <a:lnSpc>
                <a:spcPts val="1636"/>
              </a:lnSpc>
              <a:spcBef>
                <a:spcPts val="0"/>
              </a:spcBef>
              <a:spcAft>
                <a:spcPts val="0"/>
              </a:spcAft>
              <a:defRPr sz="1320" b="0">
                <a:solidFill>
                  <a:srgbClr val="087F7B"/>
                </a:solidFill>
                <a:latin typeface="Arial"/>
              </a:defRPr>
            </a:pPr>
            <a:r>
              <a:t>0,609</a:t>
            </a:r>
          </a:p>
        </p:txBody>
      </p:sp>
      <p:sp>
        <p:nvSpPr>
          <p:cNvPr id="31" name="TextBox 30"/>
          <p:cNvSpPr txBox="1"/>
          <p:nvPr/>
        </p:nvSpPr>
        <p:spPr>
          <a:xfrm>
            <a:off x="609600" y="2796540"/>
            <a:ext cx="3055620" cy="316077"/>
          </a:xfrm>
          <a:prstGeom prst="rect">
            <a:avLst/>
          </a:prstGeom>
          <a:noFill/>
        </p:spPr>
        <p:txBody>
          <a:bodyPr wrap="none" anchor="t" lIns="0" rIns="0" tIns="0" bIns="0">
            <a:noAutofit/>
          </a:bodyPr>
          <a:lstStyle/>
          <a:p>
            <a:pPr>
              <a:lnSpc>
                <a:spcPts val="2008"/>
              </a:lnSpc>
              <a:spcBef>
                <a:spcPts val="0"/>
              </a:spcBef>
              <a:spcAft>
                <a:spcPts val="0"/>
              </a:spcAft>
              <a:defRPr sz="1620" b="0">
                <a:solidFill>
                  <a:srgbClr val="17283F"/>
                </a:solidFill>
                <a:latin typeface="Arial"/>
              </a:defRPr>
            </a:pPr>
            <a:r>
              <a:t>ResNet-18</a:t>
            </a:r>
          </a:p>
        </p:txBody>
      </p:sp>
      <p:cxnSp>
        <p:nvCxnSpPr>
          <p:cNvPr id="32" name="Connector 31"/>
          <p:cNvCxnSpPr/>
          <p:nvPr/>
        </p:nvCxnSpPr>
        <p:spPr>
          <a:xfrm flipH="1">
            <a:off x="5723382" y="2941320"/>
            <a:ext cx="2990545" cy="0"/>
          </a:xfrm>
          <a:prstGeom prst="line">
            <a:avLst/>
          </a:prstGeom>
          <a:ln w="30480">
            <a:solidFill>
              <a:srgbClr val="B7C4D3"/>
            </a:solidFill>
          </a:ln>
        </p:spPr>
        <p:style>
          <a:lnRef idx="2">
            <a:schemeClr val="accent1"/>
          </a:lnRef>
          <a:fillRef idx="0">
            <a:schemeClr val="accent1"/>
          </a:fillRef>
          <a:effectRef idx="1">
            <a:schemeClr val="accent1"/>
          </a:effectRef>
          <a:fontRef idx="minor">
            <a:schemeClr val="tx1"/>
          </a:fontRef>
        </p:style>
      </p:cxnSp>
      <p:sp>
        <p:nvSpPr>
          <p:cNvPr id="33" name="Oval 32"/>
          <p:cNvSpPr/>
          <p:nvPr/>
        </p:nvSpPr>
        <p:spPr>
          <a:xfrm>
            <a:off x="8649157" y="2876550"/>
            <a:ext cx="129540" cy="129540"/>
          </a:xfrm>
          <a:prstGeom prst="ellipse">
            <a:avLst/>
          </a:prstGeom>
          <a:solidFill>
            <a:srgbClr val="315F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58612" y="2876550"/>
            <a:ext cx="129540" cy="129540"/>
          </a:xfrm>
          <a:prstGeom prst="rect">
            <a:avLst/>
          </a:prstGeom>
          <a:solidFill>
            <a:srgbClr val="087F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470087" y="2689860"/>
            <a:ext cx="876300" cy="268833"/>
          </a:xfrm>
          <a:prstGeom prst="rect">
            <a:avLst/>
          </a:prstGeom>
          <a:noFill/>
        </p:spPr>
        <p:txBody>
          <a:bodyPr wrap="none" anchor="t" lIns="0" rIns="0" tIns="0" bIns="0">
            <a:noAutofit/>
          </a:bodyPr>
          <a:lstStyle/>
          <a:p>
            <a:pPr>
              <a:lnSpc>
                <a:spcPts val="1636"/>
              </a:lnSpc>
              <a:spcBef>
                <a:spcPts val="0"/>
              </a:spcBef>
              <a:spcAft>
                <a:spcPts val="0"/>
              </a:spcAft>
              <a:defRPr sz="1320" b="0">
                <a:solidFill>
                  <a:srgbClr val="315FA4"/>
                </a:solidFill>
                <a:latin typeface="Arial"/>
              </a:defRPr>
            </a:pPr>
            <a:r>
              <a:t>0,846</a:t>
            </a:r>
          </a:p>
        </p:txBody>
      </p:sp>
      <p:sp>
        <p:nvSpPr>
          <p:cNvPr id="36" name="TextBox 35"/>
          <p:cNvSpPr txBox="1"/>
          <p:nvPr/>
        </p:nvSpPr>
        <p:spPr>
          <a:xfrm>
            <a:off x="5479542" y="3032760"/>
            <a:ext cx="876300" cy="268833"/>
          </a:xfrm>
          <a:prstGeom prst="rect">
            <a:avLst/>
          </a:prstGeom>
          <a:noFill/>
        </p:spPr>
        <p:txBody>
          <a:bodyPr wrap="none" anchor="t" lIns="0" rIns="0" tIns="0" bIns="0">
            <a:noAutofit/>
          </a:bodyPr>
          <a:lstStyle/>
          <a:p>
            <a:pPr>
              <a:lnSpc>
                <a:spcPts val="1636"/>
              </a:lnSpc>
              <a:spcBef>
                <a:spcPts val="0"/>
              </a:spcBef>
              <a:spcAft>
                <a:spcPts val="0"/>
              </a:spcAft>
              <a:defRPr sz="1320" b="0">
                <a:solidFill>
                  <a:srgbClr val="087F7B"/>
                </a:solidFill>
                <a:latin typeface="Arial"/>
              </a:defRPr>
            </a:pPr>
            <a:r>
              <a:t>0,635</a:t>
            </a:r>
          </a:p>
        </p:txBody>
      </p:sp>
      <p:sp>
        <p:nvSpPr>
          <p:cNvPr id="37" name="TextBox 36"/>
          <p:cNvSpPr txBox="1"/>
          <p:nvPr/>
        </p:nvSpPr>
        <p:spPr>
          <a:xfrm>
            <a:off x="609600" y="3406140"/>
            <a:ext cx="3055620" cy="316077"/>
          </a:xfrm>
          <a:prstGeom prst="rect">
            <a:avLst/>
          </a:prstGeom>
          <a:noFill/>
        </p:spPr>
        <p:txBody>
          <a:bodyPr wrap="none" anchor="t" lIns="0" rIns="0" tIns="0" bIns="0">
            <a:noAutofit/>
          </a:bodyPr>
          <a:lstStyle/>
          <a:p>
            <a:pPr>
              <a:lnSpc>
                <a:spcPts val="2008"/>
              </a:lnSpc>
              <a:spcBef>
                <a:spcPts val="0"/>
              </a:spcBef>
              <a:spcAft>
                <a:spcPts val="0"/>
              </a:spcAft>
              <a:defRPr sz="1620" b="0">
                <a:solidFill>
                  <a:srgbClr val="17283F"/>
                </a:solidFill>
                <a:latin typeface="Arial"/>
              </a:defRPr>
            </a:pPr>
            <a:r>
              <a:t>MobileNetV3</a:t>
            </a:r>
          </a:p>
        </p:txBody>
      </p:sp>
      <p:cxnSp>
        <p:nvCxnSpPr>
          <p:cNvPr id="38" name="Connector 37"/>
          <p:cNvCxnSpPr/>
          <p:nvPr/>
        </p:nvCxnSpPr>
        <p:spPr>
          <a:xfrm flipH="1">
            <a:off x="5142280" y="3550920"/>
            <a:ext cx="3472434" cy="0"/>
          </a:xfrm>
          <a:prstGeom prst="line">
            <a:avLst/>
          </a:prstGeom>
          <a:ln w="30480">
            <a:solidFill>
              <a:srgbClr val="B7C4D3"/>
            </a:solidFill>
          </a:ln>
        </p:spPr>
        <p:style>
          <a:lnRef idx="2">
            <a:schemeClr val="accent1"/>
          </a:lnRef>
          <a:fillRef idx="0">
            <a:schemeClr val="accent1"/>
          </a:fillRef>
          <a:effectRef idx="1">
            <a:schemeClr val="accent1"/>
          </a:effectRef>
          <a:fontRef idx="minor">
            <a:schemeClr val="tx1"/>
          </a:fontRef>
        </p:style>
      </p:cxnSp>
      <p:sp>
        <p:nvSpPr>
          <p:cNvPr id="39" name="Oval 38"/>
          <p:cNvSpPr/>
          <p:nvPr/>
        </p:nvSpPr>
        <p:spPr>
          <a:xfrm>
            <a:off x="8549944" y="3486150"/>
            <a:ext cx="129540" cy="129540"/>
          </a:xfrm>
          <a:prstGeom prst="ellipse">
            <a:avLst/>
          </a:prstGeom>
          <a:solidFill>
            <a:srgbClr val="315F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077510" y="3486150"/>
            <a:ext cx="129540" cy="129540"/>
          </a:xfrm>
          <a:prstGeom prst="rect">
            <a:avLst/>
          </a:prstGeom>
          <a:solidFill>
            <a:srgbClr val="087F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70874" y="3299460"/>
            <a:ext cx="876300" cy="268833"/>
          </a:xfrm>
          <a:prstGeom prst="rect">
            <a:avLst/>
          </a:prstGeom>
          <a:noFill/>
        </p:spPr>
        <p:txBody>
          <a:bodyPr wrap="none" anchor="t" lIns="0" rIns="0" tIns="0" bIns="0">
            <a:noAutofit/>
          </a:bodyPr>
          <a:lstStyle/>
          <a:p>
            <a:pPr>
              <a:lnSpc>
                <a:spcPts val="1636"/>
              </a:lnSpc>
              <a:spcBef>
                <a:spcPts val="0"/>
              </a:spcBef>
              <a:spcAft>
                <a:spcPts val="0"/>
              </a:spcAft>
              <a:defRPr sz="1320" b="0">
                <a:solidFill>
                  <a:srgbClr val="315FA4"/>
                </a:solidFill>
                <a:latin typeface="Arial"/>
              </a:defRPr>
            </a:pPr>
            <a:r>
              <a:t>0,839</a:t>
            </a:r>
          </a:p>
        </p:txBody>
      </p:sp>
      <p:sp>
        <p:nvSpPr>
          <p:cNvPr id="42" name="TextBox 41"/>
          <p:cNvSpPr txBox="1"/>
          <p:nvPr/>
        </p:nvSpPr>
        <p:spPr>
          <a:xfrm>
            <a:off x="4898440" y="3642360"/>
            <a:ext cx="876300" cy="268833"/>
          </a:xfrm>
          <a:prstGeom prst="rect">
            <a:avLst/>
          </a:prstGeom>
          <a:noFill/>
        </p:spPr>
        <p:txBody>
          <a:bodyPr wrap="none" anchor="t" lIns="0" rIns="0" tIns="0" bIns="0">
            <a:noAutofit/>
          </a:bodyPr>
          <a:lstStyle/>
          <a:p>
            <a:pPr>
              <a:lnSpc>
                <a:spcPts val="1636"/>
              </a:lnSpc>
              <a:spcBef>
                <a:spcPts val="0"/>
              </a:spcBef>
              <a:spcAft>
                <a:spcPts val="0"/>
              </a:spcAft>
              <a:defRPr sz="1320" b="0">
                <a:solidFill>
                  <a:srgbClr val="087F7B"/>
                </a:solidFill>
                <a:latin typeface="Arial"/>
              </a:defRPr>
            </a:pPr>
            <a:r>
              <a:t>0,594</a:t>
            </a:r>
          </a:p>
        </p:txBody>
      </p:sp>
      <p:sp>
        <p:nvSpPr>
          <p:cNvPr id="43" name="TextBox 42"/>
          <p:cNvSpPr txBox="1"/>
          <p:nvPr/>
        </p:nvSpPr>
        <p:spPr>
          <a:xfrm>
            <a:off x="609600" y="4015740"/>
            <a:ext cx="3055620" cy="316077"/>
          </a:xfrm>
          <a:prstGeom prst="rect">
            <a:avLst/>
          </a:prstGeom>
          <a:noFill/>
        </p:spPr>
        <p:txBody>
          <a:bodyPr wrap="none" anchor="t" lIns="0" rIns="0" tIns="0" bIns="0">
            <a:noAutofit/>
          </a:bodyPr>
          <a:lstStyle/>
          <a:p>
            <a:pPr>
              <a:lnSpc>
                <a:spcPts val="2008"/>
              </a:lnSpc>
              <a:spcBef>
                <a:spcPts val="0"/>
              </a:spcBef>
              <a:spcAft>
                <a:spcPts val="0"/>
              </a:spcAft>
              <a:defRPr sz="1620" b="1">
                <a:solidFill>
                  <a:srgbClr val="17283F"/>
                </a:solidFill>
                <a:latin typeface="Arial"/>
              </a:defRPr>
            </a:pPr>
            <a:r>
              <a:t>DINOv3 (congelado)</a:t>
            </a:r>
          </a:p>
        </p:txBody>
      </p:sp>
      <p:cxnSp>
        <p:nvCxnSpPr>
          <p:cNvPr id="44" name="Connector 43"/>
          <p:cNvCxnSpPr/>
          <p:nvPr/>
        </p:nvCxnSpPr>
        <p:spPr>
          <a:xfrm flipH="1">
            <a:off x="7013143" y="4160520"/>
            <a:ext cx="1176375" cy="0"/>
          </a:xfrm>
          <a:prstGeom prst="line">
            <a:avLst/>
          </a:prstGeom>
          <a:ln w="30480">
            <a:solidFill>
              <a:srgbClr val="B7C4D3"/>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8124748" y="4095750"/>
            <a:ext cx="129540" cy="129540"/>
          </a:xfrm>
          <a:prstGeom prst="ellipse">
            <a:avLst/>
          </a:prstGeom>
          <a:solidFill>
            <a:srgbClr val="315F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948373" y="4095750"/>
            <a:ext cx="129540" cy="129540"/>
          </a:xfrm>
          <a:prstGeom prst="rect">
            <a:avLst/>
          </a:prstGeom>
          <a:solidFill>
            <a:srgbClr val="087F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945678" y="3909060"/>
            <a:ext cx="876300" cy="268833"/>
          </a:xfrm>
          <a:prstGeom prst="rect">
            <a:avLst/>
          </a:prstGeom>
          <a:noFill/>
        </p:spPr>
        <p:txBody>
          <a:bodyPr wrap="none" anchor="t" lIns="0" rIns="0" tIns="0" bIns="0">
            <a:noAutofit/>
          </a:bodyPr>
          <a:lstStyle/>
          <a:p>
            <a:pPr>
              <a:lnSpc>
                <a:spcPts val="1636"/>
              </a:lnSpc>
              <a:spcBef>
                <a:spcPts val="0"/>
              </a:spcBef>
              <a:spcAft>
                <a:spcPts val="0"/>
              </a:spcAft>
              <a:defRPr sz="1320" b="0">
                <a:solidFill>
                  <a:srgbClr val="315FA4"/>
                </a:solidFill>
                <a:latin typeface="Arial"/>
              </a:defRPr>
            </a:pPr>
            <a:r>
              <a:t>0,809</a:t>
            </a:r>
          </a:p>
        </p:txBody>
      </p:sp>
      <p:sp>
        <p:nvSpPr>
          <p:cNvPr id="48" name="TextBox 47"/>
          <p:cNvSpPr txBox="1"/>
          <p:nvPr/>
        </p:nvSpPr>
        <p:spPr>
          <a:xfrm>
            <a:off x="6769303" y="4251960"/>
            <a:ext cx="876300" cy="268833"/>
          </a:xfrm>
          <a:prstGeom prst="rect">
            <a:avLst/>
          </a:prstGeom>
          <a:noFill/>
        </p:spPr>
        <p:txBody>
          <a:bodyPr wrap="none" anchor="t" lIns="0" rIns="0" tIns="0" bIns="0">
            <a:noAutofit/>
          </a:bodyPr>
          <a:lstStyle/>
          <a:p>
            <a:pPr>
              <a:lnSpc>
                <a:spcPts val="1636"/>
              </a:lnSpc>
              <a:spcBef>
                <a:spcPts val="0"/>
              </a:spcBef>
              <a:spcAft>
                <a:spcPts val="0"/>
              </a:spcAft>
              <a:defRPr sz="1320" b="0">
                <a:solidFill>
                  <a:srgbClr val="087F7B"/>
                </a:solidFill>
                <a:latin typeface="Arial"/>
              </a:defRPr>
            </a:pPr>
            <a:r>
              <a:t>0,726</a:t>
            </a:r>
          </a:p>
        </p:txBody>
      </p:sp>
      <p:sp>
        <p:nvSpPr>
          <p:cNvPr id="49" name="TextBox 48"/>
          <p:cNvSpPr txBox="1"/>
          <p:nvPr/>
        </p:nvSpPr>
        <p:spPr>
          <a:xfrm>
            <a:off x="609600" y="4625340"/>
            <a:ext cx="3055620" cy="316077"/>
          </a:xfrm>
          <a:prstGeom prst="rect">
            <a:avLst/>
          </a:prstGeom>
          <a:noFill/>
        </p:spPr>
        <p:txBody>
          <a:bodyPr wrap="none" anchor="t" lIns="0" rIns="0" tIns="0" bIns="0">
            <a:noAutofit/>
          </a:bodyPr>
          <a:lstStyle/>
          <a:p>
            <a:pPr>
              <a:lnSpc>
                <a:spcPts val="2008"/>
              </a:lnSpc>
              <a:spcBef>
                <a:spcPts val="0"/>
              </a:spcBef>
              <a:spcAft>
                <a:spcPts val="0"/>
              </a:spcAft>
              <a:defRPr sz="1620" b="0">
                <a:solidFill>
                  <a:srgbClr val="17283F"/>
                </a:solidFill>
                <a:latin typeface="Arial"/>
              </a:defRPr>
            </a:pPr>
            <a:r>
              <a:t>CLIP-style</a:t>
            </a:r>
          </a:p>
        </p:txBody>
      </p:sp>
      <p:cxnSp>
        <p:nvCxnSpPr>
          <p:cNvPr id="50" name="Connector 49"/>
          <p:cNvCxnSpPr/>
          <p:nvPr/>
        </p:nvCxnSpPr>
        <p:spPr>
          <a:xfrm flipH="1">
            <a:off x="5496610" y="4770120"/>
            <a:ext cx="1856689" cy="0"/>
          </a:xfrm>
          <a:prstGeom prst="line">
            <a:avLst/>
          </a:prstGeom>
          <a:ln w="30480">
            <a:solidFill>
              <a:srgbClr val="B7C4D3"/>
            </a:solidFill>
          </a:ln>
        </p:spPr>
        <p:style>
          <a:lnRef idx="2">
            <a:schemeClr val="accent1"/>
          </a:lnRef>
          <a:fillRef idx="0">
            <a:schemeClr val="accent1"/>
          </a:fillRef>
          <a:effectRef idx="1">
            <a:schemeClr val="accent1"/>
          </a:effectRef>
          <a:fontRef idx="minor">
            <a:schemeClr val="tx1"/>
          </a:fontRef>
        </p:style>
      </p:cxnSp>
      <p:sp>
        <p:nvSpPr>
          <p:cNvPr id="51" name="Oval 50"/>
          <p:cNvSpPr/>
          <p:nvPr/>
        </p:nvSpPr>
        <p:spPr>
          <a:xfrm>
            <a:off x="7288530" y="4705350"/>
            <a:ext cx="129540" cy="129540"/>
          </a:xfrm>
          <a:prstGeom prst="ellipse">
            <a:avLst/>
          </a:prstGeom>
          <a:solidFill>
            <a:srgbClr val="315F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431840" y="4705350"/>
            <a:ext cx="129540" cy="129540"/>
          </a:xfrm>
          <a:prstGeom prst="rect">
            <a:avLst/>
          </a:prstGeom>
          <a:solidFill>
            <a:srgbClr val="087F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109460" y="4518660"/>
            <a:ext cx="876300" cy="268833"/>
          </a:xfrm>
          <a:prstGeom prst="rect">
            <a:avLst/>
          </a:prstGeom>
          <a:noFill/>
        </p:spPr>
        <p:txBody>
          <a:bodyPr wrap="none" anchor="t" lIns="0" rIns="0" tIns="0" bIns="0">
            <a:noAutofit/>
          </a:bodyPr>
          <a:lstStyle/>
          <a:p>
            <a:pPr>
              <a:lnSpc>
                <a:spcPts val="1636"/>
              </a:lnSpc>
              <a:spcBef>
                <a:spcPts val="0"/>
              </a:spcBef>
              <a:spcAft>
                <a:spcPts val="0"/>
              </a:spcAft>
              <a:defRPr sz="1320" b="0">
                <a:solidFill>
                  <a:srgbClr val="315FA4"/>
                </a:solidFill>
                <a:latin typeface="Arial"/>
              </a:defRPr>
            </a:pPr>
            <a:r>
              <a:t>0,750</a:t>
            </a:r>
          </a:p>
        </p:txBody>
      </p:sp>
      <p:sp>
        <p:nvSpPr>
          <p:cNvPr id="54" name="TextBox 53"/>
          <p:cNvSpPr txBox="1"/>
          <p:nvPr/>
        </p:nvSpPr>
        <p:spPr>
          <a:xfrm>
            <a:off x="5252770" y="4861560"/>
            <a:ext cx="876300" cy="268833"/>
          </a:xfrm>
          <a:prstGeom prst="rect">
            <a:avLst/>
          </a:prstGeom>
          <a:noFill/>
        </p:spPr>
        <p:txBody>
          <a:bodyPr wrap="none" anchor="t" lIns="0" rIns="0" tIns="0" bIns="0">
            <a:noAutofit/>
          </a:bodyPr>
          <a:lstStyle/>
          <a:p>
            <a:pPr>
              <a:lnSpc>
                <a:spcPts val="1636"/>
              </a:lnSpc>
              <a:spcBef>
                <a:spcPts val="0"/>
              </a:spcBef>
              <a:spcAft>
                <a:spcPts val="0"/>
              </a:spcAft>
              <a:defRPr sz="1320" b="0">
                <a:solidFill>
                  <a:srgbClr val="087F7B"/>
                </a:solidFill>
                <a:latin typeface="Arial"/>
              </a:defRPr>
            </a:pPr>
            <a:r>
              <a:t>0,619</a:t>
            </a:r>
          </a:p>
        </p:txBody>
      </p:sp>
      <p:sp>
        <p:nvSpPr>
          <p:cNvPr id="55" name="TextBox 54"/>
          <p:cNvSpPr txBox="1"/>
          <p:nvPr/>
        </p:nvSpPr>
        <p:spPr>
          <a:xfrm>
            <a:off x="609600" y="5234940"/>
            <a:ext cx="3055620" cy="316077"/>
          </a:xfrm>
          <a:prstGeom prst="rect">
            <a:avLst/>
          </a:prstGeom>
          <a:noFill/>
        </p:spPr>
        <p:txBody>
          <a:bodyPr wrap="none" anchor="t" lIns="0" rIns="0" tIns="0" bIns="0">
            <a:noAutofit/>
          </a:bodyPr>
          <a:lstStyle/>
          <a:p>
            <a:pPr>
              <a:lnSpc>
                <a:spcPts val="2008"/>
              </a:lnSpc>
              <a:spcBef>
                <a:spcPts val="0"/>
              </a:spcBef>
              <a:spcAft>
                <a:spcPts val="0"/>
              </a:spcAft>
              <a:defRPr sz="1620" b="0">
                <a:solidFill>
                  <a:srgbClr val="17283F"/>
                </a:solidFill>
                <a:latin typeface="Arial"/>
              </a:defRPr>
            </a:pPr>
            <a:r>
              <a:t>ViT</a:t>
            </a:r>
          </a:p>
        </p:txBody>
      </p:sp>
      <p:cxnSp>
        <p:nvCxnSpPr>
          <p:cNvPr id="56" name="Connector 55"/>
          <p:cNvCxnSpPr/>
          <p:nvPr/>
        </p:nvCxnSpPr>
        <p:spPr>
          <a:xfrm flipH="1">
            <a:off x="5340705" y="5379720"/>
            <a:ext cx="226771" cy="0"/>
          </a:xfrm>
          <a:prstGeom prst="line">
            <a:avLst/>
          </a:prstGeom>
          <a:ln w="30480">
            <a:solidFill>
              <a:srgbClr val="B7C4D3"/>
            </a:solidFill>
          </a:ln>
        </p:spPr>
        <p:style>
          <a:lnRef idx="2">
            <a:schemeClr val="accent1"/>
          </a:lnRef>
          <a:fillRef idx="0">
            <a:schemeClr val="accent1"/>
          </a:fillRef>
          <a:effectRef idx="1">
            <a:schemeClr val="accent1"/>
          </a:effectRef>
          <a:fontRef idx="minor">
            <a:schemeClr val="tx1"/>
          </a:fontRef>
        </p:style>
      </p:cxnSp>
      <p:sp>
        <p:nvSpPr>
          <p:cNvPr id="57" name="Oval 56"/>
          <p:cNvSpPr/>
          <p:nvPr/>
        </p:nvSpPr>
        <p:spPr>
          <a:xfrm>
            <a:off x="5502706" y="5314950"/>
            <a:ext cx="129540" cy="129540"/>
          </a:xfrm>
          <a:prstGeom prst="ellipse">
            <a:avLst/>
          </a:prstGeom>
          <a:solidFill>
            <a:srgbClr val="315F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275935" y="5314950"/>
            <a:ext cx="129540" cy="129540"/>
          </a:xfrm>
          <a:prstGeom prst="rect">
            <a:avLst/>
          </a:prstGeom>
          <a:solidFill>
            <a:srgbClr val="087F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323636" y="5128260"/>
            <a:ext cx="876300" cy="268833"/>
          </a:xfrm>
          <a:prstGeom prst="rect">
            <a:avLst/>
          </a:prstGeom>
          <a:noFill/>
        </p:spPr>
        <p:txBody>
          <a:bodyPr wrap="none" anchor="t" lIns="0" rIns="0" tIns="0" bIns="0">
            <a:noAutofit/>
          </a:bodyPr>
          <a:lstStyle/>
          <a:p>
            <a:pPr>
              <a:lnSpc>
                <a:spcPts val="1636"/>
              </a:lnSpc>
              <a:spcBef>
                <a:spcPts val="0"/>
              </a:spcBef>
              <a:spcAft>
                <a:spcPts val="0"/>
              </a:spcAft>
              <a:defRPr sz="1320" b="0">
                <a:solidFill>
                  <a:srgbClr val="315FA4"/>
                </a:solidFill>
                <a:latin typeface="Arial"/>
              </a:defRPr>
            </a:pPr>
            <a:r>
              <a:t>0,624</a:t>
            </a:r>
          </a:p>
        </p:txBody>
      </p:sp>
      <p:sp>
        <p:nvSpPr>
          <p:cNvPr id="60" name="TextBox 59"/>
          <p:cNvSpPr txBox="1"/>
          <p:nvPr/>
        </p:nvSpPr>
        <p:spPr>
          <a:xfrm>
            <a:off x="5096865" y="5471160"/>
            <a:ext cx="876300" cy="268833"/>
          </a:xfrm>
          <a:prstGeom prst="rect">
            <a:avLst/>
          </a:prstGeom>
          <a:noFill/>
        </p:spPr>
        <p:txBody>
          <a:bodyPr wrap="none" anchor="t" lIns="0" rIns="0" tIns="0" bIns="0">
            <a:noAutofit/>
          </a:bodyPr>
          <a:lstStyle/>
          <a:p>
            <a:pPr>
              <a:lnSpc>
                <a:spcPts val="1636"/>
              </a:lnSpc>
              <a:spcBef>
                <a:spcPts val="0"/>
              </a:spcBef>
              <a:spcAft>
                <a:spcPts val="0"/>
              </a:spcAft>
              <a:defRPr sz="1320" b="0">
                <a:solidFill>
                  <a:srgbClr val="087F7B"/>
                </a:solidFill>
                <a:latin typeface="Arial"/>
              </a:defRPr>
            </a:pPr>
            <a:r>
              <a:t>0,608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487680"/>
            <a:ext cx="68580" cy="175260"/>
          </a:xfrm>
          <a:prstGeom prst="roundRect">
            <a:avLst>
              <a:gd name="adj" fmla="val 20000"/>
            </a:avLst>
          </a:prstGeom>
          <a:solidFill>
            <a:srgbClr val="087F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5340" y="449580"/>
            <a:ext cx="10439400" cy="231038"/>
          </a:xfrm>
          <a:prstGeom prst="rect">
            <a:avLst/>
          </a:prstGeom>
          <a:noFill/>
        </p:spPr>
        <p:txBody>
          <a:bodyPr wrap="none" anchor="t" lIns="0" rIns="0" tIns="0" bIns="0">
            <a:noAutofit/>
          </a:bodyPr>
          <a:lstStyle/>
          <a:p>
            <a:pPr>
              <a:lnSpc>
                <a:spcPts val="1339"/>
              </a:lnSpc>
              <a:spcBef>
                <a:spcPts val="0"/>
              </a:spcBef>
              <a:spcAft>
                <a:spcPts val="0"/>
              </a:spcAft>
              <a:defRPr sz="1080" b="1">
                <a:solidFill>
                  <a:srgbClr val="087F7B"/>
                </a:solidFill>
                <a:latin typeface="Arial"/>
              </a:defRPr>
            </a:pPr>
            <a:r>
              <a:t>RESULTADOS REPORTADOS</a:t>
            </a:r>
          </a:p>
        </p:txBody>
      </p:sp>
      <p:sp>
        <p:nvSpPr>
          <p:cNvPr id="5" name="TextBox 4"/>
          <p:cNvSpPr txBox="1"/>
          <p:nvPr/>
        </p:nvSpPr>
        <p:spPr>
          <a:xfrm>
            <a:off x="609600" y="876300"/>
            <a:ext cx="10972800" cy="571195"/>
          </a:xfrm>
          <a:prstGeom prst="rect">
            <a:avLst/>
          </a:prstGeom>
          <a:noFill/>
        </p:spPr>
        <p:txBody>
          <a:bodyPr wrap="none" anchor="t" lIns="0" rIns="0" tIns="0" bIns="0">
            <a:noAutofit/>
          </a:bodyPr>
          <a:lstStyle/>
          <a:p>
            <a:pPr>
              <a:lnSpc>
                <a:spcPts val="4017"/>
              </a:lnSpc>
              <a:spcBef>
                <a:spcPts val="0"/>
              </a:spcBef>
              <a:spcAft>
                <a:spcPts val="0"/>
              </a:spcAft>
              <a:defRPr sz="3240" b="1">
                <a:solidFill>
                  <a:srgbClr val="17283F"/>
                </a:solidFill>
                <a:latin typeface="Arial"/>
              </a:defRPr>
            </a:pPr>
            <a:r>
              <a:t>Pequena queda, sozinha, não é robustez</a:t>
            </a:r>
          </a:p>
        </p:txBody>
      </p:sp>
      <p:cxnSp>
        <p:nvCxnSpPr>
          <p:cNvPr id="6" name="Connector 5"/>
          <p:cNvCxnSpPr/>
          <p:nvPr/>
        </p:nvCxnSpPr>
        <p:spPr>
          <a:xfrm>
            <a:off x="609600" y="6179820"/>
            <a:ext cx="10972800" cy="0"/>
          </a:xfrm>
          <a:prstGeom prst="line">
            <a:avLst/>
          </a:prstGeom>
          <a:ln w="15240">
            <a:solidFill>
              <a:srgbClr val="DDE4E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347460"/>
            <a:ext cx="10058400" cy="221589"/>
          </a:xfrm>
          <a:prstGeom prst="rect">
            <a:avLst/>
          </a:prstGeom>
          <a:noFill/>
        </p:spPr>
        <p:txBody>
          <a:bodyPr wrap="none" anchor="t" lIns="0" rIns="0" tIns="0" bIns="0">
            <a:noAutofit/>
          </a:bodyPr>
          <a:lstStyle/>
          <a:p>
            <a:pPr>
              <a:lnSpc>
                <a:spcPts val="1264"/>
              </a:lnSpc>
              <a:spcBef>
                <a:spcPts val="0"/>
              </a:spcBef>
              <a:spcAft>
                <a:spcPts val="0"/>
              </a:spcAft>
              <a:defRPr sz="1019" b="0">
                <a:solidFill>
                  <a:srgbClr val="526278"/>
                </a:solidFill>
                <a:latin typeface="Arial"/>
              </a:defRPr>
            </a:pPr>
            <a:r>
              <a:t>FONTES: A · Estudo anterior; B · seção V-A.</a:t>
            </a:r>
          </a:p>
        </p:txBody>
      </p:sp>
      <p:sp>
        <p:nvSpPr>
          <p:cNvPr id="8" name="TextBox 7"/>
          <p:cNvSpPr txBox="1"/>
          <p:nvPr/>
        </p:nvSpPr>
        <p:spPr>
          <a:xfrm>
            <a:off x="11125200" y="6309360"/>
            <a:ext cx="457200" cy="278282"/>
          </a:xfrm>
          <a:prstGeom prst="rect">
            <a:avLst/>
          </a:prstGeom>
          <a:noFill/>
        </p:spPr>
        <p:txBody>
          <a:bodyPr wrap="none" anchor="t" lIns="0" rIns="0" tIns="0" bIns="0">
            <a:noAutofit/>
          </a:bodyPr>
          <a:lstStyle/>
          <a:p>
            <a:pPr>
              <a:lnSpc>
                <a:spcPts val="1711"/>
              </a:lnSpc>
              <a:spcBef>
                <a:spcPts val="0"/>
              </a:spcBef>
              <a:spcAft>
                <a:spcPts val="0"/>
              </a:spcAft>
              <a:defRPr sz="1380" b="1">
                <a:solidFill>
                  <a:srgbClr val="526278"/>
                </a:solidFill>
                <a:latin typeface="Arial"/>
              </a:defRPr>
            </a:pPr>
            <a:r>
              <a:t>04</a:t>
            </a:r>
          </a:p>
        </p:txBody>
      </p:sp>
      <p:sp>
        <p:nvSpPr>
          <p:cNvPr id="9" name="Rounded Rectangle 8"/>
          <p:cNvSpPr/>
          <p:nvPr/>
        </p:nvSpPr>
        <p:spPr>
          <a:xfrm>
            <a:off x="609600" y="2118360"/>
            <a:ext cx="5257800" cy="3223260"/>
          </a:xfrm>
          <a:prstGeom prst="roundRect">
            <a:avLst>
              <a:gd name="adj" fmla="val 52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3440" y="2392680"/>
            <a:ext cx="4770120" cy="391668"/>
          </a:xfrm>
          <a:prstGeom prst="rect">
            <a:avLst/>
          </a:prstGeom>
          <a:noFill/>
        </p:spPr>
        <p:txBody>
          <a:bodyPr wrap="none" anchor="t" lIns="0" rIns="0" tIns="0" bIns="0">
            <a:noAutofit/>
          </a:bodyPr>
          <a:lstStyle/>
          <a:p>
            <a:pPr>
              <a:lnSpc>
                <a:spcPts val="2604"/>
              </a:lnSpc>
              <a:spcBef>
                <a:spcPts val="0"/>
              </a:spcBef>
              <a:spcAft>
                <a:spcPts val="0"/>
              </a:spcAft>
              <a:defRPr sz="2100" b="1">
                <a:solidFill>
                  <a:srgbClr val="17283F"/>
                </a:solidFill>
                <a:latin typeface="Arial"/>
              </a:defRPr>
            </a:pPr>
            <a:r>
              <a:t>DINOv3 congelado</a:t>
            </a:r>
          </a:p>
        </p:txBody>
      </p:sp>
      <p:sp>
        <p:nvSpPr>
          <p:cNvPr id="11" name="TextBox 10"/>
          <p:cNvSpPr txBox="1"/>
          <p:nvPr/>
        </p:nvSpPr>
        <p:spPr>
          <a:xfrm>
            <a:off x="853440" y="3009900"/>
            <a:ext cx="1866899" cy="240487"/>
          </a:xfrm>
          <a:prstGeom prst="rect">
            <a:avLst/>
          </a:prstGeom>
          <a:noFill/>
        </p:spPr>
        <p:txBody>
          <a:bodyPr wrap="none" anchor="t" lIns="0" rIns="0" tIns="0" bIns="0">
            <a:noAutofit/>
          </a:bodyPr>
          <a:lstStyle/>
          <a:p>
            <a:pPr>
              <a:lnSpc>
                <a:spcPts val="1413"/>
              </a:lnSpc>
              <a:spcBef>
                <a:spcPts val="0"/>
              </a:spcBef>
              <a:spcAft>
                <a:spcPts val="0"/>
              </a:spcAft>
              <a:defRPr sz="1140" b="1">
                <a:solidFill>
                  <a:srgbClr val="526278"/>
                </a:solidFill>
                <a:latin typeface="Arial"/>
              </a:defRPr>
            </a:pPr>
            <a:r>
              <a:t>LIMPO</a:t>
            </a:r>
          </a:p>
        </p:txBody>
      </p:sp>
      <p:sp>
        <p:nvSpPr>
          <p:cNvPr id="12" name="TextBox 11"/>
          <p:cNvSpPr txBox="1"/>
          <p:nvPr/>
        </p:nvSpPr>
        <p:spPr>
          <a:xfrm>
            <a:off x="3360420" y="3009900"/>
            <a:ext cx="2209800" cy="240487"/>
          </a:xfrm>
          <a:prstGeom prst="rect">
            <a:avLst/>
          </a:prstGeom>
          <a:noFill/>
        </p:spPr>
        <p:txBody>
          <a:bodyPr wrap="none" anchor="t" lIns="0" rIns="0" tIns="0" bIns="0">
            <a:noAutofit/>
          </a:bodyPr>
          <a:lstStyle/>
          <a:p>
            <a:pPr>
              <a:lnSpc>
                <a:spcPts val="1413"/>
              </a:lnSpc>
              <a:spcBef>
                <a:spcPts val="0"/>
              </a:spcBef>
              <a:spcAft>
                <a:spcPts val="0"/>
              </a:spcAft>
              <a:defRPr sz="1140" b="1">
                <a:solidFill>
                  <a:srgbClr val="526278"/>
                </a:solidFill>
                <a:latin typeface="Arial"/>
              </a:defRPr>
            </a:pPr>
            <a:r>
              <a:t>DEGRADADO</a:t>
            </a:r>
          </a:p>
        </p:txBody>
      </p:sp>
      <p:sp>
        <p:nvSpPr>
          <p:cNvPr id="13" name="TextBox 12"/>
          <p:cNvSpPr txBox="1"/>
          <p:nvPr/>
        </p:nvSpPr>
        <p:spPr>
          <a:xfrm>
            <a:off x="853440" y="3314700"/>
            <a:ext cx="1905000" cy="703478"/>
          </a:xfrm>
          <a:prstGeom prst="rect">
            <a:avLst/>
          </a:prstGeom>
          <a:noFill/>
        </p:spPr>
        <p:txBody>
          <a:bodyPr wrap="none" anchor="t" lIns="0" rIns="0" tIns="0" bIns="0">
            <a:noAutofit/>
          </a:bodyPr>
          <a:lstStyle/>
          <a:p>
            <a:pPr>
              <a:lnSpc>
                <a:spcPts val="5059"/>
              </a:lnSpc>
              <a:spcBef>
                <a:spcPts val="0"/>
              </a:spcBef>
              <a:spcAft>
                <a:spcPts val="0"/>
              </a:spcAft>
              <a:defRPr sz="4079" b="1">
                <a:solidFill>
                  <a:srgbClr val="315FA4"/>
                </a:solidFill>
                <a:latin typeface="Arial"/>
              </a:defRPr>
            </a:pPr>
            <a:r>
              <a:t>0,809</a:t>
            </a:r>
          </a:p>
        </p:txBody>
      </p:sp>
      <p:sp>
        <p:nvSpPr>
          <p:cNvPr id="14" name="TextBox 13"/>
          <p:cNvSpPr txBox="1"/>
          <p:nvPr/>
        </p:nvSpPr>
        <p:spPr>
          <a:xfrm>
            <a:off x="3360420" y="3314700"/>
            <a:ext cx="2133600" cy="703478"/>
          </a:xfrm>
          <a:prstGeom prst="rect">
            <a:avLst/>
          </a:prstGeom>
          <a:noFill/>
        </p:spPr>
        <p:txBody>
          <a:bodyPr wrap="none" anchor="t" lIns="0" rIns="0" tIns="0" bIns="0">
            <a:noAutofit/>
          </a:bodyPr>
          <a:lstStyle/>
          <a:p>
            <a:pPr>
              <a:lnSpc>
                <a:spcPts val="5059"/>
              </a:lnSpc>
              <a:spcBef>
                <a:spcPts val="0"/>
              </a:spcBef>
              <a:spcAft>
                <a:spcPts val="0"/>
              </a:spcAft>
              <a:defRPr sz="4079" b="1">
                <a:solidFill>
                  <a:srgbClr val="087F7B"/>
                </a:solidFill>
                <a:latin typeface="Arial"/>
              </a:defRPr>
            </a:pPr>
            <a:r>
              <a:t>0,726</a:t>
            </a:r>
          </a:p>
        </p:txBody>
      </p:sp>
      <p:cxnSp>
        <p:nvCxnSpPr>
          <p:cNvPr id="15" name="Connector 14"/>
          <p:cNvCxnSpPr/>
          <p:nvPr/>
        </p:nvCxnSpPr>
        <p:spPr>
          <a:xfrm>
            <a:off x="853440" y="4175760"/>
            <a:ext cx="4770120" cy="0"/>
          </a:xfrm>
          <a:prstGeom prst="line">
            <a:avLst/>
          </a:prstGeom>
          <a:ln w="15240">
            <a:solidFill>
              <a:srgbClr val="DDE4EC"/>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53440" y="4419600"/>
            <a:ext cx="2590800" cy="325526"/>
          </a:xfrm>
          <a:prstGeom prst="rect">
            <a:avLst/>
          </a:prstGeom>
          <a:noFill/>
        </p:spPr>
        <p:txBody>
          <a:bodyPr wrap="none" anchor="t" lIns="0" rIns="0" tIns="0" bIns="0">
            <a:noAutofit/>
          </a:bodyPr>
          <a:lstStyle/>
          <a:p>
            <a:pPr>
              <a:lnSpc>
                <a:spcPts val="2083"/>
              </a:lnSpc>
              <a:spcBef>
                <a:spcPts val="0"/>
              </a:spcBef>
              <a:spcAft>
                <a:spcPts val="0"/>
              </a:spcAft>
              <a:defRPr sz="1680" b="0">
                <a:solidFill>
                  <a:srgbClr val="526278"/>
                </a:solidFill>
                <a:latin typeface="Arial"/>
              </a:defRPr>
            </a:pPr>
            <a:r>
              <a:t>Queda absoluta</a:t>
            </a:r>
          </a:p>
        </p:txBody>
      </p:sp>
      <p:sp>
        <p:nvSpPr>
          <p:cNvPr id="17" name="TextBox 16"/>
          <p:cNvSpPr txBox="1"/>
          <p:nvPr/>
        </p:nvSpPr>
        <p:spPr>
          <a:xfrm>
            <a:off x="3398520" y="4373880"/>
            <a:ext cx="2209800" cy="401116"/>
          </a:xfrm>
          <a:prstGeom prst="rect">
            <a:avLst/>
          </a:prstGeom>
          <a:noFill/>
        </p:spPr>
        <p:txBody>
          <a:bodyPr wrap="none" anchor="t" lIns="0" rIns="0" tIns="0" bIns="0">
            <a:noAutofit/>
          </a:bodyPr>
          <a:lstStyle/>
          <a:p>
            <a:pPr>
              <a:lnSpc>
                <a:spcPts val="2678"/>
              </a:lnSpc>
              <a:spcBef>
                <a:spcPts val="0"/>
              </a:spcBef>
              <a:spcAft>
                <a:spcPts val="0"/>
              </a:spcAft>
              <a:defRPr sz="2160" b="1">
                <a:solidFill>
                  <a:srgbClr val="17283F"/>
                </a:solidFill>
                <a:latin typeface="Arial"/>
              </a:defRPr>
            </a:pPr>
            <a:r>
              <a:t>0,083 AUC</a:t>
            </a:r>
          </a:p>
        </p:txBody>
      </p:sp>
      <p:sp>
        <p:nvSpPr>
          <p:cNvPr id="18" name="Rounded Rectangle 17"/>
          <p:cNvSpPr/>
          <p:nvPr/>
        </p:nvSpPr>
        <p:spPr>
          <a:xfrm>
            <a:off x="6324600" y="2118360"/>
            <a:ext cx="5257800" cy="3223260"/>
          </a:xfrm>
          <a:prstGeom prst="roundRect">
            <a:avLst>
              <a:gd name="adj" fmla="val 52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68440" y="2392680"/>
            <a:ext cx="4770120" cy="391668"/>
          </a:xfrm>
          <a:prstGeom prst="rect">
            <a:avLst/>
          </a:prstGeom>
          <a:noFill/>
        </p:spPr>
        <p:txBody>
          <a:bodyPr wrap="none" anchor="t" lIns="0" rIns="0" tIns="0" bIns="0">
            <a:noAutofit/>
          </a:bodyPr>
          <a:lstStyle/>
          <a:p>
            <a:pPr>
              <a:lnSpc>
                <a:spcPts val="2604"/>
              </a:lnSpc>
              <a:spcBef>
                <a:spcPts val="0"/>
              </a:spcBef>
              <a:spcAft>
                <a:spcPts val="0"/>
              </a:spcAft>
              <a:defRPr sz="2100" b="1">
                <a:solidFill>
                  <a:srgbClr val="17283F"/>
                </a:solidFill>
                <a:latin typeface="Arial"/>
              </a:defRPr>
            </a:pPr>
            <a:r>
              <a:t>ViT do zero</a:t>
            </a:r>
          </a:p>
        </p:txBody>
      </p:sp>
      <p:sp>
        <p:nvSpPr>
          <p:cNvPr id="20" name="TextBox 19"/>
          <p:cNvSpPr txBox="1"/>
          <p:nvPr/>
        </p:nvSpPr>
        <p:spPr>
          <a:xfrm>
            <a:off x="6568440" y="3009900"/>
            <a:ext cx="1866899" cy="240487"/>
          </a:xfrm>
          <a:prstGeom prst="rect">
            <a:avLst/>
          </a:prstGeom>
          <a:noFill/>
        </p:spPr>
        <p:txBody>
          <a:bodyPr wrap="none" anchor="t" lIns="0" rIns="0" tIns="0" bIns="0">
            <a:noAutofit/>
          </a:bodyPr>
          <a:lstStyle/>
          <a:p>
            <a:pPr>
              <a:lnSpc>
                <a:spcPts val="1413"/>
              </a:lnSpc>
              <a:spcBef>
                <a:spcPts val="0"/>
              </a:spcBef>
              <a:spcAft>
                <a:spcPts val="0"/>
              </a:spcAft>
              <a:defRPr sz="1140" b="1">
                <a:solidFill>
                  <a:srgbClr val="526278"/>
                </a:solidFill>
                <a:latin typeface="Arial"/>
              </a:defRPr>
            </a:pPr>
            <a:r>
              <a:t>LIMPO</a:t>
            </a:r>
          </a:p>
        </p:txBody>
      </p:sp>
      <p:sp>
        <p:nvSpPr>
          <p:cNvPr id="21" name="TextBox 20"/>
          <p:cNvSpPr txBox="1"/>
          <p:nvPr/>
        </p:nvSpPr>
        <p:spPr>
          <a:xfrm>
            <a:off x="9075420" y="3009900"/>
            <a:ext cx="2209800" cy="240487"/>
          </a:xfrm>
          <a:prstGeom prst="rect">
            <a:avLst/>
          </a:prstGeom>
          <a:noFill/>
        </p:spPr>
        <p:txBody>
          <a:bodyPr wrap="none" anchor="t" lIns="0" rIns="0" tIns="0" bIns="0">
            <a:noAutofit/>
          </a:bodyPr>
          <a:lstStyle/>
          <a:p>
            <a:pPr>
              <a:lnSpc>
                <a:spcPts val="1413"/>
              </a:lnSpc>
              <a:spcBef>
                <a:spcPts val="0"/>
              </a:spcBef>
              <a:spcAft>
                <a:spcPts val="0"/>
              </a:spcAft>
              <a:defRPr sz="1140" b="1">
                <a:solidFill>
                  <a:srgbClr val="526278"/>
                </a:solidFill>
                <a:latin typeface="Arial"/>
              </a:defRPr>
            </a:pPr>
            <a:r>
              <a:t>DEGRADADO</a:t>
            </a:r>
          </a:p>
        </p:txBody>
      </p:sp>
      <p:sp>
        <p:nvSpPr>
          <p:cNvPr id="22" name="TextBox 21"/>
          <p:cNvSpPr txBox="1"/>
          <p:nvPr/>
        </p:nvSpPr>
        <p:spPr>
          <a:xfrm>
            <a:off x="6568440" y="3314700"/>
            <a:ext cx="1905000" cy="703478"/>
          </a:xfrm>
          <a:prstGeom prst="rect">
            <a:avLst/>
          </a:prstGeom>
          <a:noFill/>
        </p:spPr>
        <p:txBody>
          <a:bodyPr wrap="none" anchor="t" lIns="0" rIns="0" tIns="0" bIns="0">
            <a:noAutofit/>
          </a:bodyPr>
          <a:lstStyle/>
          <a:p>
            <a:pPr>
              <a:lnSpc>
                <a:spcPts val="5059"/>
              </a:lnSpc>
              <a:spcBef>
                <a:spcPts val="0"/>
              </a:spcBef>
              <a:spcAft>
                <a:spcPts val="0"/>
              </a:spcAft>
              <a:defRPr sz="4079" b="1">
                <a:solidFill>
                  <a:srgbClr val="315FA4"/>
                </a:solidFill>
                <a:latin typeface="Arial"/>
              </a:defRPr>
            </a:pPr>
            <a:r>
              <a:t>0,624</a:t>
            </a:r>
          </a:p>
        </p:txBody>
      </p:sp>
      <p:sp>
        <p:nvSpPr>
          <p:cNvPr id="23" name="TextBox 22"/>
          <p:cNvSpPr txBox="1"/>
          <p:nvPr/>
        </p:nvSpPr>
        <p:spPr>
          <a:xfrm>
            <a:off x="9075420" y="3314700"/>
            <a:ext cx="2133600" cy="703478"/>
          </a:xfrm>
          <a:prstGeom prst="rect">
            <a:avLst/>
          </a:prstGeom>
          <a:noFill/>
        </p:spPr>
        <p:txBody>
          <a:bodyPr wrap="none" anchor="t" lIns="0" rIns="0" tIns="0" bIns="0">
            <a:noAutofit/>
          </a:bodyPr>
          <a:lstStyle/>
          <a:p>
            <a:pPr>
              <a:lnSpc>
                <a:spcPts val="5059"/>
              </a:lnSpc>
              <a:spcBef>
                <a:spcPts val="0"/>
              </a:spcBef>
              <a:spcAft>
                <a:spcPts val="0"/>
              </a:spcAft>
              <a:defRPr sz="4079" b="1">
                <a:solidFill>
                  <a:srgbClr val="087F7B"/>
                </a:solidFill>
                <a:latin typeface="Arial"/>
              </a:defRPr>
            </a:pPr>
            <a:r>
              <a:t>0,608</a:t>
            </a:r>
          </a:p>
        </p:txBody>
      </p:sp>
      <p:cxnSp>
        <p:nvCxnSpPr>
          <p:cNvPr id="24" name="Connector 23"/>
          <p:cNvCxnSpPr/>
          <p:nvPr/>
        </p:nvCxnSpPr>
        <p:spPr>
          <a:xfrm>
            <a:off x="6568440" y="4175760"/>
            <a:ext cx="4770120" cy="0"/>
          </a:xfrm>
          <a:prstGeom prst="line">
            <a:avLst/>
          </a:prstGeom>
          <a:ln w="15240">
            <a:solidFill>
              <a:srgbClr val="DDE4EC"/>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568440" y="4419600"/>
            <a:ext cx="2590800" cy="325526"/>
          </a:xfrm>
          <a:prstGeom prst="rect">
            <a:avLst/>
          </a:prstGeom>
          <a:noFill/>
        </p:spPr>
        <p:txBody>
          <a:bodyPr wrap="none" anchor="t" lIns="0" rIns="0" tIns="0" bIns="0">
            <a:noAutofit/>
          </a:bodyPr>
          <a:lstStyle/>
          <a:p>
            <a:pPr>
              <a:lnSpc>
                <a:spcPts val="2083"/>
              </a:lnSpc>
              <a:spcBef>
                <a:spcPts val="0"/>
              </a:spcBef>
              <a:spcAft>
                <a:spcPts val="0"/>
              </a:spcAft>
              <a:defRPr sz="1680" b="0">
                <a:solidFill>
                  <a:srgbClr val="526278"/>
                </a:solidFill>
                <a:latin typeface="Arial"/>
              </a:defRPr>
            </a:pPr>
            <a:r>
              <a:t>Queda absoluta</a:t>
            </a:r>
          </a:p>
        </p:txBody>
      </p:sp>
      <p:sp>
        <p:nvSpPr>
          <p:cNvPr id="26" name="TextBox 25"/>
          <p:cNvSpPr txBox="1"/>
          <p:nvPr/>
        </p:nvSpPr>
        <p:spPr>
          <a:xfrm>
            <a:off x="9113520" y="4373880"/>
            <a:ext cx="2209800" cy="401116"/>
          </a:xfrm>
          <a:prstGeom prst="rect">
            <a:avLst/>
          </a:prstGeom>
          <a:noFill/>
        </p:spPr>
        <p:txBody>
          <a:bodyPr wrap="none" anchor="t" lIns="0" rIns="0" tIns="0" bIns="0">
            <a:noAutofit/>
          </a:bodyPr>
          <a:lstStyle/>
          <a:p>
            <a:pPr>
              <a:lnSpc>
                <a:spcPts val="2678"/>
              </a:lnSpc>
              <a:spcBef>
                <a:spcPts val="0"/>
              </a:spcBef>
              <a:spcAft>
                <a:spcPts val="0"/>
              </a:spcAft>
              <a:defRPr sz="2160" b="1">
                <a:solidFill>
                  <a:srgbClr val="17283F"/>
                </a:solidFill>
                <a:latin typeface="Arial"/>
              </a:defRPr>
            </a:pPr>
            <a:r>
              <a:t>0,016 AUC</a:t>
            </a:r>
          </a:p>
        </p:txBody>
      </p:sp>
      <p:sp>
        <p:nvSpPr>
          <p:cNvPr id="27" name="TextBox 26"/>
          <p:cNvSpPr txBox="1"/>
          <p:nvPr/>
        </p:nvSpPr>
        <p:spPr>
          <a:xfrm>
            <a:off x="647700" y="5638800"/>
            <a:ext cx="10896600" cy="344424"/>
          </a:xfrm>
          <a:prstGeom prst="rect">
            <a:avLst/>
          </a:prstGeom>
          <a:noFill/>
        </p:spPr>
        <p:txBody>
          <a:bodyPr wrap="none" anchor="t" lIns="0" rIns="0" tIns="0" bIns="0">
            <a:noAutofit/>
          </a:bodyPr>
          <a:lstStyle/>
          <a:p>
            <a:pPr>
              <a:lnSpc>
                <a:spcPts val="2232"/>
              </a:lnSpc>
              <a:spcBef>
                <a:spcPts val="0"/>
              </a:spcBef>
              <a:spcAft>
                <a:spcPts val="0"/>
              </a:spcAft>
              <a:defRPr sz="1800" b="1">
                <a:solidFill>
                  <a:srgbClr val="087F7B"/>
                </a:solidFill>
                <a:latin typeface="Arial"/>
              </a:defRPr>
            </a:pPr>
            <a:r>
              <a:t>Compare o nível de desempenho e a queda — não apenas a estabilidade.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487680"/>
            <a:ext cx="68580" cy="175260"/>
          </a:xfrm>
          <a:prstGeom prst="roundRect">
            <a:avLst>
              <a:gd name="adj" fmla="val 20000"/>
            </a:avLst>
          </a:prstGeom>
          <a:solidFill>
            <a:srgbClr val="087F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5340" y="449580"/>
            <a:ext cx="10439400" cy="231038"/>
          </a:xfrm>
          <a:prstGeom prst="rect">
            <a:avLst/>
          </a:prstGeom>
          <a:noFill/>
        </p:spPr>
        <p:txBody>
          <a:bodyPr wrap="none" anchor="t" lIns="0" rIns="0" tIns="0" bIns="0">
            <a:noAutofit/>
          </a:bodyPr>
          <a:lstStyle/>
          <a:p>
            <a:pPr>
              <a:lnSpc>
                <a:spcPts val="1339"/>
              </a:lnSpc>
              <a:spcBef>
                <a:spcPts val="0"/>
              </a:spcBef>
              <a:spcAft>
                <a:spcPts val="0"/>
              </a:spcAft>
              <a:defRPr sz="1080" b="1">
                <a:solidFill>
                  <a:srgbClr val="087F7B"/>
                </a:solidFill>
                <a:latin typeface="Arial"/>
              </a:defRPr>
            </a:pPr>
            <a:r>
              <a:t>RESULTADOS REPORTADOS</a:t>
            </a:r>
          </a:p>
        </p:txBody>
      </p:sp>
      <p:sp>
        <p:nvSpPr>
          <p:cNvPr id="5" name="TextBox 4"/>
          <p:cNvSpPr txBox="1"/>
          <p:nvPr/>
        </p:nvSpPr>
        <p:spPr>
          <a:xfrm>
            <a:off x="609600" y="876300"/>
            <a:ext cx="10972800" cy="571195"/>
          </a:xfrm>
          <a:prstGeom prst="rect">
            <a:avLst/>
          </a:prstGeom>
          <a:noFill/>
        </p:spPr>
        <p:txBody>
          <a:bodyPr wrap="none" anchor="t" lIns="0" rIns="0" tIns="0" bIns="0">
            <a:noAutofit/>
          </a:bodyPr>
          <a:lstStyle/>
          <a:p>
            <a:pPr>
              <a:lnSpc>
                <a:spcPts val="4017"/>
              </a:lnSpc>
              <a:spcBef>
                <a:spcPts val="0"/>
              </a:spcBef>
              <a:spcAft>
                <a:spcPts val="0"/>
              </a:spcAft>
              <a:defRPr sz="3240" b="1">
                <a:solidFill>
                  <a:srgbClr val="17283F"/>
                </a:solidFill>
                <a:latin typeface="Arial"/>
              </a:defRPr>
            </a:pPr>
            <a:r>
              <a:t>Frequência: complemento, não substituição</a:t>
            </a:r>
          </a:p>
        </p:txBody>
      </p:sp>
      <p:cxnSp>
        <p:nvCxnSpPr>
          <p:cNvPr id="6" name="Connector 5"/>
          <p:cNvCxnSpPr/>
          <p:nvPr/>
        </p:nvCxnSpPr>
        <p:spPr>
          <a:xfrm>
            <a:off x="609600" y="6179820"/>
            <a:ext cx="10972800" cy="0"/>
          </a:xfrm>
          <a:prstGeom prst="line">
            <a:avLst/>
          </a:prstGeom>
          <a:ln w="15240">
            <a:solidFill>
              <a:srgbClr val="DDE4E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347460"/>
            <a:ext cx="10058400" cy="221589"/>
          </a:xfrm>
          <a:prstGeom prst="rect">
            <a:avLst/>
          </a:prstGeom>
          <a:noFill/>
        </p:spPr>
        <p:txBody>
          <a:bodyPr wrap="none" anchor="t" lIns="0" rIns="0" tIns="0" bIns="0">
            <a:noAutofit/>
          </a:bodyPr>
          <a:lstStyle/>
          <a:p>
            <a:pPr>
              <a:lnSpc>
                <a:spcPts val="1264"/>
              </a:lnSpc>
              <a:spcBef>
                <a:spcPts val="0"/>
              </a:spcBef>
              <a:spcAft>
                <a:spcPts val="0"/>
              </a:spcAft>
              <a:defRPr sz="1019" b="0">
                <a:solidFill>
                  <a:srgbClr val="526278"/>
                </a:solidFill>
                <a:latin typeface="Arial"/>
              </a:defRPr>
            </a:pPr>
            <a:r>
              <a:t>FONTES: A · Estudo anterior; B · seção V-A.</a:t>
            </a:r>
          </a:p>
        </p:txBody>
      </p:sp>
      <p:sp>
        <p:nvSpPr>
          <p:cNvPr id="8" name="TextBox 7"/>
          <p:cNvSpPr txBox="1"/>
          <p:nvPr/>
        </p:nvSpPr>
        <p:spPr>
          <a:xfrm>
            <a:off x="11125200" y="6309360"/>
            <a:ext cx="457200" cy="278282"/>
          </a:xfrm>
          <a:prstGeom prst="rect">
            <a:avLst/>
          </a:prstGeom>
          <a:noFill/>
        </p:spPr>
        <p:txBody>
          <a:bodyPr wrap="none" anchor="t" lIns="0" rIns="0" tIns="0" bIns="0">
            <a:noAutofit/>
          </a:bodyPr>
          <a:lstStyle/>
          <a:p>
            <a:pPr>
              <a:lnSpc>
                <a:spcPts val="1711"/>
              </a:lnSpc>
              <a:spcBef>
                <a:spcPts val="0"/>
              </a:spcBef>
              <a:spcAft>
                <a:spcPts val="0"/>
              </a:spcAft>
              <a:defRPr sz="1380" b="1">
                <a:solidFill>
                  <a:srgbClr val="526278"/>
                </a:solidFill>
                <a:latin typeface="Arial"/>
              </a:defRPr>
            </a:pPr>
            <a:r>
              <a:t>05</a:t>
            </a:r>
          </a:p>
        </p:txBody>
      </p:sp>
      <p:sp>
        <p:nvSpPr>
          <p:cNvPr id="9" name="TextBox 8"/>
          <p:cNvSpPr txBox="1"/>
          <p:nvPr/>
        </p:nvSpPr>
        <p:spPr>
          <a:xfrm>
            <a:off x="609600" y="1584960"/>
            <a:ext cx="10591800" cy="334975"/>
          </a:xfrm>
          <a:prstGeom prst="rect">
            <a:avLst/>
          </a:prstGeom>
          <a:noFill/>
        </p:spPr>
        <p:txBody>
          <a:bodyPr wrap="none" anchor="t" lIns="0" rIns="0" tIns="0" bIns="0">
            <a:noAutofit/>
          </a:bodyPr>
          <a:lstStyle/>
          <a:p>
            <a:pPr>
              <a:lnSpc>
                <a:spcPts val="2157"/>
              </a:lnSpc>
              <a:spcBef>
                <a:spcPts val="0"/>
              </a:spcBef>
              <a:spcAft>
                <a:spcPts val="0"/>
              </a:spcAft>
              <a:defRPr sz="1739" b="0">
                <a:solidFill>
                  <a:srgbClr val="526278"/>
                </a:solidFill>
                <a:latin typeface="Arial"/>
              </a:defRPr>
            </a:pPr>
            <a:r>
              <a:t>Três contrastes reportados no teste degradado</a:t>
            </a:r>
          </a:p>
        </p:txBody>
      </p:sp>
      <p:sp>
        <p:nvSpPr>
          <p:cNvPr id="10" name="Oval 9"/>
          <p:cNvSpPr/>
          <p:nvPr/>
        </p:nvSpPr>
        <p:spPr>
          <a:xfrm>
            <a:off x="4785360" y="2057400"/>
            <a:ext cx="106680" cy="106680"/>
          </a:xfrm>
          <a:prstGeom prst="ellipse">
            <a:avLst/>
          </a:prstGeom>
          <a:solidFill>
            <a:srgbClr val="315F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0" y="1965960"/>
            <a:ext cx="1104900" cy="268833"/>
          </a:xfrm>
          <a:prstGeom prst="rect">
            <a:avLst/>
          </a:prstGeom>
          <a:noFill/>
        </p:spPr>
        <p:txBody>
          <a:bodyPr wrap="none" anchor="t" lIns="0" rIns="0" tIns="0" bIns="0">
            <a:noAutofit/>
          </a:bodyPr>
          <a:lstStyle/>
          <a:p>
            <a:pPr>
              <a:lnSpc>
                <a:spcPts val="1636"/>
              </a:lnSpc>
              <a:spcBef>
                <a:spcPts val="0"/>
              </a:spcBef>
              <a:spcAft>
                <a:spcPts val="0"/>
              </a:spcAft>
              <a:defRPr sz="1320" b="0">
                <a:solidFill>
                  <a:srgbClr val="315FA4"/>
                </a:solidFill>
                <a:latin typeface="Arial"/>
              </a:defRPr>
            </a:pPr>
            <a:r>
              <a:t>RGB</a:t>
            </a:r>
          </a:p>
        </p:txBody>
      </p:sp>
      <p:sp>
        <p:nvSpPr>
          <p:cNvPr id="12" name="Rectangle 11"/>
          <p:cNvSpPr/>
          <p:nvPr/>
        </p:nvSpPr>
        <p:spPr>
          <a:xfrm>
            <a:off x="6408420" y="2057400"/>
            <a:ext cx="106680" cy="106680"/>
          </a:xfrm>
          <a:prstGeom prst="rect">
            <a:avLst/>
          </a:prstGeom>
          <a:solidFill>
            <a:srgbClr val="087F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52260" y="1965960"/>
            <a:ext cx="2743200" cy="268833"/>
          </a:xfrm>
          <a:prstGeom prst="rect">
            <a:avLst/>
          </a:prstGeom>
          <a:noFill/>
        </p:spPr>
        <p:txBody>
          <a:bodyPr wrap="none" anchor="t" lIns="0" rIns="0" tIns="0" bIns="0">
            <a:noAutofit/>
          </a:bodyPr>
          <a:lstStyle/>
          <a:p>
            <a:pPr>
              <a:lnSpc>
                <a:spcPts val="1636"/>
              </a:lnSpc>
              <a:spcBef>
                <a:spcPts val="0"/>
              </a:spcBef>
              <a:spcAft>
                <a:spcPts val="0"/>
              </a:spcAft>
              <a:defRPr sz="1320" b="0">
                <a:solidFill>
                  <a:srgbClr val="087F7B"/>
                </a:solidFill>
                <a:latin typeface="Arial"/>
              </a:defRPr>
            </a:pPr>
            <a:r>
              <a:t>Híbrido reportado</a:t>
            </a:r>
          </a:p>
        </p:txBody>
      </p:sp>
      <p:sp>
        <p:nvSpPr>
          <p:cNvPr id="14" name="TextBox 13"/>
          <p:cNvSpPr txBox="1"/>
          <p:nvPr/>
        </p:nvSpPr>
        <p:spPr>
          <a:xfrm>
            <a:off x="10439400" y="1965960"/>
            <a:ext cx="1104900" cy="240487"/>
          </a:xfrm>
          <a:prstGeom prst="rect">
            <a:avLst/>
          </a:prstGeom>
          <a:noFill/>
        </p:spPr>
        <p:txBody>
          <a:bodyPr wrap="none" anchor="t" lIns="0" rIns="0" tIns="0" bIns="0">
            <a:noAutofit/>
          </a:bodyPr>
          <a:lstStyle/>
          <a:p>
            <a:pPr>
              <a:lnSpc>
                <a:spcPts val="1413"/>
              </a:lnSpc>
              <a:spcBef>
                <a:spcPts val="0"/>
              </a:spcBef>
              <a:spcAft>
                <a:spcPts val="0"/>
              </a:spcAft>
              <a:defRPr sz="1140" b="1">
                <a:solidFill>
                  <a:srgbClr val="526278"/>
                </a:solidFill>
                <a:latin typeface="Arial"/>
              </a:defRPr>
            </a:pPr>
            <a:r>
              <a:t>GANHO</a:t>
            </a:r>
          </a:p>
        </p:txBody>
      </p:sp>
      <p:cxnSp>
        <p:nvCxnSpPr>
          <p:cNvPr id="15" name="Connector 14"/>
          <p:cNvCxnSpPr/>
          <p:nvPr/>
        </p:nvCxnSpPr>
        <p:spPr>
          <a:xfrm>
            <a:off x="4762500" y="2400300"/>
            <a:ext cx="0" cy="2941320"/>
          </a:xfrm>
          <a:prstGeom prst="line">
            <a:avLst/>
          </a:prstGeom>
          <a:ln w="15240">
            <a:solidFill>
              <a:srgbClr val="DDE4EC"/>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572000" y="5471160"/>
            <a:ext cx="647700" cy="240487"/>
          </a:xfrm>
          <a:prstGeom prst="rect">
            <a:avLst/>
          </a:prstGeom>
          <a:noFill/>
        </p:spPr>
        <p:txBody>
          <a:bodyPr wrap="none" anchor="t" lIns="0" rIns="0" tIns="0" bIns="0">
            <a:noAutofit/>
          </a:bodyPr>
          <a:lstStyle/>
          <a:p>
            <a:pPr>
              <a:lnSpc>
                <a:spcPts val="1413"/>
              </a:lnSpc>
              <a:spcBef>
                <a:spcPts val="0"/>
              </a:spcBef>
              <a:spcAft>
                <a:spcPts val="0"/>
              </a:spcAft>
              <a:defRPr sz="1140" b="0">
                <a:solidFill>
                  <a:srgbClr val="526278"/>
                </a:solidFill>
                <a:latin typeface="Arial"/>
              </a:defRPr>
            </a:pPr>
            <a:r>
              <a:t>0,50</a:t>
            </a:r>
          </a:p>
        </p:txBody>
      </p:sp>
      <p:cxnSp>
        <p:nvCxnSpPr>
          <p:cNvPr id="17" name="Connector 16"/>
          <p:cNvCxnSpPr/>
          <p:nvPr/>
        </p:nvCxnSpPr>
        <p:spPr>
          <a:xfrm>
            <a:off x="5783580" y="2400300"/>
            <a:ext cx="0" cy="2941320"/>
          </a:xfrm>
          <a:prstGeom prst="line">
            <a:avLst/>
          </a:prstGeom>
          <a:ln w="15240">
            <a:solidFill>
              <a:srgbClr val="DDE4EC"/>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593080" y="5471160"/>
            <a:ext cx="647700" cy="240487"/>
          </a:xfrm>
          <a:prstGeom prst="rect">
            <a:avLst/>
          </a:prstGeom>
          <a:noFill/>
        </p:spPr>
        <p:txBody>
          <a:bodyPr wrap="none" anchor="t" lIns="0" rIns="0" tIns="0" bIns="0">
            <a:noAutofit/>
          </a:bodyPr>
          <a:lstStyle/>
          <a:p>
            <a:pPr>
              <a:lnSpc>
                <a:spcPts val="1413"/>
              </a:lnSpc>
              <a:spcBef>
                <a:spcPts val="0"/>
              </a:spcBef>
              <a:spcAft>
                <a:spcPts val="0"/>
              </a:spcAft>
              <a:defRPr sz="1140" b="0">
                <a:solidFill>
                  <a:srgbClr val="526278"/>
                </a:solidFill>
                <a:latin typeface="Arial"/>
              </a:defRPr>
            </a:pPr>
            <a:r>
              <a:t>0,55</a:t>
            </a:r>
          </a:p>
        </p:txBody>
      </p:sp>
      <p:cxnSp>
        <p:nvCxnSpPr>
          <p:cNvPr id="19" name="Connector 18"/>
          <p:cNvCxnSpPr/>
          <p:nvPr/>
        </p:nvCxnSpPr>
        <p:spPr>
          <a:xfrm>
            <a:off x="6804660" y="2400300"/>
            <a:ext cx="0" cy="2941320"/>
          </a:xfrm>
          <a:prstGeom prst="line">
            <a:avLst/>
          </a:prstGeom>
          <a:ln w="15240">
            <a:solidFill>
              <a:srgbClr val="DDE4EC"/>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614160" y="5471160"/>
            <a:ext cx="647700" cy="240487"/>
          </a:xfrm>
          <a:prstGeom prst="rect">
            <a:avLst/>
          </a:prstGeom>
          <a:noFill/>
        </p:spPr>
        <p:txBody>
          <a:bodyPr wrap="none" anchor="t" lIns="0" rIns="0" tIns="0" bIns="0">
            <a:noAutofit/>
          </a:bodyPr>
          <a:lstStyle/>
          <a:p>
            <a:pPr>
              <a:lnSpc>
                <a:spcPts val="1413"/>
              </a:lnSpc>
              <a:spcBef>
                <a:spcPts val="0"/>
              </a:spcBef>
              <a:spcAft>
                <a:spcPts val="0"/>
              </a:spcAft>
              <a:defRPr sz="1140" b="0">
                <a:solidFill>
                  <a:srgbClr val="526278"/>
                </a:solidFill>
                <a:latin typeface="Arial"/>
              </a:defRPr>
            </a:pPr>
            <a:r>
              <a:t>0,60</a:t>
            </a:r>
          </a:p>
        </p:txBody>
      </p:sp>
      <p:cxnSp>
        <p:nvCxnSpPr>
          <p:cNvPr id="21" name="Connector 20"/>
          <p:cNvCxnSpPr/>
          <p:nvPr/>
        </p:nvCxnSpPr>
        <p:spPr>
          <a:xfrm>
            <a:off x="7825740" y="2400300"/>
            <a:ext cx="0" cy="2941320"/>
          </a:xfrm>
          <a:prstGeom prst="line">
            <a:avLst/>
          </a:prstGeom>
          <a:ln w="15240">
            <a:solidFill>
              <a:srgbClr val="DDE4EC"/>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635240" y="5471160"/>
            <a:ext cx="647700" cy="240487"/>
          </a:xfrm>
          <a:prstGeom prst="rect">
            <a:avLst/>
          </a:prstGeom>
          <a:noFill/>
        </p:spPr>
        <p:txBody>
          <a:bodyPr wrap="none" anchor="t" lIns="0" rIns="0" tIns="0" bIns="0">
            <a:noAutofit/>
          </a:bodyPr>
          <a:lstStyle/>
          <a:p>
            <a:pPr>
              <a:lnSpc>
                <a:spcPts val="1413"/>
              </a:lnSpc>
              <a:spcBef>
                <a:spcPts val="0"/>
              </a:spcBef>
              <a:spcAft>
                <a:spcPts val="0"/>
              </a:spcAft>
              <a:defRPr sz="1140" b="0">
                <a:solidFill>
                  <a:srgbClr val="526278"/>
                </a:solidFill>
                <a:latin typeface="Arial"/>
              </a:defRPr>
            </a:pPr>
            <a:r>
              <a:t>0,65</a:t>
            </a:r>
          </a:p>
        </p:txBody>
      </p:sp>
      <p:cxnSp>
        <p:nvCxnSpPr>
          <p:cNvPr id="23" name="Connector 22"/>
          <p:cNvCxnSpPr/>
          <p:nvPr/>
        </p:nvCxnSpPr>
        <p:spPr>
          <a:xfrm>
            <a:off x="8846820" y="2400300"/>
            <a:ext cx="0" cy="2941320"/>
          </a:xfrm>
          <a:prstGeom prst="line">
            <a:avLst/>
          </a:prstGeom>
          <a:ln w="15240">
            <a:solidFill>
              <a:srgbClr val="DDE4EC"/>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656320" y="5471160"/>
            <a:ext cx="647700" cy="240487"/>
          </a:xfrm>
          <a:prstGeom prst="rect">
            <a:avLst/>
          </a:prstGeom>
          <a:noFill/>
        </p:spPr>
        <p:txBody>
          <a:bodyPr wrap="none" anchor="t" lIns="0" rIns="0" tIns="0" bIns="0">
            <a:noAutofit/>
          </a:bodyPr>
          <a:lstStyle/>
          <a:p>
            <a:pPr>
              <a:lnSpc>
                <a:spcPts val="1413"/>
              </a:lnSpc>
              <a:spcBef>
                <a:spcPts val="0"/>
              </a:spcBef>
              <a:spcAft>
                <a:spcPts val="0"/>
              </a:spcAft>
              <a:defRPr sz="1140" b="0">
                <a:solidFill>
                  <a:srgbClr val="526278"/>
                </a:solidFill>
                <a:latin typeface="Arial"/>
              </a:defRPr>
            </a:pPr>
            <a:r>
              <a:t>0,70</a:t>
            </a:r>
          </a:p>
        </p:txBody>
      </p:sp>
      <p:cxnSp>
        <p:nvCxnSpPr>
          <p:cNvPr id="25" name="Connector 24"/>
          <p:cNvCxnSpPr/>
          <p:nvPr/>
        </p:nvCxnSpPr>
        <p:spPr>
          <a:xfrm>
            <a:off x="9867900" y="2400300"/>
            <a:ext cx="0" cy="2941320"/>
          </a:xfrm>
          <a:prstGeom prst="line">
            <a:avLst/>
          </a:prstGeom>
          <a:ln w="15240">
            <a:solidFill>
              <a:srgbClr val="DDE4EC"/>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9677400" y="5471160"/>
            <a:ext cx="647700" cy="240487"/>
          </a:xfrm>
          <a:prstGeom prst="rect">
            <a:avLst/>
          </a:prstGeom>
          <a:noFill/>
        </p:spPr>
        <p:txBody>
          <a:bodyPr wrap="none" anchor="t" lIns="0" rIns="0" tIns="0" bIns="0">
            <a:noAutofit/>
          </a:bodyPr>
          <a:lstStyle/>
          <a:p>
            <a:pPr>
              <a:lnSpc>
                <a:spcPts val="1413"/>
              </a:lnSpc>
              <a:spcBef>
                <a:spcPts val="0"/>
              </a:spcBef>
              <a:spcAft>
                <a:spcPts val="0"/>
              </a:spcAft>
              <a:defRPr sz="1140" b="0">
                <a:solidFill>
                  <a:srgbClr val="526278"/>
                </a:solidFill>
                <a:latin typeface="Arial"/>
              </a:defRPr>
            </a:pPr>
            <a:r>
              <a:t>0,75</a:t>
            </a:r>
          </a:p>
        </p:txBody>
      </p:sp>
      <p:sp>
        <p:nvSpPr>
          <p:cNvPr id="27" name="TextBox 26"/>
          <p:cNvSpPr txBox="1"/>
          <p:nvPr/>
        </p:nvSpPr>
        <p:spPr>
          <a:xfrm>
            <a:off x="609600" y="2407920"/>
            <a:ext cx="3566160" cy="363321"/>
          </a:xfrm>
          <a:prstGeom prst="rect">
            <a:avLst/>
          </a:prstGeom>
          <a:noFill/>
        </p:spPr>
        <p:txBody>
          <a:bodyPr wrap="none" anchor="t" lIns="0" rIns="0" tIns="0" bIns="0">
            <a:noAutofit/>
          </a:bodyPr>
          <a:lstStyle/>
          <a:p>
            <a:pPr>
              <a:lnSpc>
                <a:spcPts val="2380"/>
              </a:lnSpc>
              <a:spcBef>
                <a:spcPts val="0"/>
              </a:spcBef>
              <a:spcAft>
                <a:spcPts val="0"/>
              </a:spcAft>
              <a:defRPr sz="1920" b="1">
                <a:solidFill>
                  <a:srgbClr val="17283F"/>
                </a:solidFill>
                <a:latin typeface="Arial"/>
              </a:defRPr>
            </a:pPr>
            <a:r>
              <a:t>Xception</a:t>
            </a:r>
          </a:p>
        </p:txBody>
      </p:sp>
      <p:sp>
        <p:nvSpPr>
          <p:cNvPr id="28" name="TextBox 27"/>
          <p:cNvSpPr txBox="1"/>
          <p:nvPr/>
        </p:nvSpPr>
        <p:spPr>
          <a:xfrm>
            <a:off x="609600" y="2773680"/>
            <a:ext cx="3581400" cy="278282"/>
          </a:xfrm>
          <a:prstGeom prst="rect">
            <a:avLst/>
          </a:prstGeom>
          <a:noFill/>
        </p:spPr>
        <p:txBody>
          <a:bodyPr wrap="none" anchor="t" lIns="0" rIns="0" tIns="0" bIns="0">
            <a:noAutofit/>
          </a:bodyPr>
          <a:lstStyle/>
          <a:p>
            <a:pPr>
              <a:lnSpc>
                <a:spcPts val="1711"/>
              </a:lnSpc>
              <a:spcBef>
                <a:spcPts val="0"/>
              </a:spcBef>
              <a:spcAft>
                <a:spcPts val="0"/>
              </a:spcAft>
              <a:defRPr sz="1380" b="0">
                <a:solidFill>
                  <a:srgbClr val="526278"/>
                </a:solidFill>
                <a:latin typeface="Arial"/>
              </a:defRPr>
            </a:pPr>
            <a:r>
              <a:t>RGB + magnitude</a:t>
            </a:r>
          </a:p>
        </p:txBody>
      </p:sp>
      <p:cxnSp>
        <p:nvCxnSpPr>
          <p:cNvPr id="29" name="Connector 28"/>
          <p:cNvCxnSpPr/>
          <p:nvPr/>
        </p:nvCxnSpPr>
        <p:spPr>
          <a:xfrm>
            <a:off x="6988454" y="2674620"/>
            <a:ext cx="837286" cy="0"/>
          </a:xfrm>
          <a:prstGeom prst="line">
            <a:avLst/>
          </a:prstGeom>
          <a:ln w="30480">
            <a:solidFill>
              <a:srgbClr val="B7C4D3"/>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6923684" y="2609850"/>
            <a:ext cx="129540" cy="129540"/>
          </a:xfrm>
          <a:prstGeom prst="ellipse">
            <a:avLst/>
          </a:prstGeom>
          <a:solidFill>
            <a:srgbClr val="315F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760970" y="2609850"/>
            <a:ext cx="129540" cy="129540"/>
          </a:xfrm>
          <a:prstGeom prst="rect">
            <a:avLst/>
          </a:prstGeom>
          <a:solidFill>
            <a:srgbClr val="087F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75094" y="2781300"/>
            <a:ext cx="762000" cy="268833"/>
          </a:xfrm>
          <a:prstGeom prst="rect">
            <a:avLst/>
          </a:prstGeom>
          <a:noFill/>
        </p:spPr>
        <p:txBody>
          <a:bodyPr wrap="none" anchor="t" lIns="0" rIns="0" tIns="0" bIns="0">
            <a:noAutofit/>
          </a:bodyPr>
          <a:lstStyle/>
          <a:p>
            <a:pPr>
              <a:lnSpc>
                <a:spcPts val="1636"/>
              </a:lnSpc>
              <a:spcBef>
                <a:spcPts val="0"/>
              </a:spcBef>
              <a:spcAft>
                <a:spcPts val="0"/>
              </a:spcAft>
              <a:defRPr sz="1320" b="0">
                <a:solidFill>
                  <a:srgbClr val="315FA4"/>
                </a:solidFill>
                <a:latin typeface="Arial"/>
              </a:defRPr>
            </a:pPr>
            <a:r>
              <a:t>0,609</a:t>
            </a:r>
          </a:p>
        </p:txBody>
      </p:sp>
      <p:sp>
        <p:nvSpPr>
          <p:cNvPr id="33" name="TextBox 32"/>
          <p:cNvSpPr txBox="1"/>
          <p:nvPr/>
        </p:nvSpPr>
        <p:spPr>
          <a:xfrm>
            <a:off x="7612379" y="2385060"/>
            <a:ext cx="762000" cy="268833"/>
          </a:xfrm>
          <a:prstGeom prst="rect">
            <a:avLst/>
          </a:prstGeom>
          <a:noFill/>
        </p:spPr>
        <p:txBody>
          <a:bodyPr wrap="none" anchor="t" lIns="0" rIns="0" tIns="0" bIns="0">
            <a:noAutofit/>
          </a:bodyPr>
          <a:lstStyle/>
          <a:p>
            <a:pPr>
              <a:lnSpc>
                <a:spcPts val="1636"/>
              </a:lnSpc>
              <a:spcBef>
                <a:spcPts val="0"/>
              </a:spcBef>
              <a:spcAft>
                <a:spcPts val="0"/>
              </a:spcAft>
              <a:defRPr sz="1320" b="0">
                <a:solidFill>
                  <a:srgbClr val="087F7B"/>
                </a:solidFill>
                <a:latin typeface="Arial"/>
              </a:defRPr>
            </a:pPr>
            <a:r>
              <a:t>0,650</a:t>
            </a:r>
          </a:p>
        </p:txBody>
      </p:sp>
      <p:sp>
        <p:nvSpPr>
          <p:cNvPr id="34" name="TextBox 33"/>
          <p:cNvSpPr txBox="1"/>
          <p:nvPr/>
        </p:nvSpPr>
        <p:spPr>
          <a:xfrm>
            <a:off x="10393680" y="2522220"/>
            <a:ext cx="1173480" cy="410565"/>
          </a:xfrm>
          <a:prstGeom prst="rect">
            <a:avLst/>
          </a:prstGeom>
          <a:noFill/>
        </p:spPr>
        <p:txBody>
          <a:bodyPr wrap="none" anchor="t" lIns="0" rIns="0" tIns="0" bIns="0">
            <a:noAutofit/>
          </a:bodyPr>
          <a:lstStyle/>
          <a:p>
            <a:pPr>
              <a:lnSpc>
                <a:spcPts val="2752"/>
              </a:lnSpc>
              <a:spcBef>
                <a:spcPts val="0"/>
              </a:spcBef>
              <a:spcAft>
                <a:spcPts val="0"/>
              </a:spcAft>
              <a:defRPr sz="2220" b="1">
                <a:solidFill>
                  <a:srgbClr val="087F7B"/>
                </a:solidFill>
                <a:latin typeface="Arial"/>
              </a:defRPr>
            </a:pPr>
            <a:r>
              <a:t>+0,041</a:t>
            </a:r>
          </a:p>
        </p:txBody>
      </p:sp>
      <p:sp>
        <p:nvSpPr>
          <p:cNvPr id="35" name="TextBox 34"/>
          <p:cNvSpPr txBox="1"/>
          <p:nvPr/>
        </p:nvSpPr>
        <p:spPr>
          <a:xfrm>
            <a:off x="609600" y="3474720"/>
            <a:ext cx="3566160" cy="363321"/>
          </a:xfrm>
          <a:prstGeom prst="rect">
            <a:avLst/>
          </a:prstGeom>
          <a:noFill/>
        </p:spPr>
        <p:txBody>
          <a:bodyPr wrap="none" anchor="t" lIns="0" rIns="0" tIns="0" bIns="0">
            <a:noAutofit/>
          </a:bodyPr>
          <a:lstStyle/>
          <a:p>
            <a:pPr>
              <a:lnSpc>
                <a:spcPts val="2380"/>
              </a:lnSpc>
              <a:spcBef>
                <a:spcPts val="0"/>
              </a:spcBef>
              <a:spcAft>
                <a:spcPts val="0"/>
              </a:spcAft>
              <a:defRPr sz="1920" b="1">
                <a:solidFill>
                  <a:srgbClr val="17283F"/>
                </a:solidFill>
                <a:latin typeface="Arial"/>
              </a:defRPr>
            </a:pPr>
            <a:r>
              <a:t>ResNet-18</a:t>
            </a:r>
          </a:p>
        </p:txBody>
      </p:sp>
      <p:sp>
        <p:nvSpPr>
          <p:cNvPr id="36" name="TextBox 35"/>
          <p:cNvSpPr txBox="1"/>
          <p:nvPr/>
        </p:nvSpPr>
        <p:spPr>
          <a:xfrm>
            <a:off x="609600" y="3840480"/>
            <a:ext cx="3581400" cy="278282"/>
          </a:xfrm>
          <a:prstGeom prst="rect">
            <a:avLst/>
          </a:prstGeom>
          <a:noFill/>
        </p:spPr>
        <p:txBody>
          <a:bodyPr wrap="none" anchor="t" lIns="0" rIns="0" tIns="0" bIns="0">
            <a:noAutofit/>
          </a:bodyPr>
          <a:lstStyle/>
          <a:p>
            <a:pPr>
              <a:lnSpc>
                <a:spcPts val="1711"/>
              </a:lnSpc>
              <a:spcBef>
                <a:spcPts val="0"/>
              </a:spcBef>
              <a:spcAft>
                <a:spcPts val="0"/>
              </a:spcAft>
              <a:defRPr sz="1380" b="0">
                <a:solidFill>
                  <a:srgbClr val="526278"/>
                </a:solidFill>
                <a:latin typeface="Arial"/>
              </a:defRPr>
            </a:pPr>
            <a:r>
              <a:t>RGB + pilha de frequência</a:t>
            </a:r>
          </a:p>
        </p:txBody>
      </p:sp>
      <p:cxnSp>
        <p:nvCxnSpPr>
          <p:cNvPr id="37" name="Connector 36"/>
          <p:cNvCxnSpPr/>
          <p:nvPr/>
        </p:nvCxnSpPr>
        <p:spPr>
          <a:xfrm>
            <a:off x="7519415" y="3741420"/>
            <a:ext cx="265481" cy="0"/>
          </a:xfrm>
          <a:prstGeom prst="line">
            <a:avLst/>
          </a:prstGeom>
          <a:ln w="30480">
            <a:solidFill>
              <a:srgbClr val="B7C4D3"/>
            </a:solidFill>
          </a:ln>
        </p:spPr>
        <p:style>
          <a:lnRef idx="2">
            <a:schemeClr val="accent1"/>
          </a:lnRef>
          <a:fillRef idx="0">
            <a:schemeClr val="accent1"/>
          </a:fillRef>
          <a:effectRef idx="1">
            <a:schemeClr val="accent1"/>
          </a:effectRef>
          <a:fontRef idx="minor">
            <a:schemeClr val="tx1"/>
          </a:fontRef>
        </p:style>
      </p:cxnSp>
      <p:sp>
        <p:nvSpPr>
          <p:cNvPr id="38" name="Oval 37"/>
          <p:cNvSpPr/>
          <p:nvPr/>
        </p:nvSpPr>
        <p:spPr>
          <a:xfrm>
            <a:off x="7454646" y="3676649"/>
            <a:ext cx="129540" cy="129540"/>
          </a:xfrm>
          <a:prstGeom prst="ellipse">
            <a:avLst/>
          </a:prstGeom>
          <a:solidFill>
            <a:srgbClr val="315F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720126" y="3676649"/>
            <a:ext cx="129540" cy="129540"/>
          </a:xfrm>
          <a:prstGeom prst="rect">
            <a:avLst/>
          </a:prstGeom>
          <a:solidFill>
            <a:srgbClr val="087F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06055" y="3848099"/>
            <a:ext cx="762000" cy="268833"/>
          </a:xfrm>
          <a:prstGeom prst="rect">
            <a:avLst/>
          </a:prstGeom>
          <a:noFill/>
        </p:spPr>
        <p:txBody>
          <a:bodyPr wrap="none" anchor="t" lIns="0" rIns="0" tIns="0" bIns="0">
            <a:noAutofit/>
          </a:bodyPr>
          <a:lstStyle/>
          <a:p>
            <a:pPr>
              <a:lnSpc>
                <a:spcPts val="1636"/>
              </a:lnSpc>
              <a:spcBef>
                <a:spcPts val="0"/>
              </a:spcBef>
              <a:spcAft>
                <a:spcPts val="0"/>
              </a:spcAft>
              <a:defRPr sz="1320" b="0">
                <a:solidFill>
                  <a:srgbClr val="315FA4"/>
                </a:solidFill>
                <a:latin typeface="Arial"/>
              </a:defRPr>
            </a:pPr>
            <a:r>
              <a:t>0,635</a:t>
            </a:r>
          </a:p>
        </p:txBody>
      </p:sp>
      <p:sp>
        <p:nvSpPr>
          <p:cNvPr id="41" name="TextBox 40"/>
          <p:cNvSpPr txBox="1"/>
          <p:nvPr/>
        </p:nvSpPr>
        <p:spPr>
          <a:xfrm>
            <a:off x="7571536" y="3451860"/>
            <a:ext cx="762000" cy="268833"/>
          </a:xfrm>
          <a:prstGeom prst="rect">
            <a:avLst/>
          </a:prstGeom>
          <a:noFill/>
        </p:spPr>
        <p:txBody>
          <a:bodyPr wrap="none" anchor="t" lIns="0" rIns="0" tIns="0" bIns="0">
            <a:noAutofit/>
          </a:bodyPr>
          <a:lstStyle/>
          <a:p>
            <a:pPr>
              <a:lnSpc>
                <a:spcPts val="1636"/>
              </a:lnSpc>
              <a:spcBef>
                <a:spcPts val="0"/>
              </a:spcBef>
              <a:spcAft>
                <a:spcPts val="0"/>
              </a:spcAft>
              <a:defRPr sz="1320" b="0">
                <a:solidFill>
                  <a:srgbClr val="087F7B"/>
                </a:solidFill>
                <a:latin typeface="Arial"/>
              </a:defRPr>
            </a:pPr>
            <a:r>
              <a:t>0,648</a:t>
            </a:r>
          </a:p>
        </p:txBody>
      </p:sp>
      <p:sp>
        <p:nvSpPr>
          <p:cNvPr id="42" name="TextBox 41"/>
          <p:cNvSpPr txBox="1"/>
          <p:nvPr/>
        </p:nvSpPr>
        <p:spPr>
          <a:xfrm>
            <a:off x="10393680" y="3589020"/>
            <a:ext cx="1173480" cy="410565"/>
          </a:xfrm>
          <a:prstGeom prst="rect">
            <a:avLst/>
          </a:prstGeom>
          <a:noFill/>
        </p:spPr>
        <p:txBody>
          <a:bodyPr wrap="none" anchor="t" lIns="0" rIns="0" tIns="0" bIns="0">
            <a:noAutofit/>
          </a:bodyPr>
          <a:lstStyle/>
          <a:p>
            <a:pPr>
              <a:lnSpc>
                <a:spcPts val="2752"/>
              </a:lnSpc>
              <a:spcBef>
                <a:spcPts val="0"/>
              </a:spcBef>
              <a:spcAft>
                <a:spcPts val="0"/>
              </a:spcAft>
              <a:defRPr sz="2220" b="1">
                <a:solidFill>
                  <a:srgbClr val="087F7B"/>
                </a:solidFill>
                <a:latin typeface="Arial"/>
              </a:defRPr>
            </a:pPr>
            <a:r>
              <a:t>+0,013</a:t>
            </a:r>
          </a:p>
        </p:txBody>
      </p:sp>
      <p:sp>
        <p:nvSpPr>
          <p:cNvPr id="43" name="TextBox 42"/>
          <p:cNvSpPr txBox="1"/>
          <p:nvPr/>
        </p:nvSpPr>
        <p:spPr>
          <a:xfrm>
            <a:off x="609600" y="4541520"/>
            <a:ext cx="3566160" cy="363321"/>
          </a:xfrm>
          <a:prstGeom prst="rect">
            <a:avLst/>
          </a:prstGeom>
          <a:noFill/>
        </p:spPr>
        <p:txBody>
          <a:bodyPr wrap="none" anchor="t" lIns="0" rIns="0" tIns="0" bIns="0">
            <a:noAutofit/>
          </a:bodyPr>
          <a:lstStyle/>
          <a:p>
            <a:pPr>
              <a:lnSpc>
                <a:spcPts val="2380"/>
              </a:lnSpc>
              <a:spcBef>
                <a:spcPts val="0"/>
              </a:spcBef>
              <a:spcAft>
                <a:spcPts val="0"/>
              </a:spcAft>
              <a:defRPr sz="1920" b="1">
                <a:solidFill>
                  <a:srgbClr val="17283F"/>
                </a:solidFill>
                <a:latin typeface="Arial"/>
              </a:defRPr>
            </a:pPr>
            <a:r>
              <a:t>MobileNetV3</a:t>
            </a:r>
          </a:p>
        </p:txBody>
      </p:sp>
      <p:sp>
        <p:nvSpPr>
          <p:cNvPr id="44" name="TextBox 43"/>
          <p:cNvSpPr txBox="1"/>
          <p:nvPr/>
        </p:nvSpPr>
        <p:spPr>
          <a:xfrm>
            <a:off x="609600" y="4907280"/>
            <a:ext cx="3581400" cy="278282"/>
          </a:xfrm>
          <a:prstGeom prst="rect">
            <a:avLst/>
          </a:prstGeom>
          <a:noFill/>
        </p:spPr>
        <p:txBody>
          <a:bodyPr wrap="none" anchor="t" lIns="0" rIns="0" tIns="0" bIns="0">
            <a:noAutofit/>
          </a:bodyPr>
          <a:lstStyle/>
          <a:p>
            <a:pPr>
              <a:lnSpc>
                <a:spcPts val="1711"/>
              </a:lnSpc>
              <a:spcBef>
                <a:spcPts val="0"/>
              </a:spcBef>
              <a:spcAft>
                <a:spcPts val="0"/>
              </a:spcAft>
              <a:defRPr sz="1380" b="0">
                <a:solidFill>
                  <a:srgbClr val="526278"/>
                </a:solidFill>
                <a:latin typeface="Arial"/>
              </a:defRPr>
            </a:pPr>
            <a:r>
              <a:t>RGB + magnitude</a:t>
            </a:r>
          </a:p>
        </p:txBody>
      </p:sp>
      <p:cxnSp>
        <p:nvCxnSpPr>
          <p:cNvPr id="45" name="Connector 44"/>
          <p:cNvCxnSpPr/>
          <p:nvPr/>
        </p:nvCxnSpPr>
        <p:spPr>
          <a:xfrm>
            <a:off x="6682130" y="4808220"/>
            <a:ext cx="367589" cy="0"/>
          </a:xfrm>
          <a:prstGeom prst="line">
            <a:avLst/>
          </a:prstGeom>
          <a:ln w="30480">
            <a:solidFill>
              <a:srgbClr val="B7C4D3"/>
            </a:solidFill>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6617360" y="4743450"/>
            <a:ext cx="129540" cy="129540"/>
          </a:xfrm>
          <a:prstGeom prst="ellipse">
            <a:avLst/>
          </a:prstGeom>
          <a:solidFill>
            <a:srgbClr val="315FA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984949" y="4743450"/>
            <a:ext cx="129540" cy="129540"/>
          </a:xfrm>
          <a:prstGeom prst="rect">
            <a:avLst/>
          </a:prstGeom>
          <a:solidFill>
            <a:srgbClr val="087F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68770" y="4914900"/>
            <a:ext cx="762000" cy="268833"/>
          </a:xfrm>
          <a:prstGeom prst="rect">
            <a:avLst/>
          </a:prstGeom>
          <a:noFill/>
        </p:spPr>
        <p:txBody>
          <a:bodyPr wrap="none" anchor="t" lIns="0" rIns="0" tIns="0" bIns="0">
            <a:noAutofit/>
          </a:bodyPr>
          <a:lstStyle/>
          <a:p>
            <a:pPr>
              <a:lnSpc>
                <a:spcPts val="1636"/>
              </a:lnSpc>
              <a:spcBef>
                <a:spcPts val="0"/>
              </a:spcBef>
              <a:spcAft>
                <a:spcPts val="0"/>
              </a:spcAft>
              <a:defRPr sz="1320" b="0">
                <a:solidFill>
                  <a:srgbClr val="315FA4"/>
                </a:solidFill>
                <a:latin typeface="Arial"/>
              </a:defRPr>
            </a:pPr>
            <a:r>
              <a:t>0,594</a:t>
            </a:r>
          </a:p>
        </p:txBody>
      </p:sp>
      <p:sp>
        <p:nvSpPr>
          <p:cNvPr id="49" name="TextBox 48"/>
          <p:cNvSpPr txBox="1"/>
          <p:nvPr/>
        </p:nvSpPr>
        <p:spPr>
          <a:xfrm>
            <a:off x="6836359" y="4518660"/>
            <a:ext cx="762000" cy="268833"/>
          </a:xfrm>
          <a:prstGeom prst="rect">
            <a:avLst/>
          </a:prstGeom>
          <a:noFill/>
        </p:spPr>
        <p:txBody>
          <a:bodyPr wrap="none" anchor="t" lIns="0" rIns="0" tIns="0" bIns="0">
            <a:noAutofit/>
          </a:bodyPr>
          <a:lstStyle/>
          <a:p>
            <a:pPr>
              <a:lnSpc>
                <a:spcPts val="1636"/>
              </a:lnSpc>
              <a:spcBef>
                <a:spcPts val="0"/>
              </a:spcBef>
              <a:spcAft>
                <a:spcPts val="0"/>
              </a:spcAft>
              <a:defRPr sz="1320" b="0">
                <a:solidFill>
                  <a:srgbClr val="087F7B"/>
                </a:solidFill>
                <a:latin typeface="Arial"/>
              </a:defRPr>
            </a:pPr>
            <a:r>
              <a:t>0,612</a:t>
            </a:r>
          </a:p>
        </p:txBody>
      </p:sp>
      <p:sp>
        <p:nvSpPr>
          <p:cNvPr id="50" name="TextBox 49"/>
          <p:cNvSpPr txBox="1"/>
          <p:nvPr/>
        </p:nvSpPr>
        <p:spPr>
          <a:xfrm>
            <a:off x="10393680" y="4655820"/>
            <a:ext cx="1173480" cy="410565"/>
          </a:xfrm>
          <a:prstGeom prst="rect">
            <a:avLst/>
          </a:prstGeom>
          <a:noFill/>
        </p:spPr>
        <p:txBody>
          <a:bodyPr wrap="none" anchor="t" lIns="0" rIns="0" tIns="0" bIns="0">
            <a:noAutofit/>
          </a:bodyPr>
          <a:lstStyle/>
          <a:p>
            <a:pPr>
              <a:lnSpc>
                <a:spcPts val="2752"/>
              </a:lnSpc>
              <a:spcBef>
                <a:spcPts val="0"/>
              </a:spcBef>
              <a:spcAft>
                <a:spcPts val="0"/>
              </a:spcAft>
              <a:defRPr sz="2220" b="1">
                <a:solidFill>
                  <a:srgbClr val="087F7B"/>
                </a:solidFill>
                <a:latin typeface="Arial"/>
              </a:defRPr>
            </a:pPr>
            <a:r>
              <a:t>+0,018</a:t>
            </a:r>
          </a:p>
        </p:txBody>
      </p:sp>
      <p:sp>
        <p:nvSpPr>
          <p:cNvPr id="51" name="TextBox 50"/>
          <p:cNvSpPr txBox="1"/>
          <p:nvPr/>
        </p:nvSpPr>
        <p:spPr>
          <a:xfrm>
            <a:off x="609600" y="5852160"/>
            <a:ext cx="10896600" cy="278282"/>
          </a:xfrm>
          <a:prstGeom prst="rect">
            <a:avLst/>
          </a:prstGeom>
          <a:noFill/>
        </p:spPr>
        <p:txBody>
          <a:bodyPr wrap="none" anchor="t" lIns="0" rIns="0" tIns="0" bIns="0">
            <a:noAutofit/>
          </a:bodyPr>
          <a:lstStyle/>
          <a:p>
            <a:pPr>
              <a:lnSpc>
                <a:spcPts val="1711"/>
              </a:lnSpc>
              <a:spcBef>
                <a:spcPts val="0"/>
              </a:spcBef>
              <a:spcAft>
                <a:spcPts val="0"/>
              </a:spcAft>
              <a:defRPr sz="1380" b="0">
                <a:solidFill>
                  <a:srgbClr val="526278"/>
                </a:solidFill>
                <a:latin typeface="Arial"/>
              </a:defRPr>
            </a:pPr>
            <a:r>
              <a:t>Ganhos descritivos em AUC; não demonstram qual artefato foi aprendido.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487680"/>
            <a:ext cx="68580" cy="175260"/>
          </a:xfrm>
          <a:prstGeom prst="roundRect">
            <a:avLst>
              <a:gd name="adj" fmla="val 20000"/>
            </a:avLst>
          </a:prstGeom>
          <a:solidFill>
            <a:srgbClr val="087F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5340" y="449580"/>
            <a:ext cx="10439400" cy="231038"/>
          </a:xfrm>
          <a:prstGeom prst="rect">
            <a:avLst/>
          </a:prstGeom>
          <a:noFill/>
        </p:spPr>
        <p:txBody>
          <a:bodyPr wrap="none" anchor="t" lIns="0" rIns="0" tIns="0" bIns="0">
            <a:noAutofit/>
          </a:bodyPr>
          <a:lstStyle/>
          <a:p>
            <a:pPr>
              <a:lnSpc>
                <a:spcPts val="1339"/>
              </a:lnSpc>
              <a:spcBef>
                <a:spcPts val="0"/>
              </a:spcBef>
              <a:spcAft>
                <a:spcPts val="0"/>
              </a:spcAft>
              <a:defRPr sz="1080" b="1">
                <a:solidFill>
                  <a:srgbClr val="087F7B"/>
                </a:solidFill>
                <a:latin typeface="Arial"/>
              </a:defRPr>
            </a:pPr>
            <a:r>
              <a:t>RESULTADOS REPORTADOS</a:t>
            </a:r>
          </a:p>
        </p:txBody>
      </p:sp>
      <p:sp>
        <p:nvSpPr>
          <p:cNvPr id="5" name="TextBox 4"/>
          <p:cNvSpPr txBox="1"/>
          <p:nvPr/>
        </p:nvSpPr>
        <p:spPr>
          <a:xfrm>
            <a:off x="609600" y="876300"/>
            <a:ext cx="10972800" cy="571195"/>
          </a:xfrm>
          <a:prstGeom prst="rect">
            <a:avLst/>
          </a:prstGeom>
          <a:noFill/>
        </p:spPr>
        <p:txBody>
          <a:bodyPr wrap="none" anchor="t" lIns="0" rIns="0" tIns="0" bIns="0">
            <a:noAutofit/>
          </a:bodyPr>
          <a:lstStyle/>
          <a:p>
            <a:pPr>
              <a:lnSpc>
                <a:spcPts val="4017"/>
              </a:lnSpc>
              <a:spcBef>
                <a:spcPts val="0"/>
              </a:spcBef>
              <a:spcAft>
                <a:spcPts val="0"/>
              </a:spcAft>
              <a:defRPr sz="3240" b="1">
                <a:solidFill>
                  <a:srgbClr val="17283F"/>
                </a:solidFill>
                <a:latin typeface="Arial"/>
              </a:defRPr>
            </a:pPr>
            <a:r>
              <a:t>O que os resultados permitem concluir</a:t>
            </a:r>
          </a:p>
        </p:txBody>
      </p:sp>
      <p:cxnSp>
        <p:nvCxnSpPr>
          <p:cNvPr id="6" name="Connector 5"/>
          <p:cNvCxnSpPr/>
          <p:nvPr/>
        </p:nvCxnSpPr>
        <p:spPr>
          <a:xfrm>
            <a:off x="609600" y="6179820"/>
            <a:ext cx="10972800" cy="0"/>
          </a:xfrm>
          <a:prstGeom prst="line">
            <a:avLst/>
          </a:prstGeom>
          <a:ln w="15240">
            <a:solidFill>
              <a:srgbClr val="DDE4E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347460"/>
            <a:ext cx="10058400" cy="221589"/>
          </a:xfrm>
          <a:prstGeom prst="rect">
            <a:avLst/>
          </a:prstGeom>
          <a:noFill/>
        </p:spPr>
        <p:txBody>
          <a:bodyPr wrap="none" anchor="t" lIns="0" rIns="0" tIns="0" bIns="0">
            <a:noAutofit/>
          </a:bodyPr>
          <a:lstStyle/>
          <a:p>
            <a:pPr>
              <a:lnSpc>
                <a:spcPts val="1264"/>
              </a:lnSpc>
              <a:spcBef>
                <a:spcPts val="0"/>
              </a:spcBef>
              <a:spcAft>
                <a:spcPts val="0"/>
              </a:spcAft>
              <a:defRPr sz="1019" b="0">
                <a:solidFill>
                  <a:srgbClr val="526278"/>
                </a:solidFill>
                <a:latin typeface="Arial"/>
              </a:defRPr>
            </a:pPr>
            <a:r>
              <a:t>FONTES: A · Estudo anterior; B · seção V-A.</a:t>
            </a:r>
          </a:p>
        </p:txBody>
      </p:sp>
      <p:sp>
        <p:nvSpPr>
          <p:cNvPr id="8" name="TextBox 7"/>
          <p:cNvSpPr txBox="1"/>
          <p:nvPr/>
        </p:nvSpPr>
        <p:spPr>
          <a:xfrm>
            <a:off x="11125200" y="6309360"/>
            <a:ext cx="457200" cy="278282"/>
          </a:xfrm>
          <a:prstGeom prst="rect">
            <a:avLst/>
          </a:prstGeom>
          <a:noFill/>
        </p:spPr>
        <p:txBody>
          <a:bodyPr wrap="none" anchor="t" lIns="0" rIns="0" tIns="0" bIns="0">
            <a:noAutofit/>
          </a:bodyPr>
          <a:lstStyle/>
          <a:p>
            <a:pPr>
              <a:lnSpc>
                <a:spcPts val="1711"/>
              </a:lnSpc>
              <a:spcBef>
                <a:spcPts val="0"/>
              </a:spcBef>
              <a:spcAft>
                <a:spcPts val="0"/>
              </a:spcAft>
              <a:defRPr sz="1380" b="1">
                <a:solidFill>
                  <a:srgbClr val="526278"/>
                </a:solidFill>
                <a:latin typeface="Arial"/>
              </a:defRPr>
            </a:pPr>
            <a:r>
              <a:t>06</a:t>
            </a:r>
          </a:p>
        </p:txBody>
      </p:sp>
      <p:sp>
        <p:nvSpPr>
          <p:cNvPr id="9" name="Rounded Rectangle 8"/>
          <p:cNvSpPr/>
          <p:nvPr/>
        </p:nvSpPr>
        <p:spPr>
          <a:xfrm>
            <a:off x="609600" y="2171700"/>
            <a:ext cx="5257800" cy="2804160"/>
          </a:xfrm>
          <a:prstGeom prst="roundRect">
            <a:avLst>
              <a:gd name="adj" fmla="val 543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362200"/>
            <a:ext cx="4831080" cy="240487"/>
          </a:xfrm>
          <a:prstGeom prst="rect">
            <a:avLst/>
          </a:prstGeom>
          <a:noFill/>
        </p:spPr>
        <p:txBody>
          <a:bodyPr wrap="none" anchor="t" lIns="0" rIns="0" tIns="0" bIns="0">
            <a:noAutofit/>
          </a:bodyPr>
          <a:lstStyle/>
          <a:p>
            <a:pPr>
              <a:lnSpc>
                <a:spcPts val="1413"/>
              </a:lnSpc>
              <a:spcBef>
                <a:spcPts val="0"/>
              </a:spcBef>
              <a:spcAft>
                <a:spcPts val="0"/>
              </a:spcAft>
              <a:defRPr sz="1140" b="1">
                <a:solidFill>
                  <a:srgbClr val="087F7B"/>
                </a:solidFill>
                <a:latin typeface="Arial"/>
              </a:defRPr>
            </a:pPr>
            <a:r>
              <a:t>OBSERVAÇÃO</a:t>
            </a:r>
          </a:p>
        </p:txBody>
      </p:sp>
      <p:sp>
        <p:nvSpPr>
          <p:cNvPr id="11" name="TextBox 10"/>
          <p:cNvSpPr txBox="1"/>
          <p:nvPr/>
        </p:nvSpPr>
        <p:spPr>
          <a:xfrm>
            <a:off x="822960" y="2720340"/>
            <a:ext cx="4831080" cy="429463"/>
          </a:xfrm>
          <a:prstGeom prst="rect">
            <a:avLst/>
          </a:prstGeom>
          <a:noFill/>
        </p:spPr>
        <p:txBody>
          <a:bodyPr wrap="none" anchor="t" lIns="0" rIns="0" tIns="0" bIns="0">
            <a:noAutofit/>
          </a:bodyPr>
          <a:lstStyle/>
          <a:p>
            <a:pPr>
              <a:lnSpc>
                <a:spcPts val="2901"/>
              </a:lnSpc>
              <a:spcBef>
                <a:spcPts val="0"/>
              </a:spcBef>
              <a:spcAft>
                <a:spcPts val="0"/>
              </a:spcAft>
              <a:defRPr sz="2340" b="1">
                <a:solidFill>
                  <a:srgbClr val="17283F"/>
                </a:solidFill>
                <a:latin typeface="Arial"/>
              </a:defRPr>
            </a:pPr>
            <a:r>
              <a:t>O ranking muda.</a:t>
            </a:r>
          </a:p>
        </p:txBody>
      </p:sp>
      <p:sp>
        <p:nvSpPr>
          <p:cNvPr id="12" name="TextBox 11"/>
          <p:cNvSpPr txBox="1"/>
          <p:nvPr/>
        </p:nvSpPr>
        <p:spPr>
          <a:xfrm>
            <a:off x="822960" y="3268980"/>
            <a:ext cx="4831080" cy="590092"/>
          </a:xfrm>
          <a:prstGeom prst="rect">
            <a:avLst/>
          </a:prstGeom>
          <a:noFill/>
        </p:spPr>
        <p:txBody>
          <a:bodyPr wrap="none" anchor="t" lIns="0" rIns="0" tIns="0" bIns="0">
            <a:noAutofit/>
          </a:bodyPr>
          <a:lstStyle/>
          <a:p>
            <a:pPr>
              <a:lnSpc>
                <a:spcPts val="2083"/>
              </a:lnSpc>
              <a:spcBef>
                <a:spcPts val="0"/>
              </a:spcBef>
              <a:spcAft>
                <a:spcPts val="0"/>
              </a:spcAft>
              <a:defRPr sz="1680" b="0">
                <a:solidFill>
                  <a:srgbClr val="526278"/>
                </a:solidFill>
                <a:latin typeface="Arial"/>
              </a:defRPr>
            </a:pPr>
            <a:r>
              <a:t>Há queda sob degradação e ganhos em algumas</a:t>
            </a:r>
          </a:p>
          <a:p>
            <a:pPr>
              <a:lnSpc>
                <a:spcPts val="2083"/>
              </a:lnSpc>
              <a:spcBef>
                <a:spcPts val="0"/>
              </a:spcBef>
              <a:spcAft>
                <a:spcPts val="0"/>
              </a:spcAft>
              <a:defRPr sz="1680" b="0">
                <a:solidFill>
                  <a:srgbClr val="526278"/>
                </a:solidFill>
                <a:latin typeface="Arial"/>
              </a:defRPr>
            </a:pPr>
            <a:r>
              <a:t>entradas híbridas.</a:t>
            </a:r>
          </a:p>
        </p:txBody>
      </p:sp>
      <p:sp>
        <p:nvSpPr>
          <p:cNvPr id="13" name="Rounded Rectangle 12"/>
          <p:cNvSpPr/>
          <p:nvPr/>
        </p:nvSpPr>
        <p:spPr>
          <a:xfrm>
            <a:off x="6324600" y="2171700"/>
            <a:ext cx="5257800" cy="2804160"/>
          </a:xfrm>
          <a:prstGeom prst="roundRect">
            <a:avLst>
              <a:gd name="adj" fmla="val 5434"/>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2362200"/>
            <a:ext cx="4831080" cy="240487"/>
          </a:xfrm>
          <a:prstGeom prst="rect">
            <a:avLst/>
          </a:prstGeom>
          <a:noFill/>
        </p:spPr>
        <p:txBody>
          <a:bodyPr wrap="none" anchor="t" lIns="0" rIns="0" tIns="0" bIns="0">
            <a:noAutofit/>
          </a:bodyPr>
          <a:lstStyle/>
          <a:p>
            <a:pPr>
              <a:lnSpc>
                <a:spcPts val="1413"/>
              </a:lnSpc>
              <a:spcBef>
                <a:spcPts val="0"/>
              </a:spcBef>
              <a:spcAft>
                <a:spcPts val="0"/>
              </a:spcAft>
              <a:defRPr sz="1140" b="1">
                <a:solidFill>
                  <a:srgbClr val="087F7B"/>
                </a:solidFill>
                <a:latin typeface="Arial"/>
              </a:defRPr>
            </a:pPr>
            <a:r>
              <a:t>INTERPRETAÇÃO</a:t>
            </a:r>
          </a:p>
        </p:txBody>
      </p:sp>
      <p:sp>
        <p:nvSpPr>
          <p:cNvPr id="15" name="TextBox 14"/>
          <p:cNvSpPr txBox="1"/>
          <p:nvPr/>
        </p:nvSpPr>
        <p:spPr>
          <a:xfrm>
            <a:off x="6537960" y="2720340"/>
            <a:ext cx="4831080" cy="429463"/>
          </a:xfrm>
          <a:prstGeom prst="rect">
            <a:avLst/>
          </a:prstGeom>
          <a:noFill/>
        </p:spPr>
        <p:txBody>
          <a:bodyPr wrap="none" anchor="t" lIns="0" rIns="0" tIns="0" bIns="0">
            <a:noAutofit/>
          </a:bodyPr>
          <a:lstStyle/>
          <a:p>
            <a:pPr>
              <a:lnSpc>
                <a:spcPts val="2901"/>
              </a:lnSpc>
              <a:spcBef>
                <a:spcPts val="0"/>
              </a:spcBef>
              <a:spcAft>
                <a:spcPts val="0"/>
              </a:spcAft>
              <a:defRPr sz="2340" b="1">
                <a:solidFill>
                  <a:srgbClr val="17283F"/>
                </a:solidFill>
                <a:latin typeface="Arial"/>
              </a:defRPr>
            </a:pPr>
            <a:r>
              <a:t>A causa não está isolada.</a:t>
            </a:r>
          </a:p>
        </p:txBody>
      </p:sp>
      <p:sp>
        <p:nvSpPr>
          <p:cNvPr id="16" name="TextBox 15"/>
          <p:cNvSpPr txBox="1"/>
          <p:nvPr/>
        </p:nvSpPr>
        <p:spPr>
          <a:xfrm>
            <a:off x="6537960" y="3268980"/>
            <a:ext cx="4831080" cy="590092"/>
          </a:xfrm>
          <a:prstGeom prst="rect">
            <a:avLst/>
          </a:prstGeom>
          <a:noFill/>
        </p:spPr>
        <p:txBody>
          <a:bodyPr wrap="none" anchor="t" lIns="0" rIns="0" tIns="0" bIns="0">
            <a:noAutofit/>
          </a:bodyPr>
          <a:lstStyle/>
          <a:p>
            <a:pPr>
              <a:lnSpc>
                <a:spcPts val="2083"/>
              </a:lnSpc>
              <a:spcBef>
                <a:spcPts val="0"/>
              </a:spcBef>
              <a:spcAft>
                <a:spcPts val="0"/>
              </a:spcAft>
              <a:defRPr sz="1680" b="0">
                <a:solidFill>
                  <a:srgbClr val="526278"/>
                </a:solidFill>
                <a:latin typeface="Arial"/>
              </a:defRPr>
            </a:pPr>
            <a:r>
              <a:t>Arquitetura, pré-treinamento e pistas visuais ainda</a:t>
            </a:r>
          </a:p>
          <a:p>
            <a:pPr>
              <a:lnSpc>
                <a:spcPts val="2083"/>
              </a:lnSpc>
              <a:spcBef>
                <a:spcPts val="0"/>
              </a:spcBef>
              <a:spcAft>
                <a:spcPts val="0"/>
              </a:spcAft>
              <a:defRPr sz="1680" b="0">
                <a:solidFill>
                  <a:srgbClr val="526278"/>
                </a:solidFill>
                <a:latin typeface="Arial"/>
              </a:defRPr>
            </a:pPr>
            <a:r>
              <a:t>precisam ser separados.</a:t>
            </a:r>
          </a:p>
        </p:txBody>
      </p:sp>
      <p:sp>
        <p:nvSpPr>
          <p:cNvPr id="17" name="TextBox 16"/>
          <p:cNvSpPr txBox="1"/>
          <p:nvPr/>
        </p:nvSpPr>
        <p:spPr>
          <a:xfrm>
            <a:off x="647700" y="5532120"/>
            <a:ext cx="10896600" cy="391668"/>
          </a:xfrm>
          <a:prstGeom prst="rect">
            <a:avLst/>
          </a:prstGeom>
          <a:noFill/>
        </p:spPr>
        <p:txBody>
          <a:bodyPr wrap="none" anchor="t" lIns="0" rIns="0" tIns="0" bIns="0">
            <a:noAutofit/>
          </a:bodyPr>
          <a:lstStyle/>
          <a:p>
            <a:pPr>
              <a:lnSpc>
                <a:spcPts val="2604"/>
              </a:lnSpc>
              <a:spcBef>
                <a:spcPts val="0"/>
              </a:spcBef>
              <a:spcAft>
                <a:spcPts val="0"/>
              </a:spcAft>
              <a:defRPr sz="2100" b="1">
                <a:solidFill>
                  <a:srgbClr val="087F7B"/>
                </a:solidFill>
                <a:latin typeface="Arial"/>
              </a:defRPr>
            </a:pPr>
            <a:r>
              <a:t>Um mapa plausível não é, por si só, uma explicação fiel.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487680"/>
            <a:ext cx="68580" cy="175260"/>
          </a:xfrm>
          <a:prstGeom prst="roundRect">
            <a:avLst>
              <a:gd name="adj" fmla="val 20000"/>
            </a:avLst>
          </a:prstGeom>
          <a:solidFill>
            <a:srgbClr val="087F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5340" y="449580"/>
            <a:ext cx="10439400" cy="231038"/>
          </a:xfrm>
          <a:prstGeom prst="rect">
            <a:avLst/>
          </a:prstGeom>
          <a:noFill/>
        </p:spPr>
        <p:txBody>
          <a:bodyPr wrap="none" anchor="t" lIns="0" rIns="0" tIns="0" bIns="0">
            <a:noAutofit/>
          </a:bodyPr>
          <a:lstStyle/>
          <a:p>
            <a:pPr>
              <a:lnSpc>
                <a:spcPts val="1339"/>
              </a:lnSpc>
              <a:spcBef>
                <a:spcPts val="0"/>
              </a:spcBef>
              <a:spcAft>
                <a:spcPts val="0"/>
              </a:spcAft>
              <a:defRPr sz="1080" b="1">
                <a:solidFill>
                  <a:srgbClr val="087F7B"/>
                </a:solidFill>
                <a:latin typeface="Arial"/>
              </a:defRPr>
            </a:pPr>
            <a:r>
              <a:t>EXTENSÃO IMPLEMENTADA · EXPERIMENTOS PENDENTES</a:t>
            </a:r>
          </a:p>
        </p:txBody>
      </p:sp>
      <p:sp>
        <p:nvSpPr>
          <p:cNvPr id="5" name="TextBox 4"/>
          <p:cNvSpPr txBox="1"/>
          <p:nvPr/>
        </p:nvSpPr>
        <p:spPr>
          <a:xfrm>
            <a:off x="609600" y="876300"/>
            <a:ext cx="10972800" cy="571195"/>
          </a:xfrm>
          <a:prstGeom prst="rect">
            <a:avLst/>
          </a:prstGeom>
          <a:noFill/>
        </p:spPr>
        <p:txBody>
          <a:bodyPr wrap="none" anchor="t" lIns="0" rIns="0" tIns="0" bIns="0">
            <a:noAutofit/>
          </a:bodyPr>
          <a:lstStyle/>
          <a:p>
            <a:pPr>
              <a:lnSpc>
                <a:spcPts val="4017"/>
              </a:lnSpc>
              <a:spcBef>
                <a:spcPts val="0"/>
              </a:spcBef>
              <a:spcAft>
                <a:spcPts val="0"/>
              </a:spcAft>
              <a:defRPr sz="3240" b="1">
                <a:solidFill>
                  <a:srgbClr val="17283F"/>
                </a:solidFill>
                <a:latin typeface="Arial"/>
              </a:defRPr>
            </a:pPr>
            <a:r>
              <a:t>Três perguntas para explicar as decisões</a:t>
            </a:r>
          </a:p>
        </p:txBody>
      </p:sp>
      <p:cxnSp>
        <p:nvCxnSpPr>
          <p:cNvPr id="6" name="Connector 5"/>
          <p:cNvCxnSpPr/>
          <p:nvPr/>
        </p:nvCxnSpPr>
        <p:spPr>
          <a:xfrm>
            <a:off x="609600" y="6179820"/>
            <a:ext cx="10972800" cy="0"/>
          </a:xfrm>
          <a:prstGeom prst="line">
            <a:avLst/>
          </a:prstGeom>
          <a:ln w="15240">
            <a:solidFill>
              <a:srgbClr val="DDE4E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347460"/>
            <a:ext cx="10058400" cy="221589"/>
          </a:xfrm>
          <a:prstGeom prst="rect">
            <a:avLst/>
          </a:prstGeom>
          <a:noFill/>
        </p:spPr>
        <p:txBody>
          <a:bodyPr wrap="none" anchor="t" lIns="0" rIns="0" tIns="0" bIns="0">
            <a:noAutofit/>
          </a:bodyPr>
          <a:lstStyle/>
          <a:p>
            <a:pPr>
              <a:lnSpc>
                <a:spcPts val="1264"/>
              </a:lnSpc>
              <a:spcBef>
                <a:spcPts val="0"/>
              </a:spcBef>
              <a:spcAft>
                <a:spcPts val="0"/>
              </a:spcAft>
              <a:defRPr sz="1019" b="0">
                <a:solidFill>
                  <a:srgbClr val="526278"/>
                </a:solidFill>
                <a:latin typeface="Arial"/>
              </a:defRPr>
            </a:pPr>
            <a:r>
              <a:t>FONTES: B · seção IV; C · guia de execução.</a:t>
            </a:r>
          </a:p>
        </p:txBody>
      </p:sp>
      <p:sp>
        <p:nvSpPr>
          <p:cNvPr id="8" name="TextBox 7"/>
          <p:cNvSpPr txBox="1"/>
          <p:nvPr/>
        </p:nvSpPr>
        <p:spPr>
          <a:xfrm>
            <a:off x="11125200" y="6309360"/>
            <a:ext cx="457200" cy="278282"/>
          </a:xfrm>
          <a:prstGeom prst="rect">
            <a:avLst/>
          </a:prstGeom>
          <a:noFill/>
        </p:spPr>
        <p:txBody>
          <a:bodyPr wrap="none" anchor="t" lIns="0" rIns="0" tIns="0" bIns="0">
            <a:noAutofit/>
          </a:bodyPr>
          <a:lstStyle/>
          <a:p>
            <a:pPr>
              <a:lnSpc>
                <a:spcPts val="1711"/>
              </a:lnSpc>
              <a:spcBef>
                <a:spcPts val="0"/>
              </a:spcBef>
              <a:spcAft>
                <a:spcPts val="0"/>
              </a:spcAft>
              <a:defRPr sz="1380" b="1">
                <a:solidFill>
                  <a:srgbClr val="526278"/>
                </a:solidFill>
                <a:latin typeface="Arial"/>
              </a:defRPr>
            </a:pPr>
            <a:r>
              <a:t>07</a:t>
            </a:r>
          </a:p>
        </p:txBody>
      </p:sp>
      <p:sp>
        <p:nvSpPr>
          <p:cNvPr id="9" name="Rounded Rectangle 8"/>
          <p:cNvSpPr/>
          <p:nvPr/>
        </p:nvSpPr>
        <p:spPr>
          <a:xfrm>
            <a:off x="609600" y="2270760"/>
            <a:ext cx="3352800" cy="2918460"/>
          </a:xfrm>
          <a:prstGeom prst="roundRect">
            <a:avLst>
              <a:gd name="adj" fmla="val 57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8200" y="2506980"/>
            <a:ext cx="2895600" cy="467258"/>
          </a:xfrm>
          <a:prstGeom prst="rect">
            <a:avLst/>
          </a:prstGeom>
          <a:noFill/>
        </p:spPr>
        <p:txBody>
          <a:bodyPr wrap="none" anchor="t" lIns="0" rIns="0" tIns="0" bIns="0">
            <a:noAutofit/>
          </a:bodyPr>
          <a:lstStyle/>
          <a:p>
            <a:pPr>
              <a:lnSpc>
                <a:spcPts val="3199"/>
              </a:lnSpc>
              <a:spcBef>
                <a:spcPts val="0"/>
              </a:spcBef>
              <a:spcAft>
                <a:spcPts val="0"/>
              </a:spcAft>
              <a:defRPr sz="2580" b="1">
                <a:solidFill>
                  <a:srgbClr val="087F7B"/>
                </a:solidFill>
                <a:latin typeface="Arial"/>
              </a:defRPr>
            </a:pPr>
            <a:r>
              <a:t>01</a:t>
            </a:r>
          </a:p>
        </p:txBody>
      </p:sp>
      <p:sp>
        <p:nvSpPr>
          <p:cNvPr id="11" name="TextBox 10"/>
          <p:cNvSpPr txBox="1"/>
          <p:nvPr/>
        </p:nvSpPr>
        <p:spPr>
          <a:xfrm>
            <a:off x="838200" y="3124200"/>
            <a:ext cx="2895600" cy="372770"/>
          </a:xfrm>
          <a:prstGeom prst="rect">
            <a:avLst/>
          </a:prstGeom>
          <a:noFill/>
        </p:spPr>
        <p:txBody>
          <a:bodyPr wrap="none" anchor="t" lIns="0" rIns="0" tIns="0" bIns="0">
            <a:noAutofit/>
          </a:bodyPr>
          <a:lstStyle/>
          <a:p>
            <a:pPr>
              <a:lnSpc>
                <a:spcPts val="2455"/>
              </a:lnSpc>
              <a:spcBef>
                <a:spcPts val="0"/>
              </a:spcBef>
              <a:spcAft>
                <a:spcPts val="0"/>
              </a:spcAft>
              <a:defRPr sz="1980" b="1">
                <a:solidFill>
                  <a:srgbClr val="17283F"/>
                </a:solidFill>
                <a:latin typeface="Arial"/>
              </a:defRPr>
            </a:pPr>
            <a:r>
              <a:t>Mesmas imagens</a:t>
            </a:r>
          </a:p>
        </p:txBody>
      </p:sp>
      <p:sp>
        <p:nvSpPr>
          <p:cNvPr id="12" name="TextBox 11"/>
          <p:cNvSpPr txBox="1"/>
          <p:nvPr/>
        </p:nvSpPr>
        <p:spPr>
          <a:xfrm>
            <a:off x="838200" y="4000500"/>
            <a:ext cx="2895600" cy="883005"/>
          </a:xfrm>
          <a:prstGeom prst="rect">
            <a:avLst/>
          </a:prstGeom>
          <a:noFill/>
        </p:spPr>
        <p:txBody>
          <a:bodyPr wrap="none" anchor="t" lIns="0" rIns="0" tIns="0" bIns="0">
            <a:noAutofit/>
          </a:bodyPr>
          <a:lstStyle/>
          <a:p>
            <a:pPr>
              <a:lnSpc>
                <a:spcPts val="2157"/>
              </a:lnSpc>
              <a:spcBef>
                <a:spcPts val="0"/>
              </a:spcBef>
              <a:spcAft>
                <a:spcPts val="0"/>
              </a:spcAft>
              <a:defRPr sz="1739" b="0">
                <a:solidFill>
                  <a:srgbClr val="526278"/>
                </a:solidFill>
                <a:latin typeface="Arial"/>
              </a:defRPr>
            </a:pPr>
            <a:r>
              <a:t>Como as arquiteturas</a:t>
            </a:r>
          </a:p>
          <a:p>
            <a:pPr>
              <a:lnSpc>
                <a:spcPts val="2157"/>
              </a:lnSpc>
              <a:spcBef>
                <a:spcPts val="0"/>
              </a:spcBef>
              <a:spcAft>
                <a:spcPts val="0"/>
              </a:spcAft>
              <a:defRPr sz="1739" b="0">
                <a:solidFill>
                  <a:srgbClr val="526278"/>
                </a:solidFill>
                <a:latin typeface="Arial"/>
              </a:defRPr>
            </a:pPr>
            <a:r>
              <a:t>explicam os mesmos</a:t>
            </a:r>
          </a:p>
          <a:p>
            <a:pPr>
              <a:lnSpc>
                <a:spcPts val="2157"/>
              </a:lnSpc>
              <a:spcBef>
                <a:spcPts val="0"/>
              </a:spcBef>
              <a:spcAft>
                <a:spcPts val="0"/>
              </a:spcAft>
              <a:defRPr sz="1739" b="0">
                <a:solidFill>
                  <a:srgbClr val="526278"/>
                </a:solidFill>
                <a:latin typeface="Arial"/>
              </a:defRPr>
            </a:pPr>
            <a:r>
              <a:t>acertos e erros?</a:t>
            </a:r>
          </a:p>
        </p:txBody>
      </p:sp>
      <p:sp>
        <p:nvSpPr>
          <p:cNvPr id="13" name="Rounded Rectangle 12"/>
          <p:cNvSpPr/>
          <p:nvPr/>
        </p:nvSpPr>
        <p:spPr>
          <a:xfrm>
            <a:off x="4419600" y="2270760"/>
            <a:ext cx="3352800" cy="2918460"/>
          </a:xfrm>
          <a:prstGeom prst="roundRect">
            <a:avLst>
              <a:gd name="adj" fmla="val 57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48200" y="2506980"/>
            <a:ext cx="2895600" cy="467258"/>
          </a:xfrm>
          <a:prstGeom prst="rect">
            <a:avLst/>
          </a:prstGeom>
          <a:noFill/>
        </p:spPr>
        <p:txBody>
          <a:bodyPr wrap="none" anchor="t" lIns="0" rIns="0" tIns="0" bIns="0">
            <a:noAutofit/>
          </a:bodyPr>
          <a:lstStyle/>
          <a:p>
            <a:pPr>
              <a:lnSpc>
                <a:spcPts val="3199"/>
              </a:lnSpc>
              <a:spcBef>
                <a:spcPts val="0"/>
              </a:spcBef>
              <a:spcAft>
                <a:spcPts val="0"/>
              </a:spcAft>
              <a:defRPr sz="2580" b="1">
                <a:solidFill>
                  <a:srgbClr val="087F7B"/>
                </a:solidFill>
                <a:latin typeface="Arial"/>
              </a:defRPr>
            </a:pPr>
            <a:r>
              <a:t>02</a:t>
            </a:r>
          </a:p>
        </p:txBody>
      </p:sp>
      <p:sp>
        <p:nvSpPr>
          <p:cNvPr id="15" name="TextBox 14"/>
          <p:cNvSpPr txBox="1"/>
          <p:nvPr/>
        </p:nvSpPr>
        <p:spPr>
          <a:xfrm>
            <a:off x="4648200" y="3124200"/>
            <a:ext cx="2895600" cy="372770"/>
          </a:xfrm>
          <a:prstGeom prst="rect">
            <a:avLst/>
          </a:prstGeom>
          <a:noFill/>
        </p:spPr>
        <p:txBody>
          <a:bodyPr wrap="none" anchor="t" lIns="0" rIns="0" tIns="0" bIns="0">
            <a:noAutofit/>
          </a:bodyPr>
          <a:lstStyle/>
          <a:p>
            <a:pPr>
              <a:lnSpc>
                <a:spcPts val="2455"/>
              </a:lnSpc>
              <a:spcBef>
                <a:spcPts val="0"/>
              </a:spcBef>
              <a:spcAft>
                <a:spcPts val="0"/>
              </a:spcAft>
              <a:defRPr sz="1980" b="1">
                <a:solidFill>
                  <a:srgbClr val="17283F"/>
                </a:solidFill>
                <a:latin typeface="Arial"/>
              </a:defRPr>
            </a:pPr>
            <a:r>
              <a:t>RGB e frequência</a:t>
            </a:r>
          </a:p>
        </p:txBody>
      </p:sp>
      <p:sp>
        <p:nvSpPr>
          <p:cNvPr id="16" name="TextBox 15"/>
          <p:cNvSpPr txBox="1"/>
          <p:nvPr/>
        </p:nvSpPr>
        <p:spPr>
          <a:xfrm>
            <a:off x="4648200" y="4000500"/>
            <a:ext cx="2895600" cy="883005"/>
          </a:xfrm>
          <a:prstGeom prst="rect">
            <a:avLst/>
          </a:prstGeom>
          <a:noFill/>
        </p:spPr>
        <p:txBody>
          <a:bodyPr wrap="none" anchor="t" lIns="0" rIns="0" tIns="0" bIns="0">
            <a:noAutofit/>
          </a:bodyPr>
          <a:lstStyle/>
          <a:p>
            <a:pPr>
              <a:lnSpc>
                <a:spcPts val="2157"/>
              </a:lnSpc>
              <a:spcBef>
                <a:spcPts val="0"/>
              </a:spcBef>
              <a:spcAft>
                <a:spcPts val="0"/>
              </a:spcAft>
              <a:defRPr sz="1739" b="0">
                <a:solidFill>
                  <a:srgbClr val="526278"/>
                </a:solidFill>
                <a:latin typeface="Arial"/>
              </a:defRPr>
            </a:pPr>
            <a:r>
              <a:t>As explicações mudam</a:t>
            </a:r>
          </a:p>
          <a:p>
            <a:pPr>
              <a:lnSpc>
                <a:spcPts val="2157"/>
              </a:lnSpc>
              <a:spcBef>
                <a:spcPts val="0"/>
              </a:spcBef>
              <a:spcAft>
                <a:spcPts val="0"/>
              </a:spcAft>
              <a:defRPr sz="1739" b="0">
                <a:solidFill>
                  <a:srgbClr val="526278"/>
                </a:solidFill>
                <a:latin typeface="Arial"/>
              </a:defRPr>
            </a:pPr>
            <a:r>
              <a:t>quando muda o domínio de</a:t>
            </a:r>
          </a:p>
          <a:p>
            <a:pPr>
              <a:lnSpc>
                <a:spcPts val="2157"/>
              </a:lnSpc>
              <a:spcBef>
                <a:spcPts val="0"/>
              </a:spcBef>
              <a:spcAft>
                <a:spcPts val="0"/>
              </a:spcAft>
              <a:defRPr sz="1739" b="0">
                <a:solidFill>
                  <a:srgbClr val="526278"/>
                </a:solidFill>
                <a:latin typeface="Arial"/>
              </a:defRPr>
            </a:pPr>
            <a:r>
              <a:t>entrada?</a:t>
            </a:r>
          </a:p>
        </p:txBody>
      </p:sp>
      <p:sp>
        <p:nvSpPr>
          <p:cNvPr id="17" name="Rounded Rectangle 16"/>
          <p:cNvSpPr/>
          <p:nvPr/>
        </p:nvSpPr>
        <p:spPr>
          <a:xfrm>
            <a:off x="8229600" y="2270760"/>
            <a:ext cx="3352800" cy="2918460"/>
          </a:xfrm>
          <a:prstGeom prst="roundRect">
            <a:avLst>
              <a:gd name="adj" fmla="val 574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58200" y="2506980"/>
            <a:ext cx="2895600" cy="467258"/>
          </a:xfrm>
          <a:prstGeom prst="rect">
            <a:avLst/>
          </a:prstGeom>
          <a:noFill/>
        </p:spPr>
        <p:txBody>
          <a:bodyPr wrap="none" anchor="t" lIns="0" rIns="0" tIns="0" bIns="0">
            <a:noAutofit/>
          </a:bodyPr>
          <a:lstStyle/>
          <a:p>
            <a:pPr>
              <a:lnSpc>
                <a:spcPts val="3199"/>
              </a:lnSpc>
              <a:spcBef>
                <a:spcPts val="0"/>
              </a:spcBef>
              <a:spcAft>
                <a:spcPts val="0"/>
              </a:spcAft>
              <a:defRPr sz="2580" b="1">
                <a:solidFill>
                  <a:srgbClr val="087F7B"/>
                </a:solidFill>
                <a:latin typeface="Arial"/>
              </a:defRPr>
            </a:pPr>
            <a:r>
              <a:t>03</a:t>
            </a:r>
          </a:p>
        </p:txBody>
      </p:sp>
      <p:sp>
        <p:nvSpPr>
          <p:cNvPr id="19" name="TextBox 18"/>
          <p:cNvSpPr txBox="1"/>
          <p:nvPr/>
        </p:nvSpPr>
        <p:spPr>
          <a:xfrm>
            <a:off x="8458200" y="3124200"/>
            <a:ext cx="2895600" cy="372770"/>
          </a:xfrm>
          <a:prstGeom prst="rect">
            <a:avLst/>
          </a:prstGeom>
          <a:noFill/>
        </p:spPr>
        <p:txBody>
          <a:bodyPr wrap="none" anchor="t" lIns="0" rIns="0" tIns="0" bIns="0">
            <a:noAutofit/>
          </a:bodyPr>
          <a:lstStyle/>
          <a:p>
            <a:pPr>
              <a:lnSpc>
                <a:spcPts val="2455"/>
              </a:lnSpc>
              <a:spcBef>
                <a:spcPts val="0"/>
              </a:spcBef>
              <a:spcAft>
                <a:spcPts val="0"/>
              </a:spcAft>
              <a:defRPr sz="1980" b="1">
                <a:solidFill>
                  <a:srgbClr val="17283F"/>
                </a:solidFill>
                <a:latin typeface="Arial"/>
              </a:defRPr>
            </a:pPr>
            <a:r>
              <a:t>Falhas compartilhadas</a:t>
            </a:r>
          </a:p>
        </p:txBody>
      </p:sp>
      <p:sp>
        <p:nvSpPr>
          <p:cNvPr id="20" name="TextBox 19"/>
          <p:cNvSpPr txBox="1"/>
          <p:nvPr/>
        </p:nvSpPr>
        <p:spPr>
          <a:xfrm>
            <a:off x="8458200" y="4000500"/>
            <a:ext cx="2895600" cy="883005"/>
          </a:xfrm>
          <a:prstGeom prst="rect">
            <a:avLst/>
          </a:prstGeom>
          <a:noFill/>
        </p:spPr>
        <p:txBody>
          <a:bodyPr wrap="none" anchor="t" lIns="0" rIns="0" tIns="0" bIns="0">
            <a:noAutofit/>
          </a:bodyPr>
          <a:lstStyle/>
          <a:p>
            <a:pPr>
              <a:lnSpc>
                <a:spcPts val="2157"/>
              </a:lnSpc>
              <a:spcBef>
                <a:spcPts val="0"/>
              </a:spcBef>
              <a:spcAft>
                <a:spcPts val="0"/>
              </a:spcAft>
              <a:defRPr sz="1739" b="0">
                <a:solidFill>
                  <a:srgbClr val="526278"/>
                </a:solidFill>
                <a:latin typeface="Arial"/>
              </a:defRPr>
            </a:pPr>
            <a:r>
              <a:t>Que condições aparecem</a:t>
            </a:r>
          </a:p>
          <a:p>
            <a:pPr>
              <a:lnSpc>
                <a:spcPts val="2157"/>
              </a:lnSpc>
              <a:spcBef>
                <a:spcPts val="0"/>
              </a:spcBef>
              <a:spcAft>
                <a:spcPts val="0"/>
              </a:spcAft>
              <a:defRPr sz="1739" b="0">
                <a:solidFill>
                  <a:srgbClr val="526278"/>
                </a:solidFill>
                <a:latin typeface="Arial"/>
              </a:defRPr>
            </a:pPr>
            <a:r>
              <a:t>quando todos os modelos</a:t>
            </a:r>
          </a:p>
          <a:p>
            <a:pPr>
              <a:lnSpc>
                <a:spcPts val="2157"/>
              </a:lnSpc>
              <a:spcBef>
                <a:spcPts val="0"/>
              </a:spcBef>
              <a:spcAft>
                <a:spcPts val="0"/>
              </a:spcAft>
              <a:defRPr sz="1739" b="0">
                <a:solidFill>
                  <a:srgbClr val="526278"/>
                </a:solidFill>
                <a:latin typeface="Arial"/>
              </a:defRPr>
            </a:pPr>
            <a:r>
              <a:t>do grupo erram?</a:t>
            </a:r>
          </a:p>
        </p:txBody>
      </p:sp>
      <p:sp>
        <p:nvSpPr>
          <p:cNvPr id="21" name="TextBox 20"/>
          <p:cNvSpPr txBox="1"/>
          <p:nvPr/>
        </p:nvSpPr>
        <p:spPr>
          <a:xfrm>
            <a:off x="647700" y="5654040"/>
            <a:ext cx="10896600" cy="325526"/>
          </a:xfrm>
          <a:prstGeom prst="rect">
            <a:avLst/>
          </a:prstGeom>
          <a:noFill/>
        </p:spPr>
        <p:txBody>
          <a:bodyPr wrap="none" anchor="t" lIns="0" rIns="0" tIns="0" bIns="0">
            <a:noAutofit/>
          </a:bodyPr>
          <a:lstStyle/>
          <a:p>
            <a:pPr>
              <a:lnSpc>
                <a:spcPts val="2083"/>
              </a:lnSpc>
              <a:spcBef>
                <a:spcPts val="0"/>
              </a:spcBef>
              <a:spcAft>
                <a:spcPts val="0"/>
              </a:spcAft>
              <a:defRPr sz="1680" b="0">
                <a:solidFill>
                  <a:srgbClr val="087F7B"/>
                </a:solidFill>
                <a:latin typeface="Arial"/>
              </a:defRPr>
            </a:pPr>
            <a:r>
              <a:t>Comparações controladas; nenhum resultado de heatmap é antecipado.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487680"/>
            <a:ext cx="68580" cy="175260"/>
          </a:xfrm>
          <a:prstGeom prst="roundRect">
            <a:avLst>
              <a:gd name="adj" fmla="val 20000"/>
            </a:avLst>
          </a:prstGeom>
          <a:solidFill>
            <a:srgbClr val="087F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5340" y="449580"/>
            <a:ext cx="10439400" cy="231038"/>
          </a:xfrm>
          <a:prstGeom prst="rect">
            <a:avLst/>
          </a:prstGeom>
          <a:noFill/>
        </p:spPr>
        <p:txBody>
          <a:bodyPr wrap="none" anchor="t" lIns="0" rIns="0" tIns="0" bIns="0">
            <a:noAutofit/>
          </a:bodyPr>
          <a:lstStyle/>
          <a:p>
            <a:pPr>
              <a:lnSpc>
                <a:spcPts val="1339"/>
              </a:lnSpc>
              <a:spcBef>
                <a:spcPts val="0"/>
              </a:spcBef>
              <a:spcAft>
                <a:spcPts val="0"/>
              </a:spcAft>
              <a:defRPr sz="1080" b="1">
                <a:solidFill>
                  <a:srgbClr val="087F7B"/>
                </a:solidFill>
                <a:latin typeface="Arial"/>
              </a:defRPr>
            </a:pPr>
            <a:r>
              <a:t>PROTOCOLO · NÃO É UM RESULTADO EXPERIMENTAL</a:t>
            </a:r>
          </a:p>
        </p:txBody>
      </p:sp>
      <p:sp>
        <p:nvSpPr>
          <p:cNvPr id="5" name="TextBox 4"/>
          <p:cNvSpPr txBox="1"/>
          <p:nvPr/>
        </p:nvSpPr>
        <p:spPr>
          <a:xfrm>
            <a:off x="609600" y="876300"/>
            <a:ext cx="10972800" cy="571195"/>
          </a:xfrm>
          <a:prstGeom prst="rect">
            <a:avLst/>
          </a:prstGeom>
          <a:noFill/>
        </p:spPr>
        <p:txBody>
          <a:bodyPr wrap="none" anchor="t" lIns="0" rIns="0" tIns="0" bIns="0">
            <a:noAutofit/>
          </a:bodyPr>
          <a:lstStyle/>
          <a:p>
            <a:pPr>
              <a:lnSpc>
                <a:spcPts val="4017"/>
              </a:lnSpc>
              <a:spcBef>
                <a:spcPts val="0"/>
              </a:spcBef>
              <a:spcAft>
                <a:spcPts val="0"/>
              </a:spcAft>
              <a:defRPr sz="3240" b="1">
                <a:solidFill>
                  <a:srgbClr val="17283F"/>
                </a:solidFill>
                <a:latin typeface="Arial"/>
              </a:defRPr>
            </a:pPr>
            <a:r>
              <a:t>Tarefa 1 · As mesmas 64 imagens</a:t>
            </a:r>
          </a:p>
        </p:txBody>
      </p:sp>
      <p:cxnSp>
        <p:nvCxnSpPr>
          <p:cNvPr id="6" name="Connector 5"/>
          <p:cNvCxnSpPr/>
          <p:nvPr/>
        </p:nvCxnSpPr>
        <p:spPr>
          <a:xfrm>
            <a:off x="609600" y="6179820"/>
            <a:ext cx="10972800" cy="0"/>
          </a:xfrm>
          <a:prstGeom prst="line">
            <a:avLst/>
          </a:prstGeom>
          <a:ln w="15240">
            <a:solidFill>
              <a:srgbClr val="DDE4E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347460"/>
            <a:ext cx="10058400" cy="221589"/>
          </a:xfrm>
          <a:prstGeom prst="rect">
            <a:avLst/>
          </a:prstGeom>
          <a:noFill/>
        </p:spPr>
        <p:txBody>
          <a:bodyPr wrap="none" anchor="t" lIns="0" rIns="0" tIns="0" bIns="0">
            <a:noAutofit/>
          </a:bodyPr>
          <a:lstStyle/>
          <a:p>
            <a:pPr>
              <a:lnSpc>
                <a:spcPts val="1264"/>
              </a:lnSpc>
              <a:spcBef>
                <a:spcPts val="0"/>
              </a:spcBef>
              <a:spcAft>
                <a:spcPts val="0"/>
              </a:spcAft>
              <a:defRPr sz="1019" b="0">
                <a:solidFill>
                  <a:srgbClr val="526278"/>
                </a:solidFill>
                <a:latin typeface="Arial"/>
              </a:defRPr>
            </a:pPr>
            <a:r>
              <a:t>FONTES: B · tarefa 1; C · configuração.</a:t>
            </a:r>
          </a:p>
        </p:txBody>
      </p:sp>
      <p:sp>
        <p:nvSpPr>
          <p:cNvPr id="8" name="TextBox 7"/>
          <p:cNvSpPr txBox="1"/>
          <p:nvPr/>
        </p:nvSpPr>
        <p:spPr>
          <a:xfrm>
            <a:off x="11125200" y="6309360"/>
            <a:ext cx="457200" cy="278282"/>
          </a:xfrm>
          <a:prstGeom prst="rect">
            <a:avLst/>
          </a:prstGeom>
          <a:noFill/>
        </p:spPr>
        <p:txBody>
          <a:bodyPr wrap="none" anchor="t" lIns="0" rIns="0" tIns="0" bIns="0">
            <a:noAutofit/>
          </a:bodyPr>
          <a:lstStyle/>
          <a:p>
            <a:pPr>
              <a:lnSpc>
                <a:spcPts val="1711"/>
              </a:lnSpc>
              <a:spcBef>
                <a:spcPts val="0"/>
              </a:spcBef>
              <a:spcAft>
                <a:spcPts val="0"/>
              </a:spcAft>
              <a:defRPr sz="1380" b="1">
                <a:solidFill>
                  <a:srgbClr val="526278"/>
                </a:solidFill>
                <a:latin typeface="Arial"/>
              </a:defRPr>
            </a:pPr>
            <a:r>
              <a:t>08</a:t>
            </a:r>
          </a:p>
        </p:txBody>
      </p:sp>
      <p:sp>
        <p:nvSpPr>
          <p:cNvPr id="9" name="Rounded Rectangle 8"/>
          <p:cNvSpPr/>
          <p:nvPr/>
        </p:nvSpPr>
        <p:spPr>
          <a:xfrm>
            <a:off x="609600" y="2209800"/>
            <a:ext cx="2590800" cy="1478280"/>
          </a:xfrm>
          <a:prstGeom prst="roundRect">
            <a:avLst>
              <a:gd name="adj" fmla="val 9278"/>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5340" y="2385060"/>
            <a:ext cx="1981199" cy="287731"/>
          </a:xfrm>
          <a:prstGeom prst="rect">
            <a:avLst/>
          </a:prstGeom>
          <a:noFill/>
        </p:spPr>
        <p:txBody>
          <a:bodyPr wrap="none" anchor="t" lIns="0" rIns="0" tIns="0" bIns="0">
            <a:noAutofit/>
          </a:bodyPr>
          <a:lstStyle/>
          <a:p>
            <a:pPr>
              <a:lnSpc>
                <a:spcPts val="1785"/>
              </a:lnSpc>
              <a:spcBef>
                <a:spcPts val="0"/>
              </a:spcBef>
              <a:spcAft>
                <a:spcPts val="0"/>
              </a:spcAft>
              <a:defRPr sz="1439" b="1">
                <a:solidFill>
                  <a:srgbClr val="087F7B"/>
                </a:solidFill>
                <a:latin typeface="Arial"/>
              </a:defRPr>
            </a:pPr>
            <a:r>
              <a:t>VP</a:t>
            </a:r>
          </a:p>
        </p:txBody>
      </p:sp>
      <p:sp>
        <p:nvSpPr>
          <p:cNvPr id="11" name="TextBox 10"/>
          <p:cNvSpPr txBox="1"/>
          <p:nvPr/>
        </p:nvSpPr>
        <p:spPr>
          <a:xfrm>
            <a:off x="815340" y="2674620"/>
            <a:ext cx="1981199" cy="675132"/>
          </a:xfrm>
          <a:prstGeom prst="rect">
            <a:avLst/>
          </a:prstGeom>
          <a:noFill/>
        </p:spPr>
        <p:txBody>
          <a:bodyPr wrap="none" anchor="t" lIns="0" rIns="0" tIns="0" bIns="0">
            <a:noAutofit/>
          </a:bodyPr>
          <a:lstStyle/>
          <a:p>
            <a:pPr>
              <a:lnSpc>
                <a:spcPts val="4835"/>
              </a:lnSpc>
              <a:spcBef>
                <a:spcPts val="0"/>
              </a:spcBef>
              <a:spcAft>
                <a:spcPts val="0"/>
              </a:spcAft>
              <a:defRPr sz="3900" b="1">
                <a:solidFill>
                  <a:srgbClr val="17283F"/>
                </a:solidFill>
                <a:latin typeface="Arial"/>
              </a:defRPr>
            </a:pPr>
            <a:r>
              <a:t>16</a:t>
            </a:r>
          </a:p>
        </p:txBody>
      </p:sp>
      <p:sp>
        <p:nvSpPr>
          <p:cNvPr id="12" name="TextBox 11"/>
          <p:cNvSpPr txBox="1"/>
          <p:nvPr/>
        </p:nvSpPr>
        <p:spPr>
          <a:xfrm>
            <a:off x="815340" y="3345180"/>
            <a:ext cx="2209800" cy="268833"/>
          </a:xfrm>
          <a:prstGeom prst="rect">
            <a:avLst/>
          </a:prstGeom>
          <a:noFill/>
        </p:spPr>
        <p:txBody>
          <a:bodyPr wrap="none" anchor="t" lIns="0" rIns="0" tIns="0" bIns="0">
            <a:noAutofit/>
          </a:bodyPr>
          <a:lstStyle/>
          <a:p>
            <a:pPr>
              <a:lnSpc>
                <a:spcPts val="1636"/>
              </a:lnSpc>
              <a:spcBef>
                <a:spcPts val="0"/>
              </a:spcBef>
              <a:spcAft>
                <a:spcPts val="0"/>
              </a:spcAft>
              <a:defRPr sz="1320" b="0">
                <a:solidFill>
                  <a:srgbClr val="526278"/>
                </a:solidFill>
                <a:latin typeface="Arial"/>
              </a:defRPr>
            </a:pPr>
            <a:r>
              <a:t>Falsa prevista falsa</a:t>
            </a:r>
          </a:p>
        </p:txBody>
      </p:sp>
      <p:sp>
        <p:nvSpPr>
          <p:cNvPr id="13" name="Rounded Rectangle 12"/>
          <p:cNvSpPr/>
          <p:nvPr/>
        </p:nvSpPr>
        <p:spPr>
          <a:xfrm>
            <a:off x="3429000" y="2209800"/>
            <a:ext cx="2590800" cy="1478280"/>
          </a:xfrm>
          <a:prstGeom prst="roundRect">
            <a:avLst>
              <a:gd name="adj" fmla="val 9278"/>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34740" y="2385060"/>
            <a:ext cx="1981199" cy="287731"/>
          </a:xfrm>
          <a:prstGeom prst="rect">
            <a:avLst/>
          </a:prstGeom>
          <a:noFill/>
        </p:spPr>
        <p:txBody>
          <a:bodyPr wrap="none" anchor="t" lIns="0" rIns="0" tIns="0" bIns="0">
            <a:noAutofit/>
          </a:bodyPr>
          <a:lstStyle/>
          <a:p>
            <a:pPr>
              <a:lnSpc>
                <a:spcPts val="1785"/>
              </a:lnSpc>
              <a:spcBef>
                <a:spcPts val="0"/>
              </a:spcBef>
              <a:spcAft>
                <a:spcPts val="0"/>
              </a:spcAft>
              <a:defRPr sz="1439" b="1">
                <a:solidFill>
                  <a:srgbClr val="087F7B"/>
                </a:solidFill>
                <a:latin typeface="Arial"/>
              </a:defRPr>
            </a:pPr>
            <a:r>
              <a:t>FN</a:t>
            </a:r>
          </a:p>
        </p:txBody>
      </p:sp>
      <p:sp>
        <p:nvSpPr>
          <p:cNvPr id="15" name="TextBox 14"/>
          <p:cNvSpPr txBox="1"/>
          <p:nvPr/>
        </p:nvSpPr>
        <p:spPr>
          <a:xfrm>
            <a:off x="3634740" y="2674620"/>
            <a:ext cx="1981199" cy="675132"/>
          </a:xfrm>
          <a:prstGeom prst="rect">
            <a:avLst/>
          </a:prstGeom>
          <a:noFill/>
        </p:spPr>
        <p:txBody>
          <a:bodyPr wrap="none" anchor="t" lIns="0" rIns="0" tIns="0" bIns="0">
            <a:noAutofit/>
          </a:bodyPr>
          <a:lstStyle/>
          <a:p>
            <a:pPr>
              <a:lnSpc>
                <a:spcPts val="4835"/>
              </a:lnSpc>
              <a:spcBef>
                <a:spcPts val="0"/>
              </a:spcBef>
              <a:spcAft>
                <a:spcPts val="0"/>
              </a:spcAft>
              <a:defRPr sz="3900" b="1">
                <a:solidFill>
                  <a:srgbClr val="17283F"/>
                </a:solidFill>
                <a:latin typeface="Arial"/>
              </a:defRPr>
            </a:pPr>
            <a:r>
              <a:t>16</a:t>
            </a:r>
          </a:p>
        </p:txBody>
      </p:sp>
      <p:sp>
        <p:nvSpPr>
          <p:cNvPr id="16" name="TextBox 15"/>
          <p:cNvSpPr txBox="1"/>
          <p:nvPr/>
        </p:nvSpPr>
        <p:spPr>
          <a:xfrm>
            <a:off x="3634740" y="3345180"/>
            <a:ext cx="2209800" cy="268833"/>
          </a:xfrm>
          <a:prstGeom prst="rect">
            <a:avLst/>
          </a:prstGeom>
          <a:noFill/>
        </p:spPr>
        <p:txBody>
          <a:bodyPr wrap="none" anchor="t" lIns="0" rIns="0" tIns="0" bIns="0">
            <a:noAutofit/>
          </a:bodyPr>
          <a:lstStyle/>
          <a:p>
            <a:pPr>
              <a:lnSpc>
                <a:spcPts val="1636"/>
              </a:lnSpc>
              <a:spcBef>
                <a:spcPts val="0"/>
              </a:spcBef>
              <a:spcAft>
                <a:spcPts val="0"/>
              </a:spcAft>
              <a:defRPr sz="1320" b="0">
                <a:solidFill>
                  <a:srgbClr val="526278"/>
                </a:solidFill>
                <a:latin typeface="Arial"/>
              </a:defRPr>
            </a:pPr>
            <a:r>
              <a:t>Falsa prevista real</a:t>
            </a:r>
          </a:p>
        </p:txBody>
      </p:sp>
      <p:sp>
        <p:nvSpPr>
          <p:cNvPr id="17" name="Rounded Rectangle 16"/>
          <p:cNvSpPr/>
          <p:nvPr/>
        </p:nvSpPr>
        <p:spPr>
          <a:xfrm>
            <a:off x="609600" y="3886200"/>
            <a:ext cx="2590800" cy="1478280"/>
          </a:xfrm>
          <a:prstGeom prst="roundRect">
            <a:avLst>
              <a:gd name="adj" fmla="val 9278"/>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5340" y="4061460"/>
            <a:ext cx="1981199" cy="287731"/>
          </a:xfrm>
          <a:prstGeom prst="rect">
            <a:avLst/>
          </a:prstGeom>
          <a:noFill/>
        </p:spPr>
        <p:txBody>
          <a:bodyPr wrap="none" anchor="t" lIns="0" rIns="0" tIns="0" bIns="0">
            <a:noAutofit/>
          </a:bodyPr>
          <a:lstStyle/>
          <a:p>
            <a:pPr>
              <a:lnSpc>
                <a:spcPts val="1785"/>
              </a:lnSpc>
              <a:spcBef>
                <a:spcPts val="0"/>
              </a:spcBef>
              <a:spcAft>
                <a:spcPts val="0"/>
              </a:spcAft>
              <a:defRPr sz="1439" b="1">
                <a:solidFill>
                  <a:srgbClr val="087F7B"/>
                </a:solidFill>
                <a:latin typeface="Arial"/>
              </a:defRPr>
            </a:pPr>
            <a:r>
              <a:t>VN</a:t>
            </a:r>
          </a:p>
        </p:txBody>
      </p:sp>
      <p:sp>
        <p:nvSpPr>
          <p:cNvPr id="19" name="TextBox 18"/>
          <p:cNvSpPr txBox="1"/>
          <p:nvPr/>
        </p:nvSpPr>
        <p:spPr>
          <a:xfrm>
            <a:off x="815340" y="4351020"/>
            <a:ext cx="1981199" cy="675132"/>
          </a:xfrm>
          <a:prstGeom prst="rect">
            <a:avLst/>
          </a:prstGeom>
          <a:noFill/>
        </p:spPr>
        <p:txBody>
          <a:bodyPr wrap="none" anchor="t" lIns="0" rIns="0" tIns="0" bIns="0">
            <a:noAutofit/>
          </a:bodyPr>
          <a:lstStyle/>
          <a:p>
            <a:pPr>
              <a:lnSpc>
                <a:spcPts val="4835"/>
              </a:lnSpc>
              <a:spcBef>
                <a:spcPts val="0"/>
              </a:spcBef>
              <a:spcAft>
                <a:spcPts val="0"/>
              </a:spcAft>
              <a:defRPr sz="3900" b="1">
                <a:solidFill>
                  <a:srgbClr val="17283F"/>
                </a:solidFill>
                <a:latin typeface="Arial"/>
              </a:defRPr>
            </a:pPr>
            <a:r>
              <a:t>16</a:t>
            </a:r>
          </a:p>
        </p:txBody>
      </p:sp>
      <p:sp>
        <p:nvSpPr>
          <p:cNvPr id="20" name="TextBox 19"/>
          <p:cNvSpPr txBox="1"/>
          <p:nvPr/>
        </p:nvSpPr>
        <p:spPr>
          <a:xfrm>
            <a:off x="815340" y="5021580"/>
            <a:ext cx="2209800" cy="268833"/>
          </a:xfrm>
          <a:prstGeom prst="rect">
            <a:avLst/>
          </a:prstGeom>
          <a:noFill/>
        </p:spPr>
        <p:txBody>
          <a:bodyPr wrap="none" anchor="t" lIns="0" rIns="0" tIns="0" bIns="0">
            <a:noAutofit/>
          </a:bodyPr>
          <a:lstStyle/>
          <a:p>
            <a:pPr>
              <a:lnSpc>
                <a:spcPts val="1636"/>
              </a:lnSpc>
              <a:spcBef>
                <a:spcPts val="0"/>
              </a:spcBef>
              <a:spcAft>
                <a:spcPts val="0"/>
              </a:spcAft>
              <a:defRPr sz="1320" b="0">
                <a:solidFill>
                  <a:srgbClr val="526278"/>
                </a:solidFill>
                <a:latin typeface="Arial"/>
              </a:defRPr>
            </a:pPr>
            <a:r>
              <a:t>Real prevista real</a:t>
            </a:r>
          </a:p>
        </p:txBody>
      </p:sp>
      <p:sp>
        <p:nvSpPr>
          <p:cNvPr id="21" name="Rounded Rectangle 20"/>
          <p:cNvSpPr/>
          <p:nvPr/>
        </p:nvSpPr>
        <p:spPr>
          <a:xfrm>
            <a:off x="3429000" y="3886200"/>
            <a:ext cx="2590800" cy="1478280"/>
          </a:xfrm>
          <a:prstGeom prst="roundRect">
            <a:avLst>
              <a:gd name="adj" fmla="val 9278"/>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34740" y="4061460"/>
            <a:ext cx="1981199" cy="287731"/>
          </a:xfrm>
          <a:prstGeom prst="rect">
            <a:avLst/>
          </a:prstGeom>
          <a:noFill/>
        </p:spPr>
        <p:txBody>
          <a:bodyPr wrap="none" anchor="t" lIns="0" rIns="0" tIns="0" bIns="0">
            <a:noAutofit/>
          </a:bodyPr>
          <a:lstStyle/>
          <a:p>
            <a:pPr>
              <a:lnSpc>
                <a:spcPts val="1785"/>
              </a:lnSpc>
              <a:spcBef>
                <a:spcPts val="0"/>
              </a:spcBef>
              <a:spcAft>
                <a:spcPts val="0"/>
              </a:spcAft>
              <a:defRPr sz="1439" b="1">
                <a:solidFill>
                  <a:srgbClr val="087F7B"/>
                </a:solidFill>
                <a:latin typeface="Arial"/>
              </a:defRPr>
            </a:pPr>
            <a:r>
              <a:t>FP</a:t>
            </a:r>
          </a:p>
        </p:txBody>
      </p:sp>
      <p:sp>
        <p:nvSpPr>
          <p:cNvPr id="23" name="TextBox 22"/>
          <p:cNvSpPr txBox="1"/>
          <p:nvPr/>
        </p:nvSpPr>
        <p:spPr>
          <a:xfrm>
            <a:off x="3634740" y="4351020"/>
            <a:ext cx="1981199" cy="675132"/>
          </a:xfrm>
          <a:prstGeom prst="rect">
            <a:avLst/>
          </a:prstGeom>
          <a:noFill/>
        </p:spPr>
        <p:txBody>
          <a:bodyPr wrap="none" anchor="t" lIns="0" rIns="0" tIns="0" bIns="0">
            <a:noAutofit/>
          </a:bodyPr>
          <a:lstStyle/>
          <a:p>
            <a:pPr>
              <a:lnSpc>
                <a:spcPts val="4835"/>
              </a:lnSpc>
              <a:spcBef>
                <a:spcPts val="0"/>
              </a:spcBef>
              <a:spcAft>
                <a:spcPts val="0"/>
              </a:spcAft>
              <a:defRPr sz="3900" b="1">
                <a:solidFill>
                  <a:srgbClr val="17283F"/>
                </a:solidFill>
                <a:latin typeface="Arial"/>
              </a:defRPr>
            </a:pPr>
            <a:r>
              <a:t>16</a:t>
            </a:r>
          </a:p>
        </p:txBody>
      </p:sp>
      <p:sp>
        <p:nvSpPr>
          <p:cNvPr id="24" name="TextBox 23"/>
          <p:cNvSpPr txBox="1"/>
          <p:nvPr/>
        </p:nvSpPr>
        <p:spPr>
          <a:xfrm>
            <a:off x="3634740" y="5021580"/>
            <a:ext cx="2209800" cy="268833"/>
          </a:xfrm>
          <a:prstGeom prst="rect">
            <a:avLst/>
          </a:prstGeom>
          <a:noFill/>
        </p:spPr>
        <p:txBody>
          <a:bodyPr wrap="none" anchor="t" lIns="0" rIns="0" tIns="0" bIns="0">
            <a:noAutofit/>
          </a:bodyPr>
          <a:lstStyle/>
          <a:p>
            <a:pPr>
              <a:lnSpc>
                <a:spcPts val="1636"/>
              </a:lnSpc>
              <a:spcBef>
                <a:spcPts val="0"/>
              </a:spcBef>
              <a:spcAft>
                <a:spcPts val="0"/>
              </a:spcAft>
              <a:defRPr sz="1320" b="0">
                <a:solidFill>
                  <a:srgbClr val="526278"/>
                </a:solidFill>
                <a:latin typeface="Arial"/>
              </a:defRPr>
            </a:pPr>
            <a:r>
              <a:t>Real prevista falsa</a:t>
            </a:r>
          </a:p>
        </p:txBody>
      </p:sp>
      <p:sp>
        <p:nvSpPr>
          <p:cNvPr id="25" name="TextBox 24"/>
          <p:cNvSpPr txBox="1"/>
          <p:nvPr/>
        </p:nvSpPr>
        <p:spPr>
          <a:xfrm>
            <a:off x="7109460" y="2171700"/>
            <a:ext cx="3810000" cy="1251508"/>
          </a:xfrm>
          <a:prstGeom prst="rect">
            <a:avLst/>
          </a:prstGeom>
          <a:noFill/>
        </p:spPr>
        <p:txBody>
          <a:bodyPr wrap="none" anchor="t" lIns="0" rIns="0" tIns="0" bIns="0">
            <a:noAutofit/>
          </a:bodyPr>
          <a:lstStyle/>
          <a:p>
            <a:pPr>
              <a:lnSpc>
                <a:spcPts val="9374"/>
              </a:lnSpc>
              <a:spcBef>
                <a:spcPts val="0"/>
              </a:spcBef>
              <a:spcAft>
                <a:spcPts val="0"/>
              </a:spcAft>
              <a:defRPr sz="7559" b="1">
                <a:solidFill>
                  <a:srgbClr val="087F7B"/>
                </a:solidFill>
                <a:latin typeface="Arial"/>
              </a:defRPr>
            </a:pPr>
            <a:r>
              <a:t>64</a:t>
            </a:r>
          </a:p>
        </p:txBody>
      </p:sp>
      <p:sp>
        <p:nvSpPr>
          <p:cNvPr id="26" name="TextBox 25"/>
          <p:cNvSpPr txBox="1"/>
          <p:nvPr/>
        </p:nvSpPr>
        <p:spPr>
          <a:xfrm>
            <a:off x="7132320" y="3573780"/>
            <a:ext cx="4190999" cy="1166469"/>
          </a:xfrm>
          <a:prstGeom prst="rect">
            <a:avLst/>
          </a:prstGeom>
          <a:noFill/>
        </p:spPr>
        <p:txBody>
          <a:bodyPr wrap="none" anchor="t" lIns="0" rIns="0" tIns="0" bIns="0">
            <a:noAutofit/>
          </a:bodyPr>
          <a:lstStyle/>
          <a:p>
            <a:pPr>
              <a:lnSpc>
                <a:spcPts val="2901"/>
              </a:lnSpc>
              <a:spcBef>
                <a:spcPts val="0"/>
              </a:spcBef>
              <a:spcAft>
                <a:spcPts val="0"/>
              </a:spcAft>
              <a:defRPr sz="2340" b="1">
                <a:solidFill>
                  <a:srgbClr val="17283F"/>
                </a:solidFill>
                <a:latin typeface="Arial"/>
              </a:defRPr>
            </a:pPr>
            <a:r>
              <a:t>Mesmas identidades.</a:t>
            </a:r>
          </a:p>
          <a:p>
            <a:pPr>
              <a:lnSpc>
                <a:spcPts val="2901"/>
              </a:lnSpc>
              <a:spcBef>
                <a:spcPts val="0"/>
              </a:spcBef>
              <a:spcAft>
                <a:spcPts val="0"/>
              </a:spcAft>
              <a:defRPr sz="2340" b="1">
                <a:solidFill>
                  <a:srgbClr val="17283F"/>
                </a:solidFill>
                <a:latin typeface="Arial"/>
              </a:defRPr>
            </a:pPr>
            <a:r>
              <a:t>Mesma ordem.</a:t>
            </a:r>
          </a:p>
          <a:p>
            <a:pPr>
              <a:lnSpc>
                <a:spcPts val="2901"/>
              </a:lnSpc>
              <a:spcBef>
                <a:spcPts val="0"/>
              </a:spcBef>
              <a:spcAft>
                <a:spcPts val="0"/>
              </a:spcAft>
              <a:defRPr sz="2340" b="1">
                <a:solidFill>
                  <a:srgbClr val="17283F"/>
                </a:solidFill>
                <a:latin typeface="Arial"/>
              </a:defRPr>
            </a:pPr>
            <a:r>
              <a:t>Todos os modelos.</a:t>
            </a:r>
          </a:p>
        </p:txBody>
      </p:sp>
      <p:sp>
        <p:nvSpPr>
          <p:cNvPr id="27" name="TextBox 26"/>
          <p:cNvSpPr txBox="1"/>
          <p:nvPr/>
        </p:nvSpPr>
        <p:spPr>
          <a:xfrm>
            <a:off x="640080" y="5730240"/>
            <a:ext cx="10896600" cy="316077"/>
          </a:xfrm>
          <a:prstGeom prst="rect">
            <a:avLst/>
          </a:prstGeom>
          <a:noFill/>
        </p:spPr>
        <p:txBody>
          <a:bodyPr wrap="none" anchor="t" lIns="0" rIns="0" tIns="0" bIns="0">
            <a:noAutofit/>
          </a:bodyPr>
          <a:lstStyle/>
          <a:p>
            <a:pPr>
              <a:lnSpc>
                <a:spcPts val="2008"/>
              </a:lnSpc>
              <a:spcBef>
                <a:spcPts val="0"/>
              </a:spcBef>
              <a:spcAft>
                <a:spcPts val="0"/>
              </a:spcAft>
              <a:defRPr sz="1620" b="0">
                <a:solidFill>
                  <a:srgbClr val="526278"/>
                </a:solidFill>
                <a:latin typeface="Arial"/>
              </a:defRPr>
            </a:pPr>
            <a:r>
              <a:t>O equilíbrio 16×4 vale para o modelo de referência, não para todos simultaneamente.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487680"/>
            <a:ext cx="68580" cy="175260"/>
          </a:xfrm>
          <a:prstGeom prst="roundRect">
            <a:avLst>
              <a:gd name="adj" fmla="val 20000"/>
            </a:avLst>
          </a:prstGeom>
          <a:solidFill>
            <a:srgbClr val="087F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5340" y="449580"/>
            <a:ext cx="10439400" cy="231038"/>
          </a:xfrm>
          <a:prstGeom prst="rect">
            <a:avLst/>
          </a:prstGeom>
          <a:noFill/>
        </p:spPr>
        <p:txBody>
          <a:bodyPr wrap="none" anchor="t" lIns="0" rIns="0" tIns="0" bIns="0">
            <a:noAutofit/>
          </a:bodyPr>
          <a:lstStyle/>
          <a:p>
            <a:pPr>
              <a:lnSpc>
                <a:spcPts val="1339"/>
              </a:lnSpc>
              <a:spcBef>
                <a:spcPts val="0"/>
              </a:spcBef>
              <a:spcAft>
                <a:spcPts val="0"/>
              </a:spcAft>
              <a:defRPr sz="1080" b="1">
                <a:solidFill>
                  <a:srgbClr val="087F7B"/>
                </a:solidFill>
                <a:latin typeface="Arial"/>
              </a:defRPr>
            </a:pPr>
            <a:r>
              <a:t>PROTOCOLO · NÃO É UM RESULTADO EXPERIMENTAL</a:t>
            </a:r>
          </a:p>
        </p:txBody>
      </p:sp>
      <p:sp>
        <p:nvSpPr>
          <p:cNvPr id="5" name="TextBox 4"/>
          <p:cNvSpPr txBox="1"/>
          <p:nvPr/>
        </p:nvSpPr>
        <p:spPr>
          <a:xfrm>
            <a:off x="609600" y="876300"/>
            <a:ext cx="10972800" cy="571195"/>
          </a:xfrm>
          <a:prstGeom prst="rect">
            <a:avLst/>
          </a:prstGeom>
          <a:noFill/>
        </p:spPr>
        <p:txBody>
          <a:bodyPr wrap="none" anchor="t" lIns="0" rIns="0" tIns="0" bIns="0">
            <a:noAutofit/>
          </a:bodyPr>
          <a:lstStyle/>
          <a:p>
            <a:pPr>
              <a:lnSpc>
                <a:spcPts val="4017"/>
              </a:lnSpc>
              <a:spcBef>
                <a:spcPts val="0"/>
              </a:spcBef>
              <a:spcAft>
                <a:spcPts val="0"/>
              </a:spcAft>
              <a:defRPr sz="3240" b="1">
                <a:solidFill>
                  <a:srgbClr val="17283F"/>
                </a:solidFill>
                <a:latin typeface="Arial"/>
              </a:defRPr>
            </a:pPr>
            <a:r>
              <a:t>Tarefa 2 · Comparar no domínio correto</a:t>
            </a:r>
          </a:p>
        </p:txBody>
      </p:sp>
      <p:cxnSp>
        <p:nvCxnSpPr>
          <p:cNvPr id="6" name="Connector 5"/>
          <p:cNvCxnSpPr/>
          <p:nvPr/>
        </p:nvCxnSpPr>
        <p:spPr>
          <a:xfrm>
            <a:off x="609600" y="6179820"/>
            <a:ext cx="10972800" cy="0"/>
          </a:xfrm>
          <a:prstGeom prst="line">
            <a:avLst/>
          </a:prstGeom>
          <a:ln w="15240">
            <a:solidFill>
              <a:srgbClr val="DDE4E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347460"/>
            <a:ext cx="10058400" cy="221589"/>
          </a:xfrm>
          <a:prstGeom prst="rect">
            <a:avLst/>
          </a:prstGeom>
          <a:noFill/>
        </p:spPr>
        <p:txBody>
          <a:bodyPr wrap="none" anchor="t" lIns="0" rIns="0" tIns="0" bIns="0">
            <a:noAutofit/>
          </a:bodyPr>
          <a:lstStyle/>
          <a:p>
            <a:pPr>
              <a:lnSpc>
                <a:spcPts val="1264"/>
              </a:lnSpc>
              <a:spcBef>
                <a:spcPts val="0"/>
              </a:spcBef>
              <a:spcAft>
                <a:spcPts val="0"/>
              </a:spcAft>
              <a:defRPr sz="1019" b="0">
                <a:solidFill>
                  <a:srgbClr val="526278"/>
                </a:solidFill>
                <a:latin typeface="Arial"/>
              </a:defRPr>
            </a:pPr>
            <a:r>
              <a:t>FONTES: B · tarefa 2; C · seleção e renderização.</a:t>
            </a:r>
          </a:p>
        </p:txBody>
      </p:sp>
      <p:sp>
        <p:nvSpPr>
          <p:cNvPr id="8" name="TextBox 7"/>
          <p:cNvSpPr txBox="1"/>
          <p:nvPr/>
        </p:nvSpPr>
        <p:spPr>
          <a:xfrm>
            <a:off x="11125200" y="6309360"/>
            <a:ext cx="457200" cy="278282"/>
          </a:xfrm>
          <a:prstGeom prst="rect">
            <a:avLst/>
          </a:prstGeom>
          <a:noFill/>
        </p:spPr>
        <p:txBody>
          <a:bodyPr wrap="none" anchor="t" lIns="0" rIns="0" tIns="0" bIns="0">
            <a:noAutofit/>
          </a:bodyPr>
          <a:lstStyle/>
          <a:p>
            <a:pPr>
              <a:lnSpc>
                <a:spcPts val="1711"/>
              </a:lnSpc>
              <a:spcBef>
                <a:spcPts val="0"/>
              </a:spcBef>
              <a:spcAft>
                <a:spcPts val="0"/>
              </a:spcAft>
              <a:defRPr sz="1380" b="1">
                <a:solidFill>
                  <a:srgbClr val="526278"/>
                </a:solidFill>
                <a:latin typeface="Arial"/>
              </a:defRPr>
            </a:pPr>
            <a:r>
              <a:t>09</a:t>
            </a:r>
          </a:p>
        </p:txBody>
      </p:sp>
      <p:sp>
        <p:nvSpPr>
          <p:cNvPr id="9" name="Rounded Rectangle 8"/>
          <p:cNvSpPr/>
          <p:nvPr/>
        </p:nvSpPr>
        <p:spPr>
          <a:xfrm>
            <a:off x="609600" y="2301240"/>
            <a:ext cx="5257800" cy="2781300"/>
          </a:xfrm>
          <a:prstGeom prst="roundRect">
            <a:avLst>
              <a:gd name="adj" fmla="val 5479"/>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491740"/>
            <a:ext cx="4831080" cy="240487"/>
          </a:xfrm>
          <a:prstGeom prst="rect">
            <a:avLst/>
          </a:prstGeom>
          <a:noFill/>
        </p:spPr>
        <p:txBody>
          <a:bodyPr wrap="none" anchor="t" lIns="0" rIns="0" tIns="0" bIns="0">
            <a:noAutofit/>
          </a:bodyPr>
          <a:lstStyle/>
          <a:p>
            <a:pPr>
              <a:lnSpc>
                <a:spcPts val="1413"/>
              </a:lnSpc>
              <a:spcBef>
                <a:spcPts val="0"/>
              </a:spcBef>
              <a:spcAft>
                <a:spcPts val="0"/>
              </a:spcAft>
              <a:defRPr sz="1140" b="1">
                <a:solidFill>
                  <a:srgbClr val="087F7B"/>
                </a:solidFill>
                <a:latin typeface="Arial"/>
              </a:defRPr>
            </a:pPr>
            <a:r>
              <a:t>ESPACIAL</a:t>
            </a:r>
          </a:p>
        </p:txBody>
      </p:sp>
      <p:sp>
        <p:nvSpPr>
          <p:cNvPr id="11" name="TextBox 10"/>
          <p:cNvSpPr txBox="1"/>
          <p:nvPr/>
        </p:nvSpPr>
        <p:spPr>
          <a:xfrm>
            <a:off x="822960" y="2849880"/>
            <a:ext cx="4831080" cy="429463"/>
          </a:xfrm>
          <a:prstGeom prst="rect">
            <a:avLst/>
          </a:prstGeom>
          <a:noFill/>
        </p:spPr>
        <p:txBody>
          <a:bodyPr wrap="none" anchor="t" lIns="0" rIns="0" tIns="0" bIns="0">
            <a:noAutofit/>
          </a:bodyPr>
          <a:lstStyle/>
          <a:p>
            <a:pPr>
              <a:lnSpc>
                <a:spcPts val="2901"/>
              </a:lnSpc>
              <a:spcBef>
                <a:spcPts val="0"/>
              </a:spcBef>
              <a:spcAft>
                <a:spcPts val="0"/>
              </a:spcAft>
              <a:defRPr sz="2340" b="1">
                <a:solidFill>
                  <a:srgbClr val="17283F"/>
                </a:solidFill>
                <a:latin typeface="Arial"/>
              </a:defRPr>
            </a:pPr>
            <a:r>
              <a:t>Onde na imagem?</a:t>
            </a:r>
          </a:p>
        </p:txBody>
      </p:sp>
      <p:sp>
        <p:nvSpPr>
          <p:cNvPr id="12" name="TextBox 11"/>
          <p:cNvSpPr txBox="1"/>
          <p:nvPr/>
        </p:nvSpPr>
        <p:spPr>
          <a:xfrm>
            <a:off x="822960" y="3398520"/>
            <a:ext cx="4831080" cy="590092"/>
          </a:xfrm>
          <a:prstGeom prst="rect">
            <a:avLst/>
          </a:prstGeom>
          <a:noFill/>
        </p:spPr>
        <p:txBody>
          <a:bodyPr wrap="none" anchor="t" lIns="0" rIns="0" tIns="0" bIns="0">
            <a:noAutofit/>
          </a:bodyPr>
          <a:lstStyle/>
          <a:p>
            <a:pPr>
              <a:lnSpc>
                <a:spcPts val="2083"/>
              </a:lnSpc>
              <a:spcBef>
                <a:spcPts val="0"/>
              </a:spcBef>
              <a:spcAft>
                <a:spcPts val="0"/>
              </a:spcAft>
              <a:defRPr sz="1680" b="0">
                <a:solidFill>
                  <a:srgbClr val="526278"/>
                </a:solidFill>
                <a:latin typeface="Arial"/>
              </a:defRPr>
            </a:pPr>
            <a:r>
              <a:t>Pixels da imagem RGB.</a:t>
            </a:r>
          </a:p>
          <a:p>
            <a:pPr>
              <a:lnSpc>
                <a:spcPts val="2083"/>
              </a:lnSpc>
              <a:spcBef>
                <a:spcPts val="0"/>
              </a:spcBef>
              <a:spcAft>
                <a:spcPts val="0"/>
              </a:spcAft>
              <a:defRPr sz="1680" b="0">
                <a:solidFill>
                  <a:srgbClr val="526278"/>
                </a:solidFill>
                <a:latin typeface="Arial"/>
              </a:defRPr>
            </a:pPr>
            <a:r>
              <a:t>Atribuição sobre a entrada espacial.</a:t>
            </a:r>
          </a:p>
        </p:txBody>
      </p:sp>
      <p:sp>
        <p:nvSpPr>
          <p:cNvPr id="13" name="Rounded Rectangle 12"/>
          <p:cNvSpPr/>
          <p:nvPr/>
        </p:nvSpPr>
        <p:spPr>
          <a:xfrm>
            <a:off x="6324600" y="2301240"/>
            <a:ext cx="5257800" cy="2781300"/>
          </a:xfrm>
          <a:prstGeom prst="roundRect">
            <a:avLst>
              <a:gd name="adj" fmla="val 5479"/>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2491740"/>
            <a:ext cx="4831080" cy="240487"/>
          </a:xfrm>
          <a:prstGeom prst="rect">
            <a:avLst/>
          </a:prstGeom>
          <a:noFill/>
        </p:spPr>
        <p:txBody>
          <a:bodyPr wrap="none" anchor="t" lIns="0" rIns="0" tIns="0" bIns="0">
            <a:noAutofit/>
          </a:bodyPr>
          <a:lstStyle/>
          <a:p>
            <a:pPr>
              <a:lnSpc>
                <a:spcPts val="1413"/>
              </a:lnSpc>
              <a:spcBef>
                <a:spcPts val="0"/>
              </a:spcBef>
              <a:spcAft>
                <a:spcPts val="0"/>
              </a:spcAft>
              <a:defRPr sz="1140" b="1">
                <a:solidFill>
                  <a:srgbClr val="087F7B"/>
                </a:solidFill>
                <a:latin typeface="Arial"/>
              </a:defRPr>
            </a:pPr>
            <a:r>
              <a:t>FREQUÊNCIA</a:t>
            </a:r>
          </a:p>
        </p:txBody>
      </p:sp>
      <p:sp>
        <p:nvSpPr>
          <p:cNvPr id="15" name="TextBox 14"/>
          <p:cNvSpPr txBox="1"/>
          <p:nvPr/>
        </p:nvSpPr>
        <p:spPr>
          <a:xfrm>
            <a:off x="6537960" y="2849880"/>
            <a:ext cx="4831080" cy="429463"/>
          </a:xfrm>
          <a:prstGeom prst="rect">
            <a:avLst/>
          </a:prstGeom>
          <a:noFill/>
        </p:spPr>
        <p:txBody>
          <a:bodyPr wrap="none" anchor="t" lIns="0" rIns="0" tIns="0" bIns="0">
            <a:noAutofit/>
          </a:bodyPr>
          <a:lstStyle/>
          <a:p>
            <a:pPr>
              <a:lnSpc>
                <a:spcPts val="2901"/>
              </a:lnSpc>
              <a:spcBef>
                <a:spcPts val="0"/>
              </a:spcBef>
              <a:spcAft>
                <a:spcPts val="0"/>
              </a:spcAft>
              <a:defRPr sz="2340" b="1">
                <a:solidFill>
                  <a:srgbClr val="17283F"/>
                </a:solidFill>
                <a:latin typeface="Arial"/>
              </a:defRPr>
            </a:pPr>
            <a:r>
              <a:t>Quais frequências?</a:t>
            </a:r>
          </a:p>
        </p:txBody>
      </p:sp>
      <p:sp>
        <p:nvSpPr>
          <p:cNvPr id="16" name="TextBox 15"/>
          <p:cNvSpPr txBox="1"/>
          <p:nvPr/>
        </p:nvSpPr>
        <p:spPr>
          <a:xfrm>
            <a:off x="6537960" y="3398520"/>
            <a:ext cx="4831080" cy="590092"/>
          </a:xfrm>
          <a:prstGeom prst="rect">
            <a:avLst/>
          </a:prstGeom>
          <a:noFill/>
        </p:spPr>
        <p:txBody>
          <a:bodyPr wrap="none" anchor="t" lIns="0" rIns="0" tIns="0" bIns="0">
            <a:noAutofit/>
          </a:bodyPr>
          <a:lstStyle/>
          <a:p>
            <a:pPr>
              <a:lnSpc>
                <a:spcPts val="2083"/>
              </a:lnSpc>
              <a:spcBef>
                <a:spcPts val="0"/>
              </a:spcBef>
              <a:spcAft>
                <a:spcPts val="0"/>
              </a:spcAft>
              <a:defRPr sz="1680" b="0">
                <a:solidFill>
                  <a:srgbClr val="526278"/>
                </a:solidFill>
                <a:latin typeface="Arial"/>
              </a:defRPr>
            </a:pPr>
            <a:r>
              <a:t>Coeficientes do espectro.</a:t>
            </a:r>
          </a:p>
          <a:p>
            <a:pPr>
              <a:lnSpc>
                <a:spcPts val="2083"/>
              </a:lnSpc>
              <a:spcBef>
                <a:spcPts val="0"/>
              </a:spcBef>
              <a:spcAft>
                <a:spcPts val="0"/>
              </a:spcAft>
              <a:defRPr sz="1680" b="0">
                <a:solidFill>
                  <a:srgbClr val="526278"/>
                </a:solidFill>
                <a:latin typeface="Arial"/>
              </a:defRPr>
            </a:pPr>
            <a:r>
              <a:t>Atribuição sobre a entrada espectral.</a:t>
            </a:r>
          </a:p>
        </p:txBody>
      </p:sp>
      <p:sp>
        <p:nvSpPr>
          <p:cNvPr id="17" name="TextBox 16"/>
          <p:cNvSpPr txBox="1"/>
          <p:nvPr/>
        </p:nvSpPr>
        <p:spPr>
          <a:xfrm>
            <a:off x="640080" y="5600700"/>
            <a:ext cx="10896600" cy="363321"/>
          </a:xfrm>
          <a:prstGeom prst="rect">
            <a:avLst/>
          </a:prstGeom>
          <a:noFill/>
        </p:spPr>
        <p:txBody>
          <a:bodyPr wrap="none" anchor="t" lIns="0" rIns="0" tIns="0" bIns="0">
            <a:noAutofit/>
          </a:bodyPr>
          <a:lstStyle/>
          <a:p>
            <a:pPr>
              <a:lnSpc>
                <a:spcPts val="2380"/>
              </a:lnSpc>
              <a:spcBef>
                <a:spcPts val="0"/>
              </a:spcBef>
              <a:spcAft>
                <a:spcPts val="0"/>
              </a:spcAft>
              <a:defRPr sz="1920" b="1">
                <a:solidFill>
                  <a:srgbClr val="087F7B"/>
                </a:solidFill>
                <a:latin typeface="Arial"/>
              </a:defRPr>
            </a:pPr>
            <a:r>
              <a:t>Um agrupamento no espectro não é uma localização no rosto.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487680"/>
            <a:ext cx="68580" cy="175260"/>
          </a:xfrm>
          <a:prstGeom prst="roundRect">
            <a:avLst>
              <a:gd name="adj" fmla="val 20000"/>
            </a:avLst>
          </a:prstGeom>
          <a:solidFill>
            <a:srgbClr val="087F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5340" y="449580"/>
            <a:ext cx="10439400" cy="231038"/>
          </a:xfrm>
          <a:prstGeom prst="rect">
            <a:avLst/>
          </a:prstGeom>
          <a:noFill/>
        </p:spPr>
        <p:txBody>
          <a:bodyPr wrap="none" anchor="t" lIns="0" rIns="0" tIns="0" bIns="0">
            <a:noAutofit/>
          </a:bodyPr>
          <a:lstStyle/>
          <a:p>
            <a:pPr>
              <a:lnSpc>
                <a:spcPts val="1339"/>
              </a:lnSpc>
              <a:spcBef>
                <a:spcPts val="0"/>
              </a:spcBef>
              <a:spcAft>
                <a:spcPts val="0"/>
              </a:spcAft>
              <a:defRPr sz="1080" b="1">
                <a:solidFill>
                  <a:srgbClr val="087F7B"/>
                </a:solidFill>
                <a:latin typeface="Arial"/>
              </a:defRPr>
            </a:pPr>
            <a:r>
              <a:t>PROTOCOLO · NÃO É UM RESULTADO EXPERIMENTAL</a:t>
            </a:r>
          </a:p>
        </p:txBody>
      </p:sp>
      <p:sp>
        <p:nvSpPr>
          <p:cNvPr id="5" name="TextBox 4"/>
          <p:cNvSpPr txBox="1"/>
          <p:nvPr/>
        </p:nvSpPr>
        <p:spPr>
          <a:xfrm>
            <a:off x="609600" y="876300"/>
            <a:ext cx="10972800" cy="571195"/>
          </a:xfrm>
          <a:prstGeom prst="rect">
            <a:avLst/>
          </a:prstGeom>
          <a:noFill/>
        </p:spPr>
        <p:txBody>
          <a:bodyPr wrap="none" anchor="t" lIns="0" rIns="0" tIns="0" bIns="0">
            <a:noAutofit/>
          </a:bodyPr>
          <a:lstStyle/>
          <a:p>
            <a:pPr>
              <a:lnSpc>
                <a:spcPts val="4017"/>
              </a:lnSpc>
              <a:spcBef>
                <a:spcPts val="0"/>
              </a:spcBef>
              <a:spcAft>
                <a:spcPts val="0"/>
              </a:spcAft>
              <a:defRPr sz="3240" b="1">
                <a:solidFill>
                  <a:srgbClr val="17283F"/>
                </a:solidFill>
                <a:latin typeface="Arial"/>
              </a:defRPr>
            </a:pPr>
            <a:r>
              <a:t>Tarefa 3 · Falhas do conjunto declarado</a:t>
            </a:r>
          </a:p>
        </p:txBody>
      </p:sp>
      <p:cxnSp>
        <p:nvCxnSpPr>
          <p:cNvPr id="6" name="Connector 5"/>
          <p:cNvCxnSpPr/>
          <p:nvPr/>
        </p:nvCxnSpPr>
        <p:spPr>
          <a:xfrm>
            <a:off x="609600" y="6179820"/>
            <a:ext cx="10972800" cy="0"/>
          </a:xfrm>
          <a:prstGeom prst="line">
            <a:avLst/>
          </a:prstGeom>
          <a:ln w="15240">
            <a:solidFill>
              <a:srgbClr val="DDE4E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347460"/>
            <a:ext cx="10058400" cy="221589"/>
          </a:xfrm>
          <a:prstGeom prst="rect">
            <a:avLst/>
          </a:prstGeom>
          <a:noFill/>
        </p:spPr>
        <p:txBody>
          <a:bodyPr wrap="none" anchor="t" lIns="0" rIns="0" tIns="0" bIns="0">
            <a:noAutofit/>
          </a:bodyPr>
          <a:lstStyle/>
          <a:p>
            <a:pPr>
              <a:lnSpc>
                <a:spcPts val="1264"/>
              </a:lnSpc>
              <a:spcBef>
                <a:spcPts val="0"/>
              </a:spcBef>
              <a:spcAft>
                <a:spcPts val="0"/>
              </a:spcAft>
              <a:defRPr sz="1019" b="0">
                <a:solidFill>
                  <a:srgbClr val="526278"/>
                </a:solidFill>
                <a:latin typeface="Arial"/>
              </a:defRPr>
            </a:pPr>
            <a:r>
              <a:t>FONTES: B · tarefa 3; C · controles e revisão humana.</a:t>
            </a:r>
          </a:p>
        </p:txBody>
      </p:sp>
      <p:sp>
        <p:nvSpPr>
          <p:cNvPr id="8" name="TextBox 7"/>
          <p:cNvSpPr txBox="1"/>
          <p:nvPr/>
        </p:nvSpPr>
        <p:spPr>
          <a:xfrm>
            <a:off x="11125200" y="6309360"/>
            <a:ext cx="457200" cy="278282"/>
          </a:xfrm>
          <a:prstGeom prst="rect">
            <a:avLst/>
          </a:prstGeom>
          <a:noFill/>
        </p:spPr>
        <p:txBody>
          <a:bodyPr wrap="none" anchor="t" lIns="0" rIns="0" tIns="0" bIns="0">
            <a:noAutofit/>
          </a:bodyPr>
          <a:lstStyle/>
          <a:p>
            <a:pPr>
              <a:lnSpc>
                <a:spcPts val="1711"/>
              </a:lnSpc>
              <a:spcBef>
                <a:spcPts val="0"/>
              </a:spcBef>
              <a:spcAft>
                <a:spcPts val="0"/>
              </a:spcAft>
              <a:defRPr sz="1380" b="1">
                <a:solidFill>
                  <a:srgbClr val="526278"/>
                </a:solidFill>
                <a:latin typeface="Arial"/>
              </a:defRPr>
            </a:pPr>
            <a:r>
              <a:t>10</a:t>
            </a:r>
          </a:p>
        </p:txBody>
      </p:sp>
      <p:sp>
        <p:nvSpPr>
          <p:cNvPr id="9" name="Rounded Rectangle 8"/>
          <p:cNvSpPr/>
          <p:nvPr/>
        </p:nvSpPr>
        <p:spPr>
          <a:xfrm>
            <a:off x="609600" y="2293620"/>
            <a:ext cx="3352800" cy="2903220"/>
          </a:xfrm>
          <a:prstGeom prst="roundRect">
            <a:avLst>
              <a:gd name="adj" fmla="val 5249"/>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484120"/>
            <a:ext cx="2926080" cy="240487"/>
          </a:xfrm>
          <a:prstGeom prst="rect">
            <a:avLst/>
          </a:prstGeom>
          <a:noFill/>
        </p:spPr>
        <p:txBody>
          <a:bodyPr wrap="none" anchor="t" lIns="0" rIns="0" tIns="0" bIns="0">
            <a:noAutofit/>
          </a:bodyPr>
          <a:lstStyle/>
          <a:p>
            <a:pPr>
              <a:lnSpc>
                <a:spcPts val="1413"/>
              </a:lnSpc>
              <a:spcBef>
                <a:spcPts val="0"/>
              </a:spcBef>
              <a:spcAft>
                <a:spcPts val="0"/>
              </a:spcAft>
              <a:defRPr sz="1140" b="1">
                <a:solidFill>
                  <a:srgbClr val="087F7B"/>
                </a:solidFill>
                <a:latin typeface="Arial"/>
              </a:defRPr>
            </a:pPr>
            <a:r>
              <a:t>01 · ALINHAMENTO</a:t>
            </a:r>
          </a:p>
        </p:txBody>
      </p:sp>
      <p:sp>
        <p:nvSpPr>
          <p:cNvPr id="11" name="TextBox 10"/>
          <p:cNvSpPr txBox="1"/>
          <p:nvPr/>
        </p:nvSpPr>
        <p:spPr>
          <a:xfrm>
            <a:off x="822960" y="2842260"/>
            <a:ext cx="2926080" cy="429463"/>
          </a:xfrm>
          <a:prstGeom prst="rect">
            <a:avLst/>
          </a:prstGeom>
          <a:noFill/>
        </p:spPr>
        <p:txBody>
          <a:bodyPr wrap="none" anchor="t" lIns="0" rIns="0" tIns="0" bIns="0">
            <a:noAutofit/>
          </a:bodyPr>
          <a:lstStyle/>
          <a:p>
            <a:pPr>
              <a:lnSpc>
                <a:spcPts val="2901"/>
              </a:lnSpc>
              <a:spcBef>
                <a:spcPts val="0"/>
              </a:spcBef>
              <a:spcAft>
                <a:spcPts val="0"/>
              </a:spcAft>
              <a:defRPr sz="2340" b="1">
                <a:solidFill>
                  <a:srgbClr val="17283F"/>
                </a:solidFill>
                <a:latin typeface="Arial"/>
              </a:defRPr>
            </a:pPr>
            <a:r>
              <a:t>Validar</a:t>
            </a:r>
          </a:p>
        </p:txBody>
      </p:sp>
      <p:sp>
        <p:nvSpPr>
          <p:cNvPr id="12" name="TextBox 11"/>
          <p:cNvSpPr txBox="1"/>
          <p:nvPr/>
        </p:nvSpPr>
        <p:spPr>
          <a:xfrm>
            <a:off x="822960" y="3390900"/>
            <a:ext cx="2926080" cy="590092"/>
          </a:xfrm>
          <a:prstGeom prst="rect">
            <a:avLst/>
          </a:prstGeom>
          <a:noFill/>
        </p:spPr>
        <p:txBody>
          <a:bodyPr wrap="none" anchor="t" lIns="0" rIns="0" tIns="0" bIns="0">
            <a:noAutofit/>
          </a:bodyPr>
          <a:lstStyle/>
          <a:p>
            <a:pPr>
              <a:lnSpc>
                <a:spcPts val="2083"/>
              </a:lnSpc>
              <a:spcBef>
                <a:spcPts val="0"/>
              </a:spcBef>
              <a:spcAft>
                <a:spcPts val="0"/>
              </a:spcAft>
              <a:defRPr sz="1680" b="0">
                <a:solidFill>
                  <a:srgbClr val="526278"/>
                </a:solidFill>
                <a:latin typeface="Arial"/>
              </a:defRPr>
            </a:pPr>
            <a:r>
              <a:t>Mesmas imagens, rótulos e</a:t>
            </a:r>
          </a:p>
          <a:p>
            <a:pPr>
              <a:lnSpc>
                <a:spcPts val="2083"/>
              </a:lnSpc>
              <a:spcBef>
                <a:spcPts val="0"/>
              </a:spcBef>
              <a:spcAft>
                <a:spcPts val="0"/>
              </a:spcAft>
              <a:defRPr sz="1680" b="0">
                <a:solidFill>
                  <a:srgbClr val="526278"/>
                </a:solidFill>
                <a:latin typeface="Arial"/>
              </a:defRPr>
            </a:pPr>
            <a:r>
              <a:t>predições completas.</a:t>
            </a:r>
          </a:p>
        </p:txBody>
      </p:sp>
      <p:sp>
        <p:nvSpPr>
          <p:cNvPr id="13" name="Rounded Rectangle 12"/>
          <p:cNvSpPr/>
          <p:nvPr/>
        </p:nvSpPr>
        <p:spPr>
          <a:xfrm>
            <a:off x="4419600" y="2293620"/>
            <a:ext cx="3352800" cy="2903220"/>
          </a:xfrm>
          <a:prstGeom prst="roundRect">
            <a:avLst>
              <a:gd name="adj" fmla="val 5249"/>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32960" y="2484120"/>
            <a:ext cx="2926080" cy="240487"/>
          </a:xfrm>
          <a:prstGeom prst="rect">
            <a:avLst/>
          </a:prstGeom>
          <a:noFill/>
        </p:spPr>
        <p:txBody>
          <a:bodyPr wrap="none" anchor="t" lIns="0" rIns="0" tIns="0" bIns="0">
            <a:noAutofit/>
          </a:bodyPr>
          <a:lstStyle/>
          <a:p>
            <a:pPr>
              <a:lnSpc>
                <a:spcPts val="1413"/>
              </a:lnSpc>
              <a:spcBef>
                <a:spcPts val="0"/>
              </a:spcBef>
              <a:spcAft>
                <a:spcPts val="0"/>
              </a:spcAft>
              <a:defRPr sz="1140" b="1">
                <a:solidFill>
                  <a:srgbClr val="087F7B"/>
                </a:solidFill>
                <a:latin typeface="Arial"/>
              </a:defRPr>
            </a:pPr>
            <a:r>
              <a:t>02 · INTERSEÇÃO</a:t>
            </a:r>
          </a:p>
        </p:txBody>
      </p:sp>
      <p:sp>
        <p:nvSpPr>
          <p:cNvPr id="15" name="TextBox 14"/>
          <p:cNvSpPr txBox="1"/>
          <p:nvPr/>
        </p:nvSpPr>
        <p:spPr>
          <a:xfrm>
            <a:off x="4632960" y="2842260"/>
            <a:ext cx="2926080" cy="429463"/>
          </a:xfrm>
          <a:prstGeom prst="rect">
            <a:avLst/>
          </a:prstGeom>
          <a:noFill/>
        </p:spPr>
        <p:txBody>
          <a:bodyPr wrap="none" anchor="t" lIns="0" rIns="0" tIns="0" bIns="0">
            <a:noAutofit/>
          </a:bodyPr>
          <a:lstStyle/>
          <a:p>
            <a:pPr>
              <a:lnSpc>
                <a:spcPts val="2901"/>
              </a:lnSpc>
              <a:spcBef>
                <a:spcPts val="0"/>
              </a:spcBef>
              <a:spcAft>
                <a:spcPts val="0"/>
              </a:spcAft>
              <a:defRPr sz="2340" b="1">
                <a:solidFill>
                  <a:srgbClr val="17283F"/>
                </a:solidFill>
                <a:latin typeface="Arial"/>
              </a:defRPr>
            </a:pPr>
            <a:r>
              <a:t>Encontrar</a:t>
            </a:r>
          </a:p>
        </p:txBody>
      </p:sp>
      <p:sp>
        <p:nvSpPr>
          <p:cNvPr id="16" name="TextBox 15"/>
          <p:cNvSpPr txBox="1"/>
          <p:nvPr/>
        </p:nvSpPr>
        <p:spPr>
          <a:xfrm>
            <a:off x="4632960" y="3390900"/>
            <a:ext cx="2926080" cy="590092"/>
          </a:xfrm>
          <a:prstGeom prst="rect">
            <a:avLst/>
          </a:prstGeom>
          <a:noFill/>
        </p:spPr>
        <p:txBody>
          <a:bodyPr wrap="none" anchor="t" lIns="0" rIns="0" tIns="0" bIns="0">
            <a:noAutofit/>
          </a:bodyPr>
          <a:lstStyle/>
          <a:p>
            <a:pPr>
              <a:lnSpc>
                <a:spcPts val="2083"/>
              </a:lnSpc>
              <a:spcBef>
                <a:spcPts val="0"/>
              </a:spcBef>
              <a:spcAft>
                <a:spcPts val="0"/>
              </a:spcAft>
              <a:defRPr sz="1680" b="0">
                <a:solidFill>
                  <a:srgbClr val="526278"/>
                </a:solidFill>
                <a:latin typeface="Arial"/>
              </a:defRPr>
            </a:pPr>
            <a:r>
              <a:t>Imagens erradas por todos os</a:t>
            </a:r>
          </a:p>
          <a:p>
            <a:pPr>
              <a:lnSpc>
                <a:spcPts val="2083"/>
              </a:lnSpc>
              <a:spcBef>
                <a:spcPts val="0"/>
              </a:spcBef>
              <a:spcAft>
                <a:spcPts val="0"/>
              </a:spcAft>
              <a:defRPr sz="1680" b="0">
                <a:solidFill>
                  <a:srgbClr val="526278"/>
                </a:solidFill>
                <a:latin typeface="Arial"/>
              </a:defRPr>
            </a:pPr>
            <a:r>
              <a:t>checkpoints declarados.</a:t>
            </a:r>
          </a:p>
        </p:txBody>
      </p:sp>
      <p:sp>
        <p:nvSpPr>
          <p:cNvPr id="17" name="Rounded Rectangle 16"/>
          <p:cNvSpPr/>
          <p:nvPr/>
        </p:nvSpPr>
        <p:spPr>
          <a:xfrm>
            <a:off x="8229600" y="2293620"/>
            <a:ext cx="3352800" cy="2903220"/>
          </a:xfrm>
          <a:prstGeom prst="roundRect">
            <a:avLst>
              <a:gd name="adj" fmla="val 5249"/>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42960" y="2484120"/>
            <a:ext cx="2926080" cy="240487"/>
          </a:xfrm>
          <a:prstGeom prst="rect">
            <a:avLst/>
          </a:prstGeom>
          <a:noFill/>
        </p:spPr>
        <p:txBody>
          <a:bodyPr wrap="none" anchor="t" lIns="0" rIns="0" tIns="0" bIns="0">
            <a:noAutofit/>
          </a:bodyPr>
          <a:lstStyle/>
          <a:p>
            <a:pPr>
              <a:lnSpc>
                <a:spcPts val="1413"/>
              </a:lnSpc>
              <a:spcBef>
                <a:spcPts val="0"/>
              </a:spcBef>
              <a:spcAft>
                <a:spcPts val="0"/>
              </a:spcAft>
              <a:defRPr sz="1140" b="1">
                <a:solidFill>
                  <a:srgbClr val="087F7B"/>
                </a:solidFill>
                <a:latin typeface="Arial"/>
              </a:defRPr>
            </a:pPr>
            <a:r>
              <a:t>03 · CONTROLE</a:t>
            </a:r>
          </a:p>
        </p:txBody>
      </p:sp>
      <p:sp>
        <p:nvSpPr>
          <p:cNvPr id="19" name="TextBox 18"/>
          <p:cNvSpPr txBox="1"/>
          <p:nvPr/>
        </p:nvSpPr>
        <p:spPr>
          <a:xfrm>
            <a:off x="8442960" y="2842260"/>
            <a:ext cx="2926080" cy="429463"/>
          </a:xfrm>
          <a:prstGeom prst="rect">
            <a:avLst/>
          </a:prstGeom>
          <a:noFill/>
        </p:spPr>
        <p:txBody>
          <a:bodyPr wrap="none" anchor="t" lIns="0" rIns="0" tIns="0" bIns="0">
            <a:noAutofit/>
          </a:bodyPr>
          <a:lstStyle/>
          <a:p>
            <a:pPr>
              <a:lnSpc>
                <a:spcPts val="2901"/>
              </a:lnSpc>
              <a:spcBef>
                <a:spcPts val="0"/>
              </a:spcBef>
              <a:spcAft>
                <a:spcPts val="0"/>
              </a:spcAft>
              <a:defRPr sz="2340" b="1">
                <a:solidFill>
                  <a:srgbClr val="17283F"/>
                </a:solidFill>
                <a:latin typeface="Arial"/>
              </a:defRPr>
            </a:pPr>
            <a:r>
              <a:t>Comparar</a:t>
            </a:r>
          </a:p>
        </p:txBody>
      </p:sp>
      <p:sp>
        <p:nvSpPr>
          <p:cNvPr id="20" name="TextBox 19"/>
          <p:cNvSpPr txBox="1"/>
          <p:nvPr/>
        </p:nvSpPr>
        <p:spPr>
          <a:xfrm>
            <a:off x="8442960" y="3390900"/>
            <a:ext cx="2926080" cy="590092"/>
          </a:xfrm>
          <a:prstGeom prst="rect">
            <a:avLst/>
          </a:prstGeom>
          <a:noFill/>
        </p:spPr>
        <p:txBody>
          <a:bodyPr wrap="none" anchor="t" lIns="0" rIns="0" tIns="0" bIns="0">
            <a:noAutofit/>
          </a:bodyPr>
          <a:lstStyle/>
          <a:p>
            <a:pPr>
              <a:lnSpc>
                <a:spcPts val="2083"/>
              </a:lnSpc>
              <a:spcBef>
                <a:spcPts val="0"/>
              </a:spcBef>
              <a:spcAft>
                <a:spcPts val="0"/>
              </a:spcAft>
              <a:defRPr sz="1680" b="0">
                <a:solidFill>
                  <a:srgbClr val="526278"/>
                </a:solidFill>
                <a:latin typeface="Arial"/>
              </a:defRPr>
            </a:pPr>
            <a:r>
              <a:t>Revisão humana cega e</a:t>
            </a:r>
          </a:p>
          <a:p>
            <a:pPr>
              <a:lnSpc>
                <a:spcPts val="2083"/>
              </a:lnSpc>
              <a:spcBef>
                <a:spcPts val="0"/>
              </a:spcBef>
              <a:spcAft>
                <a:spcPts val="0"/>
              </a:spcAft>
              <a:defRPr sz="1680" b="0">
                <a:solidFill>
                  <a:srgbClr val="526278"/>
                </a:solidFill>
                <a:latin typeface="Arial"/>
              </a:defRPr>
            </a:pPr>
            <a:r>
              <a:t>controles pareados por rótulo.</a:t>
            </a:r>
          </a:p>
        </p:txBody>
      </p:sp>
      <p:sp>
        <p:nvSpPr>
          <p:cNvPr id="21" name="TextBox 20"/>
          <p:cNvSpPr txBox="1"/>
          <p:nvPr/>
        </p:nvSpPr>
        <p:spPr>
          <a:xfrm>
            <a:off x="640080" y="5638800"/>
            <a:ext cx="10896600" cy="372770"/>
          </a:xfrm>
          <a:prstGeom prst="rect">
            <a:avLst/>
          </a:prstGeom>
          <a:noFill/>
        </p:spPr>
        <p:txBody>
          <a:bodyPr wrap="none" anchor="t" lIns="0" rIns="0" tIns="0" bIns="0">
            <a:noAutofit/>
          </a:bodyPr>
          <a:lstStyle/>
          <a:p>
            <a:pPr>
              <a:lnSpc>
                <a:spcPts val="2455"/>
              </a:lnSpc>
              <a:spcBef>
                <a:spcPts val="0"/>
              </a:spcBef>
              <a:spcAft>
                <a:spcPts val="0"/>
              </a:spcAft>
              <a:defRPr sz="1980" b="1">
                <a:solidFill>
                  <a:srgbClr val="087F7B"/>
                </a:solidFill>
                <a:latin typeface="Arial"/>
              </a:defRPr>
            </a:pPr>
            <a:r>
              <a:t>Falha compartilhada não significa vulnerabilidade universal.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487680"/>
            <a:ext cx="68580" cy="175260"/>
          </a:xfrm>
          <a:prstGeom prst="roundRect">
            <a:avLst>
              <a:gd name="adj" fmla="val 20000"/>
            </a:avLst>
          </a:prstGeom>
          <a:solidFill>
            <a:srgbClr val="087F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5340" y="449580"/>
            <a:ext cx="10439400" cy="231038"/>
          </a:xfrm>
          <a:prstGeom prst="rect">
            <a:avLst/>
          </a:prstGeom>
          <a:noFill/>
        </p:spPr>
        <p:txBody>
          <a:bodyPr wrap="none" anchor="t" lIns="0" rIns="0" tIns="0" bIns="0">
            <a:noAutofit/>
          </a:bodyPr>
          <a:lstStyle/>
          <a:p>
            <a:pPr>
              <a:lnSpc>
                <a:spcPts val="1339"/>
              </a:lnSpc>
              <a:spcBef>
                <a:spcPts val="0"/>
              </a:spcBef>
              <a:spcAft>
                <a:spcPts val="0"/>
              </a:spcAft>
              <a:defRPr sz="1080" b="1">
                <a:solidFill>
                  <a:srgbClr val="087F7B"/>
                </a:solidFill>
                <a:latin typeface="Arial"/>
              </a:defRPr>
            </a:pPr>
            <a:r>
              <a:t>IMPLEMENTAÇÃO · SUPORTE DEPENDE DA ARQUITETURA</a:t>
            </a:r>
          </a:p>
        </p:txBody>
      </p:sp>
      <p:sp>
        <p:nvSpPr>
          <p:cNvPr id="5" name="TextBox 4"/>
          <p:cNvSpPr txBox="1"/>
          <p:nvPr/>
        </p:nvSpPr>
        <p:spPr>
          <a:xfrm>
            <a:off x="609600" y="876300"/>
            <a:ext cx="10972800" cy="571195"/>
          </a:xfrm>
          <a:prstGeom prst="rect">
            <a:avLst/>
          </a:prstGeom>
          <a:noFill/>
        </p:spPr>
        <p:txBody>
          <a:bodyPr wrap="none" anchor="t" lIns="0" rIns="0" tIns="0" bIns="0">
            <a:noAutofit/>
          </a:bodyPr>
          <a:lstStyle/>
          <a:p>
            <a:pPr>
              <a:lnSpc>
                <a:spcPts val="4017"/>
              </a:lnSpc>
              <a:spcBef>
                <a:spcPts val="0"/>
              </a:spcBef>
              <a:spcAft>
                <a:spcPts val="0"/>
              </a:spcAft>
              <a:defRPr sz="3240" b="1">
                <a:solidFill>
                  <a:srgbClr val="17283F"/>
                </a:solidFill>
                <a:latin typeface="Arial"/>
              </a:defRPr>
            </a:pPr>
            <a:r>
              <a:t>12 métodos, perguntas diferentes</a:t>
            </a:r>
          </a:p>
        </p:txBody>
      </p:sp>
      <p:cxnSp>
        <p:nvCxnSpPr>
          <p:cNvPr id="6" name="Connector 5"/>
          <p:cNvCxnSpPr/>
          <p:nvPr/>
        </p:nvCxnSpPr>
        <p:spPr>
          <a:xfrm>
            <a:off x="609600" y="6179820"/>
            <a:ext cx="10972800" cy="0"/>
          </a:xfrm>
          <a:prstGeom prst="line">
            <a:avLst/>
          </a:prstGeom>
          <a:ln w="15240">
            <a:solidFill>
              <a:srgbClr val="DDE4E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347460"/>
            <a:ext cx="10058400" cy="221589"/>
          </a:xfrm>
          <a:prstGeom prst="rect">
            <a:avLst/>
          </a:prstGeom>
          <a:noFill/>
        </p:spPr>
        <p:txBody>
          <a:bodyPr wrap="none" anchor="t" lIns="0" rIns="0" tIns="0" bIns="0">
            <a:noAutofit/>
          </a:bodyPr>
          <a:lstStyle/>
          <a:p>
            <a:pPr>
              <a:lnSpc>
                <a:spcPts val="1264"/>
              </a:lnSpc>
              <a:spcBef>
                <a:spcPts val="0"/>
              </a:spcBef>
              <a:spcAft>
                <a:spcPts val="0"/>
              </a:spcAft>
              <a:defRPr sz="1019" b="0">
                <a:solidFill>
                  <a:srgbClr val="526278"/>
                </a:solidFill>
                <a:latin typeface="Arial"/>
              </a:defRPr>
            </a:pPr>
            <a:r>
              <a:t>FONTES: B · tabela de métodos; D–G · base metodológica.</a:t>
            </a:r>
          </a:p>
        </p:txBody>
      </p:sp>
      <p:sp>
        <p:nvSpPr>
          <p:cNvPr id="8" name="TextBox 7"/>
          <p:cNvSpPr txBox="1"/>
          <p:nvPr/>
        </p:nvSpPr>
        <p:spPr>
          <a:xfrm>
            <a:off x="11125200" y="6309360"/>
            <a:ext cx="457200" cy="278282"/>
          </a:xfrm>
          <a:prstGeom prst="rect">
            <a:avLst/>
          </a:prstGeom>
          <a:noFill/>
        </p:spPr>
        <p:txBody>
          <a:bodyPr wrap="none" anchor="t" lIns="0" rIns="0" tIns="0" bIns="0">
            <a:noAutofit/>
          </a:bodyPr>
          <a:lstStyle/>
          <a:p>
            <a:pPr>
              <a:lnSpc>
                <a:spcPts val="1711"/>
              </a:lnSpc>
              <a:spcBef>
                <a:spcPts val="0"/>
              </a:spcBef>
              <a:spcAft>
                <a:spcPts val="0"/>
              </a:spcAft>
              <a:defRPr sz="1380" b="1">
                <a:solidFill>
                  <a:srgbClr val="526278"/>
                </a:solidFill>
                <a:latin typeface="Arial"/>
              </a:defRPr>
            </a:pPr>
            <a:r>
              <a:t>11</a:t>
            </a:r>
          </a:p>
        </p:txBody>
      </p:sp>
      <p:sp>
        <p:nvSpPr>
          <p:cNvPr id="9" name="Rounded Rectangle 8"/>
          <p:cNvSpPr/>
          <p:nvPr/>
        </p:nvSpPr>
        <p:spPr>
          <a:xfrm>
            <a:off x="609600" y="2141220"/>
            <a:ext cx="3352800" cy="3185160"/>
          </a:xfrm>
          <a:prstGeom prst="roundRect">
            <a:avLst>
              <a:gd name="adj" fmla="val 478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7720" y="2369820"/>
            <a:ext cx="2956560" cy="231038"/>
          </a:xfrm>
          <a:prstGeom prst="rect">
            <a:avLst/>
          </a:prstGeom>
          <a:noFill/>
        </p:spPr>
        <p:txBody>
          <a:bodyPr wrap="none" anchor="t" lIns="0" rIns="0" tIns="0" bIns="0">
            <a:noAutofit/>
          </a:bodyPr>
          <a:lstStyle/>
          <a:p>
            <a:pPr>
              <a:lnSpc>
                <a:spcPts val="1339"/>
              </a:lnSpc>
              <a:spcBef>
                <a:spcPts val="0"/>
              </a:spcBef>
              <a:spcAft>
                <a:spcPts val="0"/>
              </a:spcAft>
              <a:defRPr sz="1080" b="1">
                <a:solidFill>
                  <a:srgbClr val="087F7B"/>
                </a:solidFill>
                <a:latin typeface="Arial"/>
              </a:defRPr>
            </a:pPr>
            <a:r>
              <a:t>GRADIENTES / LOCALIZAÇÃO</a:t>
            </a:r>
          </a:p>
        </p:txBody>
      </p:sp>
      <p:sp>
        <p:nvSpPr>
          <p:cNvPr id="11" name="TextBox 10"/>
          <p:cNvSpPr txBox="1"/>
          <p:nvPr/>
        </p:nvSpPr>
        <p:spPr>
          <a:xfrm>
            <a:off x="807720" y="2811780"/>
            <a:ext cx="2956560" cy="1943709"/>
          </a:xfrm>
          <a:prstGeom prst="rect">
            <a:avLst/>
          </a:prstGeom>
          <a:noFill/>
        </p:spPr>
        <p:txBody>
          <a:bodyPr wrap="none" anchor="t" lIns="0" rIns="0" tIns="0" bIns="0">
            <a:noAutofit/>
          </a:bodyPr>
          <a:lstStyle/>
          <a:p>
            <a:pPr>
              <a:lnSpc>
                <a:spcPts val="2470"/>
              </a:lnSpc>
              <a:spcBef>
                <a:spcPts val="0"/>
              </a:spcBef>
              <a:spcAft>
                <a:spcPts val="0"/>
              </a:spcAft>
              <a:defRPr sz="1739" b="0">
                <a:solidFill>
                  <a:srgbClr val="17283F"/>
                </a:solidFill>
                <a:latin typeface="Arial"/>
              </a:defRPr>
            </a:pPr>
            <a:r>
              <a:t>Grad-CAM</a:t>
            </a:r>
          </a:p>
          <a:p>
            <a:pPr>
              <a:lnSpc>
                <a:spcPts val="2470"/>
              </a:lnSpc>
              <a:spcBef>
                <a:spcPts val="0"/>
              </a:spcBef>
              <a:spcAft>
                <a:spcPts val="0"/>
              </a:spcAft>
              <a:defRPr sz="1739" b="0">
                <a:solidFill>
                  <a:srgbClr val="17283F"/>
                </a:solidFill>
                <a:latin typeface="Arial"/>
              </a:defRPr>
            </a:pPr>
            <a:r>
              <a:t>Integrated Gradients</a:t>
            </a:r>
          </a:p>
          <a:p>
            <a:pPr>
              <a:lnSpc>
                <a:spcPts val="2470"/>
              </a:lnSpc>
              <a:spcBef>
                <a:spcPts val="0"/>
              </a:spcBef>
              <a:spcAft>
                <a:spcPts val="0"/>
              </a:spcAft>
              <a:defRPr sz="1739" b="0">
                <a:solidFill>
                  <a:srgbClr val="17283F"/>
                </a:solidFill>
                <a:latin typeface="Arial"/>
              </a:defRPr>
            </a:pPr>
            <a:r>
              <a:t>Gradient SHAP</a:t>
            </a:r>
          </a:p>
          <a:p>
            <a:pPr>
              <a:lnSpc>
                <a:spcPts val="2470"/>
              </a:lnSpc>
              <a:spcBef>
                <a:spcPts val="0"/>
              </a:spcBef>
              <a:spcAft>
                <a:spcPts val="0"/>
              </a:spcAft>
              <a:defRPr sz="1739" b="0">
                <a:solidFill>
                  <a:srgbClr val="17283F"/>
                </a:solidFill>
                <a:latin typeface="Arial"/>
              </a:defRPr>
            </a:pPr>
            <a:r>
              <a:t>Saliency</a:t>
            </a:r>
          </a:p>
          <a:p>
            <a:pPr>
              <a:lnSpc>
                <a:spcPts val="2470"/>
              </a:lnSpc>
              <a:spcBef>
                <a:spcPts val="0"/>
              </a:spcBef>
              <a:spcAft>
                <a:spcPts val="0"/>
              </a:spcAft>
              <a:defRPr sz="1739" b="0">
                <a:solidFill>
                  <a:srgbClr val="17283F"/>
                </a:solidFill>
                <a:latin typeface="Arial"/>
              </a:defRPr>
            </a:pPr>
            <a:r>
              <a:t>Input × Gradient</a:t>
            </a:r>
          </a:p>
          <a:p>
            <a:pPr>
              <a:lnSpc>
                <a:spcPts val="2470"/>
              </a:lnSpc>
              <a:spcBef>
                <a:spcPts val="0"/>
              </a:spcBef>
              <a:spcAft>
                <a:spcPts val="0"/>
              </a:spcAft>
              <a:defRPr sz="1739" b="0">
                <a:solidFill>
                  <a:srgbClr val="17283F"/>
                </a:solidFill>
                <a:latin typeface="Arial"/>
              </a:defRPr>
            </a:pPr>
            <a:r>
              <a:t>SmoothGrad</a:t>
            </a:r>
          </a:p>
        </p:txBody>
      </p:sp>
      <p:sp>
        <p:nvSpPr>
          <p:cNvPr id="12" name="Rounded Rectangle 11"/>
          <p:cNvSpPr/>
          <p:nvPr/>
        </p:nvSpPr>
        <p:spPr>
          <a:xfrm>
            <a:off x="4419600" y="2141220"/>
            <a:ext cx="3352800" cy="3185160"/>
          </a:xfrm>
          <a:prstGeom prst="roundRect">
            <a:avLst>
              <a:gd name="adj" fmla="val 478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369820"/>
            <a:ext cx="2956560" cy="231038"/>
          </a:xfrm>
          <a:prstGeom prst="rect">
            <a:avLst/>
          </a:prstGeom>
          <a:noFill/>
        </p:spPr>
        <p:txBody>
          <a:bodyPr wrap="none" anchor="t" lIns="0" rIns="0" tIns="0" bIns="0">
            <a:noAutofit/>
          </a:bodyPr>
          <a:lstStyle/>
          <a:p>
            <a:pPr>
              <a:lnSpc>
                <a:spcPts val="1339"/>
              </a:lnSpc>
              <a:spcBef>
                <a:spcPts val="0"/>
              </a:spcBef>
              <a:spcAft>
                <a:spcPts val="0"/>
              </a:spcAft>
              <a:defRPr sz="1080" b="1">
                <a:solidFill>
                  <a:srgbClr val="087F7B"/>
                </a:solidFill>
                <a:latin typeface="Arial"/>
              </a:defRPr>
            </a:pPr>
            <a:r>
              <a:t>PERTURBAÇÃO / MODELOS LOCAIS</a:t>
            </a:r>
          </a:p>
        </p:txBody>
      </p:sp>
      <p:sp>
        <p:nvSpPr>
          <p:cNvPr id="14" name="TextBox 13"/>
          <p:cNvSpPr txBox="1"/>
          <p:nvPr/>
        </p:nvSpPr>
        <p:spPr>
          <a:xfrm>
            <a:off x="4617720" y="2811780"/>
            <a:ext cx="2956560" cy="1629917"/>
          </a:xfrm>
          <a:prstGeom prst="rect">
            <a:avLst/>
          </a:prstGeom>
          <a:noFill/>
        </p:spPr>
        <p:txBody>
          <a:bodyPr wrap="none" anchor="t" lIns="0" rIns="0" tIns="0" bIns="0">
            <a:noAutofit/>
          </a:bodyPr>
          <a:lstStyle/>
          <a:p>
            <a:pPr>
              <a:lnSpc>
                <a:spcPts val="2470"/>
              </a:lnSpc>
              <a:spcBef>
                <a:spcPts val="0"/>
              </a:spcBef>
              <a:spcAft>
                <a:spcPts val="0"/>
              </a:spcAft>
              <a:defRPr sz="1739" b="0">
                <a:solidFill>
                  <a:srgbClr val="17283F"/>
                </a:solidFill>
                <a:latin typeface="Arial"/>
              </a:defRPr>
            </a:pPr>
            <a:r>
              <a:t>Kernel SHAP</a:t>
            </a:r>
          </a:p>
          <a:p>
            <a:pPr>
              <a:lnSpc>
                <a:spcPts val="2470"/>
              </a:lnSpc>
              <a:spcBef>
                <a:spcPts val="0"/>
              </a:spcBef>
              <a:spcAft>
                <a:spcPts val="0"/>
              </a:spcAft>
              <a:defRPr sz="1739" b="0">
                <a:solidFill>
                  <a:srgbClr val="17283F"/>
                </a:solidFill>
                <a:latin typeface="Arial"/>
              </a:defRPr>
            </a:pPr>
            <a:r>
              <a:t>LIME</a:t>
            </a:r>
          </a:p>
          <a:p>
            <a:pPr>
              <a:lnSpc>
                <a:spcPts val="2470"/>
              </a:lnSpc>
              <a:spcBef>
                <a:spcPts val="0"/>
              </a:spcBef>
              <a:spcAft>
                <a:spcPts val="0"/>
              </a:spcAft>
              <a:defRPr sz="1739" b="0">
                <a:solidFill>
                  <a:srgbClr val="17283F"/>
                </a:solidFill>
                <a:latin typeface="Arial"/>
              </a:defRPr>
            </a:pPr>
            <a:r>
              <a:t>Occlusion</a:t>
            </a:r>
          </a:p>
          <a:p>
            <a:pPr>
              <a:lnSpc>
                <a:spcPts val="2470"/>
              </a:lnSpc>
              <a:spcBef>
                <a:spcPts val="0"/>
              </a:spcBef>
              <a:spcAft>
                <a:spcPts val="0"/>
              </a:spcAft>
              <a:defRPr sz="1739" b="0">
                <a:solidFill>
                  <a:srgbClr val="17283F"/>
                </a:solidFill>
                <a:latin typeface="Arial"/>
              </a:defRPr>
            </a:pPr>
            <a:r>
              <a:t>Feature Ablation</a:t>
            </a:r>
          </a:p>
          <a:p>
            <a:pPr>
              <a:lnSpc>
                <a:spcPts val="2470"/>
              </a:lnSpc>
              <a:spcBef>
                <a:spcPts val="0"/>
              </a:spcBef>
              <a:spcAft>
                <a:spcPts val="0"/>
              </a:spcAft>
              <a:defRPr sz="1739" b="0">
                <a:solidFill>
                  <a:srgbClr val="17283F"/>
                </a:solidFill>
                <a:latin typeface="Arial"/>
              </a:defRPr>
            </a:pPr>
            <a:r>
              <a:t>Shapley Value Sampling</a:t>
            </a:r>
          </a:p>
        </p:txBody>
      </p:sp>
      <p:sp>
        <p:nvSpPr>
          <p:cNvPr id="15" name="Rounded Rectangle 14"/>
          <p:cNvSpPr/>
          <p:nvPr/>
        </p:nvSpPr>
        <p:spPr>
          <a:xfrm>
            <a:off x="8229600" y="2141220"/>
            <a:ext cx="3352800" cy="3185160"/>
          </a:xfrm>
          <a:prstGeom prst="roundRect">
            <a:avLst>
              <a:gd name="adj" fmla="val 478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27720" y="2369820"/>
            <a:ext cx="2956560" cy="231038"/>
          </a:xfrm>
          <a:prstGeom prst="rect">
            <a:avLst/>
          </a:prstGeom>
          <a:noFill/>
        </p:spPr>
        <p:txBody>
          <a:bodyPr wrap="none" anchor="t" lIns="0" rIns="0" tIns="0" bIns="0">
            <a:noAutofit/>
          </a:bodyPr>
          <a:lstStyle/>
          <a:p>
            <a:pPr>
              <a:lnSpc>
                <a:spcPts val="1339"/>
              </a:lnSpc>
              <a:spcBef>
                <a:spcPts val="0"/>
              </a:spcBef>
              <a:spcAft>
                <a:spcPts val="0"/>
              </a:spcAft>
              <a:defRPr sz="1080" b="1">
                <a:solidFill>
                  <a:srgbClr val="087F7B"/>
                </a:solidFill>
                <a:latin typeface="Arial"/>
              </a:defRPr>
            </a:pPr>
            <a:r>
              <a:t>ATENÇÃO</a:t>
            </a:r>
          </a:p>
        </p:txBody>
      </p:sp>
      <p:sp>
        <p:nvSpPr>
          <p:cNvPr id="17" name="TextBox 16"/>
          <p:cNvSpPr txBox="1"/>
          <p:nvPr/>
        </p:nvSpPr>
        <p:spPr>
          <a:xfrm>
            <a:off x="8427720" y="2811780"/>
            <a:ext cx="2956560" cy="374751"/>
          </a:xfrm>
          <a:prstGeom prst="rect">
            <a:avLst/>
          </a:prstGeom>
          <a:noFill/>
        </p:spPr>
        <p:txBody>
          <a:bodyPr wrap="none" anchor="t" lIns="0" rIns="0" tIns="0" bIns="0">
            <a:noAutofit/>
          </a:bodyPr>
          <a:lstStyle/>
          <a:p>
            <a:pPr>
              <a:lnSpc>
                <a:spcPts val="2470"/>
              </a:lnSpc>
              <a:spcBef>
                <a:spcPts val="0"/>
              </a:spcBef>
              <a:spcAft>
                <a:spcPts val="0"/>
              </a:spcAft>
              <a:defRPr sz="1739" b="0">
                <a:solidFill>
                  <a:srgbClr val="17283F"/>
                </a:solidFill>
                <a:latin typeface="Arial"/>
              </a:defRPr>
            </a:pPr>
            <a:r>
              <a:t>Attention Rollout</a:t>
            </a:r>
          </a:p>
        </p:txBody>
      </p:sp>
      <p:sp>
        <p:nvSpPr>
          <p:cNvPr id="18" name="TextBox 17"/>
          <p:cNvSpPr txBox="1"/>
          <p:nvPr/>
        </p:nvSpPr>
        <p:spPr>
          <a:xfrm>
            <a:off x="8427720" y="3467100"/>
            <a:ext cx="2956560" cy="854659"/>
          </a:xfrm>
          <a:prstGeom prst="rect">
            <a:avLst/>
          </a:prstGeom>
          <a:noFill/>
        </p:spPr>
        <p:txBody>
          <a:bodyPr wrap="none" anchor="t" lIns="0" rIns="0" tIns="0" bIns="0">
            <a:noAutofit/>
          </a:bodyPr>
          <a:lstStyle/>
          <a:p>
            <a:pPr>
              <a:lnSpc>
                <a:spcPts val="2083"/>
              </a:lnSpc>
              <a:spcBef>
                <a:spcPts val="0"/>
              </a:spcBef>
              <a:spcAft>
                <a:spcPts val="0"/>
              </a:spcAft>
              <a:defRPr sz="1680" b="0">
                <a:solidFill>
                  <a:srgbClr val="526278"/>
                </a:solidFill>
                <a:latin typeface="Arial"/>
              </a:defRPr>
            </a:pPr>
            <a:r>
              <a:t>Agnóstico à classe.</a:t>
            </a:r>
          </a:p>
          <a:p>
            <a:pPr>
              <a:lnSpc>
                <a:spcPts val="2083"/>
              </a:lnSpc>
              <a:spcBef>
                <a:spcPts val="0"/>
              </a:spcBef>
              <a:spcAft>
                <a:spcPts val="0"/>
              </a:spcAft>
              <a:defRPr sz="1680" b="0">
                <a:solidFill>
                  <a:srgbClr val="526278"/>
                </a:solidFill>
                <a:latin typeface="Arial"/>
              </a:defRPr>
            </a:pPr>
            <a:r>
              <a:t>Não equivale a uma</a:t>
            </a:r>
          </a:p>
          <a:p>
            <a:pPr>
              <a:lnSpc>
                <a:spcPts val="2083"/>
              </a:lnSpc>
              <a:spcBef>
                <a:spcPts val="0"/>
              </a:spcBef>
              <a:spcAft>
                <a:spcPts val="0"/>
              </a:spcAft>
              <a:defRPr sz="1680" b="0">
                <a:solidFill>
                  <a:srgbClr val="526278"/>
                </a:solidFill>
                <a:latin typeface="Arial"/>
              </a:defRPr>
            </a:pPr>
            <a:r>
              <a:t>atribuição da decisão.</a:t>
            </a:r>
          </a:p>
        </p:txBody>
      </p:sp>
      <p:sp>
        <p:nvSpPr>
          <p:cNvPr id="19" name="TextBox 18"/>
          <p:cNvSpPr txBox="1"/>
          <p:nvPr/>
        </p:nvSpPr>
        <p:spPr>
          <a:xfrm>
            <a:off x="640080" y="5646420"/>
            <a:ext cx="10896600" cy="344424"/>
          </a:xfrm>
          <a:prstGeom prst="rect">
            <a:avLst/>
          </a:prstGeom>
          <a:noFill/>
        </p:spPr>
        <p:txBody>
          <a:bodyPr wrap="none" anchor="t" lIns="0" rIns="0" tIns="0" bIns="0">
            <a:noAutofit/>
          </a:bodyPr>
          <a:lstStyle/>
          <a:p>
            <a:pPr>
              <a:lnSpc>
                <a:spcPts val="2232"/>
              </a:lnSpc>
              <a:spcBef>
                <a:spcPts val="0"/>
              </a:spcBef>
              <a:spcAft>
                <a:spcPts val="0"/>
              </a:spcAft>
              <a:defRPr sz="1800" b="1">
                <a:solidFill>
                  <a:srgbClr val="087F7B"/>
                </a:solidFill>
                <a:latin typeface="Arial"/>
              </a:defRPr>
            </a:pPr>
            <a:r>
              <a:t>Alvo fixo nas atribuições de classe: logit falso menos logit real.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487680"/>
            <a:ext cx="68580" cy="175260"/>
          </a:xfrm>
          <a:prstGeom prst="roundRect">
            <a:avLst>
              <a:gd name="adj" fmla="val 20000"/>
            </a:avLst>
          </a:prstGeom>
          <a:solidFill>
            <a:srgbClr val="087F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5340" y="449580"/>
            <a:ext cx="10439400" cy="231038"/>
          </a:xfrm>
          <a:prstGeom prst="rect">
            <a:avLst/>
          </a:prstGeom>
          <a:noFill/>
        </p:spPr>
        <p:txBody>
          <a:bodyPr wrap="none" anchor="t" lIns="0" rIns="0" tIns="0" bIns="0">
            <a:noAutofit/>
          </a:bodyPr>
          <a:lstStyle/>
          <a:p>
            <a:pPr>
              <a:lnSpc>
                <a:spcPts val="1339"/>
              </a:lnSpc>
              <a:spcBef>
                <a:spcPts val="0"/>
              </a:spcBef>
              <a:spcAft>
                <a:spcPts val="0"/>
              </a:spcAft>
              <a:defRPr sz="1080" b="1">
                <a:solidFill>
                  <a:srgbClr val="087F7B"/>
                </a:solidFill>
                <a:latin typeface="Arial"/>
              </a:defRPr>
            </a:pPr>
            <a:r>
              <a:t>ESTADO DA ENTREGA</a:t>
            </a:r>
          </a:p>
        </p:txBody>
      </p:sp>
      <p:sp>
        <p:nvSpPr>
          <p:cNvPr id="5" name="TextBox 4"/>
          <p:cNvSpPr txBox="1"/>
          <p:nvPr/>
        </p:nvSpPr>
        <p:spPr>
          <a:xfrm>
            <a:off x="609600" y="876300"/>
            <a:ext cx="10972800" cy="571195"/>
          </a:xfrm>
          <a:prstGeom prst="rect">
            <a:avLst/>
          </a:prstGeom>
          <a:noFill/>
        </p:spPr>
        <p:txBody>
          <a:bodyPr wrap="none" anchor="t" lIns="0" rIns="0" tIns="0" bIns="0">
            <a:noAutofit/>
          </a:bodyPr>
          <a:lstStyle/>
          <a:p>
            <a:pPr>
              <a:lnSpc>
                <a:spcPts val="4017"/>
              </a:lnSpc>
              <a:spcBef>
                <a:spcPts val="0"/>
              </a:spcBef>
              <a:spcAft>
                <a:spcPts val="0"/>
              </a:spcAft>
              <a:defRPr sz="3240" b="1">
                <a:solidFill>
                  <a:srgbClr val="17283F"/>
                </a:solidFill>
                <a:latin typeface="Arial"/>
              </a:defRPr>
            </a:pPr>
            <a:r>
              <a:t>O que está pronto e o que falta medir</a:t>
            </a:r>
          </a:p>
        </p:txBody>
      </p:sp>
      <p:cxnSp>
        <p:nvCxnSpPr>
          <p:cNvPr id="6" name="Connector 5"/>
          <p:cNvCxnSpPr/>
          <p:nvPr/>
        </p:nvCxnSpPr>
        <p:spPr>
          <a:xfrm>
            <a:off x="609600" y="6179820"/>
            <a:ext cx="10972800" cy="0"/>
          </a:xfrm>
          <a:prstGeom prst="line">
            <a:avLst/>
          </a:prstGeom>
          <a:ln w="15240">
            <a:solidFill>
              <a:srgbClr val="DDE4E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347460"/>
            <a:ext cx="10058400" cy="221589"/>
          </a:xfrm>
          <a:prstGeom prst="rect">
            <a:avLst/>
          </a:prstGeom>
          <a:noFill/>
        </p:spPr>
        <p:txBody>
          <a:bodyPr wrap="none" anchor="t" lIns="0" rIns="0" tIns="0" bIns="0">
            <a:noAutofit/>
          </a:bodyPr>
          <a:lstStyle/>
          <a:p>
            <a:pPr>
              <a:lnSpc>
                <a:spcPts val="1264"/>
              </a:lnSpc>
              <a:spcBef>
                <a:spcPts val="0"/>
              </a:spcBef>
              <a:spcAft>
                <a:spcPts val="0"/>
              </a:spcAft>
              <a:defRPr sz="1019" b="0">
                <a:solidFill>
                  <a:srgbClr val="526278"/>
                </a:solidFill>
                <a:latin typeface="Arial"/>
              </a:defRPr>
            </a:pPr>
            <a:r>
              <a:t>FONTES: B · seção VI; C · execução e cobertura.</a:t>
            </a:r>
          </a:p>
        </p:txBody>
      </p:sp>
      <p:sp>
        <p:nvSpPr>
          <p:cNvPr id="8" name="TextBox 7"/>
          <p:cNvSpPr txBox="1"/>
          <p:nvPr/>
        </p:nvSpPr>
        <p:spPr>
          <a:xfrm>
            <a:off x="11125200" y="6309360"/>
            <a:ext cx="457200" cy="278282"/>
          </a:xfrm>
          <a:prstGeom prst="rect">
            <a:avLst/>
          </a:prstGeom>
          <a:noFill/>
        </p:spPr>
        <p:txBody>
          <a:bodyPr wrap="none" anchor="t" lIns="0" rIns="0" tIns="0" bIns="0">
            <a:noAutofit/>
          </a:bodyPr>
          <a:lstStyle/>
          <a:p>
            <a:pPr>
              <a:lnSpc>
                <a:spcPts val="1711"/>
              </a:lnSpc>
              <a:spcBef>
                <a:spcPts val="0"/>
              </a:spcBef>
              <a:spcAft>
                <a:spcPts val="0"/>
              </a:spcAft>
              <a:defRPr sz="1380" b="1">
                <a:solidFill>
                  <a:srgbClr val="526278"/>
                </a:solidFill>
                <a:latin typeface="Arial"/>
              </a:defRPr>
            </a:pPr>
            <a:r>
              <a:t>12</a:t>
            </a:r>
          </a:p>
        </p:txBody>
      </p:sp>
      <p:sp>
        <p:nvSpPr>
          <p:cNvPr id="9" name="Rounded Rectangle 8"/>
          <p:cNvSpPr/>
          <p:nvPr/>
        </p:nvSpPr>
        <p:spPr>
          <a:xfrm>
            <a:off x="609600" y="2141220"/>
            <a:ext cx="5257800" cy="3200400"/>
          </a:xfrm>
          <a:prstGeom prst="roundRect">
            <a:avLst>
              <a:gd name="adj" fmla="val 4761"/>
            </a:avLst>
          </a:prstGeom>
          <a:solidFill>
            <a:srgbClr val="E7F3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324600" y="2141220"/>
            <a:ext cx="5257800" cy="3200400"/>
          </a:xfrm>
          <a:prstGeom prst="roundRect">
            <a:avLst>
              <a:gd name="adj" fmla="val 4761"/>
            </a:avLst>
          </a:prstGeom>
          <a:solidFill>
            <a:srgbClr val="FFF1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5820" y="2407920"/>
            <a:ext cx="4724400" cy="259384"/>
          </a:xfrm>
          <a:prstGeom prst="rect">
            <a:avLst/>
          </a:prstGeom>
          <a:noFill/>
        </p:spPr>
        <p:txBody>
          <a:bodyPr wrap="none" anchor="t" lIns="0" rIns="0" tIns="0" bIns="0">
            <a:noAutofit/>
          </a:bodyPr>
          <a:lstStyle/>
          <a:p>
            <a:pPr>
              <a:lnSpc>
                <a:spcPts val="1562"/>
              </a:lnSpc>
              <a:spcBef>
                <a:spcPts val="0"/>
              </a:spcBef>
              <a:spcAft>
                <a:spcPts val="0"/>
              </a:spcAft>
              <a:defRPr sz="1260" b="1">
                <a:solidFill>
                  <a:srgbClr val="087F7B"/>
                </a:solidFill>
                <a:latin typeface="Arial"/>
              </a:defRPr>
            </a:pPr>
            <a:r>
              <a:t>IMPLEMENTADO</a:t>
            </a:r>
          </a:p>
        </p:txBody>
      </p:sp>
      <p:sp>
        <p:nvSpPr>
          <p:cNvPr id="12" name="TextBox 11"/>
          <p:cNvSpPr txBox="1"/>
          <p:nvPr/>
        </p:nvSpPr>
        <p:spPr>
          <a:xfrm>
            <a:off x="845820" y="2956560"/>
            <a:ext cx="4762500" cy="1610563"/>
          </a:xfrm>
          <a:prstGeom prst="rect">
            <a:avLst/>
          </a:prstGeom>
          <a:noFill/>
        </p:spPr>
        <p:txBody>
          <a:bodyPr wrap="none" anchor="t" lIns="0" rIns="0" tIns="0" bIns="0">
            <a:noAutofit/>
          </a:bodyPr>
          <a:lstStyle/>
          <a:p>
            <a:pPr>
              <a:lnSpc>
                <a:spcPts val="3050"/>
              </a:lnSpc>
              <a:spcBef>
                <a:spcPts val="0"/>
              </a:spcBef>
              <a:spcAft>
                <a:spcPts val="0"/>
              </a:spcAft>
              <a:defRPr sz="1859" b="0">
                <a:solidFill>
                  <a:srgbClr val="17283F"/>
                </a:solidFill>
                <a:latin typeface="Arial"/>
              </a:defRPr>
            </a:pPr>
            <a:r>
              <a:t>Amostras e seleção reproduzíveis</a:t>
            </a:r>
          </a:p>
          <a:p>
            <a:pPr>
              <a:lnSpc>
                <a:spcPts val="3050"/>
              </a:lnSpc>
              <a:spcBef>
                <a:spcPts val="0"/>
              </a:spcBef>
              <a:spcAft>
                <a:spcPts val="0"/>
              </a:spcAft>
              <a:defRPr sz="1859" b="0">
                <a:solidFill>
                  <a:srgbClr val="17283F"/>
                </a:solidFill>
                <a:latin typeface="Arial"/>
              </a:defRPr>
            </a:pPr>
            <a:r>
              <a:t>Métodos e exportação de mapas</a:t>
            </a:r>
          </a:p>
          <a:p>
            <a:pPr>
              <a:lnSpc>
                <a:spcPts val="3050"/>
              </a:lnSpc>
              <a:spcBef>
                <a:spcPts val="0"/>
              </a:spcBef>
              <a:spcAft>
                <a:spcPts val="0"/>
              </a:spcAft>
              <a:defRPr sz="1859" b="0">
                <a:solidFill>
                  <a:srgbClr val="17283F"/>
                </a:solidFill>
                <a:latin typeface="Arial"/>
              </a:defRPr>
            </a:pPr>
            <a:r>
              <a:t>Rastreabilidade e retomada</a:t>
            </a:r>
          </a:p>
          <a:p>
            <a:pPr>
              <a:lnSpc>
                <a:spcPts val="3050"/>
              </a:lnSpc>
              <a:spcBef>
                <a:spcPts val="0"/>
              </a:spcBef>
              <a:spcAft>
                <a:spcPts val="0"/>
              </a:spcAft>
              <a:defRPr sz="1859" b="0">
                <a:solidFill>
                  <a:srgbClr val="17283F"/>
                </a:solidFill>
                <a:latin typeface="Arial"/>
              </a:defRPr>
            </a:pPr>
            <a:r>
              <a:t>Controles e cobertura</a:t>
            </a:r>
          </a:p>
        </p:txBody>
      </p:sp>
      <p:sp>
        <p:nvSpPr>
          <p:cNvPr id="13" name="TextBox 12"/>
          <p:cNvSpPr txBox="1"/>
          <p:nvPr/>
        </p:nvSpPr>
        <p:spPr>
          <a:xfrm>
            <a:off x="6560820" y="2407920"/>
            <a:ext cx="4724400" cy="259384"/>
          </a:xfrm>
          <a:prstGeom prst="rect">
            <a:avLst/>
          </a:prstGeom>
          <a:noFill/>
        </p:spPr>
        <p:txBody>
          <a:bodyPr wrap="none" anchor="t" lIns="0" rIns="0" tIns="0" bIns="0">
            <a:noAutofit/>
          </a:bodyPr>
          <a:lstStyle/>
          <a:p>
            <a:pPr>
              <a:lnSpc>
                <a:spcPts val="1562"/>
              </a:lnSpc>
              <a:spcBef>
                <a:spcPts val="0"/>
              </a:spcBef>
              <a:spcAft>
                <a:spcPts val="0"/>
              </a:spcAft>
              <a:defRPr sz="1260" b="1">
                <a:solidFill>
                  <a:srgbClr val="936039"/>
                </a:solidFill>
                <a:latin typeface="Arial"/>
              </a:defRPr>
            </a:pPr>
            <a:r>
              <a:t>AINDA A MEDIR</a:t>
            </a:r>
          </a:p>
        </p:txBody>
      </p:sp>
      <p:sp>
        <p:nvSpPr>
          <p:cNvPr id="14" name="TextBox 13"/>
          <p:cNvSpPr txBox="1"/>
          <p:nvPr/>
        </p:nvSpPr>
        <p:spPr>
          <a:xfrm>
            <a:off x="6560820" y="2956560"/>
            <a:ext cx="4762500" cy="1610563"/>
          </a:xfrm>
          <a:prstGeom prst="rect">
            <a:avLst/>
          </a:prstGeom>
          <a:noFill/>
        </p:spPr>
        <p:txBody>
          <a:bodyPr wrap="none" anchor="t" lIns="0" rIns="0" tIns="0" bIns="0">
            <a:noAutofit/>
          </a:bodyPr>
          <a:lstStyle/>
          <a:p>
            <a:pPr>
              <a:lnSpc>
                <a:spcPts val="3050"/>
              </a:lnSpc>
              <a:spcBef>
                <a:spcPts val="0"/>
              </a:spcBef>
              <a:spcAft>
                <a:spcPts val="0"/>
              </a:spcAft>
              <a:defRPr sz="1859" b="0">
                <a:solidFill>
                  <a:srgbClr val="17283F"/>
                </a:solidFill>
                <a:latin typeface="Arial"/>
              </a:defRPr>
            </a:pPr>
            <a:r>
              <a:t>Galerias de mapas reais</a:t>
            </a:r>
          </a:p>
          <a:p>
            <a:pPr>
              <a:lnSpc>
                <a:spcPts val="3050"/>
              </a:lnSpc>
              <a:spcBef>
                <a:spcPts val="0"/>
              </a:spcBef>
              <a:spcAft>
                <a:spcPts val="0"/>
              </a:spcAft>
              <a:defRPr sz="1859" b="0">
                <a:solidFill>
                  <a:srgbClr val="17283F"/>
                </a:solidFill>
                <a:latin typeface="Arial"/>
              </a:defRPr>
            </a:pPr>
            <a:r>
              <a:t>Comparações RGB–frequência</a:t>
            </a:r>
          </a:p>
          <a:p>
            <a:pPr>
              <a:lnSpc>
                <a:spcPts val="3050"/>
              </a:lnSpc>
              <a:spcBef>
                <a:spcPts val="0"/>
              </a:spcBef>
              <a:spcAft>
                <a:spcPts val="0"/>
              </a:spcAft>
              <a:defRPr sz="1859" b="0">
                <a:solidFill>
                  <a:srgbClr val="17283F"/>
                </a:solidFill>
                <a:latin typeface="Arial"/>
              </a:defRPr>
            </a:pPr>
            <a:r>
              <a:t>Análise dos casos compartilhados</a:t>
            </a:r>
          </a:p>
          <a:p>
            <a:pPr>
              <a:lnSpc>
                <a:spcPts val="3050"/>
              </a:lnSpc>
              <a:spcBef>
                <a:spcPts val="0"/>
              </a:spcBef>
              <a:spcAft>
                <a:spcPts val="0"/>
              </a:spcAft>
              <a:defRPr sz="1859" b="0">
                <a:solidFill>
                  <a:srgbClr val="17283F"/>
                </a:solidFill>
                <a:latin typeface="Arial"/>
              </a:defRPr>
            </a:pPr>
            <a:r>
              <a:t>Associações com condições visuais</a:t>
            </a:r>
          </a:p>
        </p:txBody>
      </p:sp>
      <p:sp>
        <p:nvSpPr>
          <p:cNvPr id="15" name="TextBox 14"/>
          <p:cNvSpPr txBox="1"/>
          <p:nvPr/>
        </p:nvSpPr>
        <p:spPr>
          <a:xfrm>
            <a:off x="640080" y="5654040"/>
            <a:ext cx="10896600" cy="325526"/>
          </a:xfrm>
          <a:prstGeom prst="rect">
            <a:avLst/>
          </a:prstGeom>
          <a:noFill/>
        </p:spPr>
        <p:txBody>
          <a:bodyPr wrap="none" anchor="t" lIns="0" rIns="0" tIns="0" bIns="0">
            <a:noAutofit/>
          </a:bodyPr>
          <a:lstStyle/>
          <a:p>
            <a:pPr>
              <a:lnSpc>
                <a:spcPts val="2083"/>
              </a:lnSpc>
              <a:spcBef>
                <a:spcPts val="0"/>
              </a:spcBef>
              <a:spcAft>
                <a:spcPts val="0"/>
              </a:spcAft>
              <a:defRPr sz="1680" b="0">
                <a:solidFill>
                  <a:srgbClr val="526278"/>
                </a:solidFill>
                <a:latin typeface="Arial"/>
              </a:defRPr>
            </a:pPr>
            <a:r>
              <a:t>A literatura e o código orientam hipóteses; os dados decidem os resultados.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487680"/>
            <a:ext cx="68580" cy="175260"/>
          </a:xfrm>
          <a:prstGeom prst="roundRect">
            <a:avLst>
              <a:gd name="adj" fmla="val 20000"/>
            </a:avLst>
          </a:prstGeom>
          <a:solidFill>
            <a:srgbClr val="087F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5340" y="449580"/>
            <a:ext cx="10439400" cy="231038"/>
          </a:xfrm>
          <a:prstGeom prst="rect">
            <a:avLst/>
          </a:prstGeom>
          <a:noFill/>
        </p:spPr>
        <p:txBody>
          <a:bodyPr wrap="none" anchor="t" lIns="0" rIns="0" tIns="0" bIns="0">
            <a:noAutofit/>
          </a:bodyPr>
          <a:lstStyle/>
          <a:p>
            <a:pPr>
              <a:lnSpc>
                <a:spcPts val="1339"/>
              </a:lnSpc>
              <a:spcBef>
                <a:spcPts val="0"/>
              </a:spcBef>
              <a:spcAft>
                <a:spcPts val="0"/>
              </a:spcAft>
              <a:defRPr sz="1080" b="1">
                <a:solidFill>
                  <a:srgbClr val="087F7B"/>
                </a:solidFill>
                <a:latin typeface="Arial"/>
              </a:defRPr>
            </a:pPr>
            <a:r>
              <a:t>SÍNTESE</a:t>
            </a:r>
          </a:p>
        </p:txBody>
      </p:sp>
      <p:sp>
        <p:nvSpPr>
          <p:cNvPr id="5" name="TextBox 4"/>
          <p:cNvSpPr txBox="1"/>
          <p:nvPr/>
        </p:nvSpPr>
        <p:spPr>
          <a:xfrm>
            <a:off x="609600" y="876300"/>
            <a:ext cx="10972800" cy="571195"/>
          </a:xfrm>
          <a:prstGeom prst="rect">
            <a:avLst/>
          </a:prstGeom>
          <a:noFill/>
        </p:spPr>
        <p:txBody>
          <a:bodyPr wrap="none" anchor="t" lIns="0" rIns="0" tIns="0" bIns="0">
            <a:noAutofit/>
          </a:bodyPr>
          <a:lstStyle/>
          <a:p>
            <a:pPr>
              <a:lnSpc>
                <a:spcPts val="4017"/>
              </a:lnSpc>
              <a:spcBef>
                <a:spcPts val="0"/>
              </a:spcBef>
              <a:spcAft>
                <a:spcPts val="0"/>
              </a:spcAft>
              <a:defRPr sz="3240" b="1">
                <a:solidFill>
                  <a:srgbClr val="17283F"/>
                </a:solidFill>
                <a:latin typeface="Arial"/>
              </a:defRPr>
            </a:pPr>
            <a:r>
              <a:t>Três mensagens para levar</a:t>
            </a:r>
          </a:p>
        </p:txBody>
      </p:sp>
      <p:cxnSp>
        <p:nvCxnSpPr>
          <p:cNvPr id="6" name="Connector 5"/>
          <p:cNvCxnSpPr/>
          <p:nvPr/>
        </p:nvCxnSpPr>
        <p:spPr>
          <a:xfrm>
            <a:off x="609600" y="6179820"/>
            <a:ext cx="10972800" cy="0"/>
          </a:xfrm>
          <a:prstGeom prst="line">
            <a:avLst/>
          </a:prstGeom>
          <a:ln w="15240">
            <a:solidFill>
              <a:srgbClr val="DDE4E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347460"/>
            <a:ext cx="10058400" cy="221589"/>
          </a:xfrm>
          <a:prstGeom prst="rect">
            <a:avLst/>
          </a:prstGeom>
          <a:noFill/>
        </p:spPr>
        <p:txBody>
          <a:bodyPr wrap="none" anchor="t" lIns="0" rIns="0" tIns="0" bIns="0">
            <a:noAutofit/>
          </a:bodyPr>
          <a:lstStyle/>
          <a:p>
            <a:pPr>
              <a:lnSpc>
                <a:spcPts val="1264"/>
              </a:lnSpc>
              <a:spcBef>
                <a:spcPts val="0"/>
              </a:spcBef>
              <a:spcAft>
                <a:spcPts val="0"/>
              </a:spcAft>
              <a:defRPr sz="1019" b="0">
                <a:solidFill>
                  <a:srgbClr val="526278"/>
                </a:solidFill>
                <a:latin typeface="Arial"/>
              </a:defRPr>
            </a:pPr>
            <a:r>
              <a:t>FONTES: A–C · resultados anteriores e extensão.</a:t>
            </a:r>
          </a:p>
        </p:txBody>
      </p:sp>
      <p:sp>
        <p:nvSpPr>
          <p:cNvPr id="8" name="TextBox 7"/>
          <p:cNvSpPr txBox="1"/>
          <p:nvPr/>
        </p:nvSpPr>
        <p:spPr>
          <a:xfrm>
            <a:off x="11125200" y="6309360"/>
            <a:ext cx="457200" cy="278282"/>
          </a:xfrm>
          <a:prstGeom prst="rect">
            <a:avLst/>
          </a:prstGeom>
          <a:noFill/>
        </p:spPr>
        <p:txBody>
          <a:bodyPr wrap="none" anchor="t" lIns="0" rIns="0" tIns="0" bIns="0">
            <a:noAutofit/>
          </a:bodyPr>
          <a:lstStyle/>
          <a:p>
            <a:pPr>
              <a:lnSpc>
                <a:spcPts val="1711"/>
              </a:lnSpc>
              <a:spcBef>
                <a:spcPts val="0"/>
              </a:spcBef>
              <a:spcAft>
                <a:spcPts val="0"/>
              </a:spcAft>
              <a:defRPr sz="1380" b="1">
                <a:solidFill>
                  <a:srgbClr val="526278"/>
                </a:solidFill>
                <a:latin typeface="Arial"/>
              </a:defRPr>
            </a:pPr>
            <a:r>
              <a:t>13</a:t>
            </a:r>
          </a:p>
        </p:txBody>
      </p:sp>
      <p:sp>
        <p:nvSpPr>
          <p:cNvPr id="9" name="TextBox 8"/>
          <p:cNvSpPr txBox="1"/>
          <p:nvPr/>
        </p:nvSpPr>
        <p:spPr>
          <a:xfrm>
            <a:off x="624840" y="2141220"/>
            <a:ext cx="914400" cy="561746"/>
          </a:xfrm>
          <a:prstGeom prst="rect">
            <a:avLst/>
          </a:prstGeom>
          <a:noFill/>
        </p:spPr>
        <p:txBody>
          <a:bodyPr wrap="none" anchor="t" lIns="0" rIns="0" tIns="0" bIns="0">
            <a:noAutofit/>
          </a:bodyPr>
          <a:lstStyle/>
          <a:p>
            <a:pPr>
              <a:lnSpc>
                <a:spcPts val="3943"/>
              </a:lnSpc>
              <a:spcBef>
                <a:spcPts val="0"/>
              </a:spcBef>
              <a:spcAft>
                <a:spcPts val="0"/>
              </a:spcAft>
              <a:defRPr sz="3179" b="1">
                <a:solidFill>
                  <a:srgbClr val="087F7B"/>
                </a:solidFill>
                <a:latin typeface="Arial"/>
              </a:defRPr>
            </a:pPr>
            <a:r>
              <a:t>01</a:t>
            </a:r>
          </a:p>
        </p:txBody>
      </p:sp>
      <p:sp>
        <p:nvSpPr>
          <p:cNvPr id="10" name="TextBox 9"/>
          <p:cNvSpPr txBox="1"/>
          <p:nvPr/>
        </p:nvSpPr>
        <p:spPr>
          <a:xfrm>
            <a:off x="1897380" y="2156460"/>
            <a:ext cx="9601200" cy="448360"/>
          </a:xfrm>
          <a:prstGeom prst="rect">
            <a:avLst/>
          </a:prstGeom>
          <a:noFill/>
        </p:spPr>
        <p:txBody>
          <a:bodyPr wrap="none" anchor="t" lIns="0" rIns="0" tIns="0" bIns="0">
            <a:noAutofit/>
          </a:bodyPr>
          <a:lstStyle/>
          <a:p>
            <a:pPr>
              <a:lnSpc>
                <a:spcPts val="3050"/>
              </a:lnSpc>
              <a:spcBef>
                <a:spcPts val="0"/>
              </a:spcBef>
              <a:spcAft>
                <a:spcPts val="0"/>
              </a:spcAft>
              <a:defRPr sz="2460" b="1">
                <a:solidFill>
                  <a:srgbClr val="17283F"/>
                </a:solidFill>
                <a:latin typeface="Arial"/>
              </a:defRPr>
            </a:pPr>
            <a:r>
              <a:t>Robustez muda o ranking.</a:t>
            </a:r>
          </a:p>
        </p:txBody>
      </p:sp>
      <p:sp>
        <p:nvSpPr>
          <p:cNvPr id="11" name="TextBox 10"/>
          <p:cNvSpPr txBox="1"/>
          <p:nvPr/>
        </p:nvSpPr>
        <p:spPr>
          <a:xfrm>
            <a:off x="1897380" y="2682240"/>
            <a:ext cx="9601200" cy="316077"/>
          </a:xfrm>
          <a:prstGeom prst="rect">
            <a:avLst/>
          </a:prstGeom>
          <a:noFill/>
        </p:spPr>
        <p:txBody>
          <a:bodyPr wrap="none" anchor="t" lIns="0" rIns="0" tIns="0" bIns="0">
            <a:noAutofit/>
          </a:bodyPr>
          <a:lstStyle/>
          <a:p>
            <a:pPr>
              <a:lnSpc>
                <a:spcPts val="2008"/>
              </a:lnSpc>
              <a:spcBef>
                <a:spcPts val="0"/>
              </a:spcBef>
              <a:spcAft>
                <a:spcPts val="0"/>
              </a:spcAft>
              <a:defRPr sz="1620" b="0">
                <a:solidFill>
                  <a:srgbClr val="526278"/>
                </a:solidFill>
                <a:latin typeface="Arial"/>
              </a:defRPr>
            </a:pPr>
            <a:r>
              <a:t>A melhor média no teste limpo não garante liderança após degradação.</a:t>
            </a:r>
          </a:p>
        </p:txBody>
      </p:sp>
      <p:sp>
        <p:nvSpPr>
          <p:cNvPr id="12" name="TextBox 11"/>
          <p:cNvSpPr txBox="1"/>
          <p:nvPr/>
        </p:nvSpPr>
        <p:spPr>
          <a:xfrm>
            <a:off x="624840" y="3406140"/>
            <a:ext cx="914400" cy="561746"/>
          </a:xfrm>
          <a:prstGeom prst="rect">
            <a:avLst/>
          </a:prstGeom>
          <a:noFill/>
        </p:spPr>
        <p:txBody>
          <a:bodyPr wrap="none" anchor="t" lIns="0" rIns="0" tIns="0" bIns="0">
            <a:noAutofit/>
          </a:bodyPr>
          <a:lstStyle/>
          <a:p>
            <a:pPr>
              <a:lnSpc>
                <a:spcPts val="3943"/>
              </a:lnSpc>
              <a:spcBef>
                <a:spcPts val="0"/>
              </a:spcBef>
              <a:spcAft>
                <a:spcPts val="0"/>
              </a:spcAft>
              <a:defRPr sz="3179" b="1">
                <a:solidFill>
                  <a:srgbClr val="087F7B"/>
                </a:solidFill>
                <a:latin typeface="Arial"/>
              </a:defRPr>
            </a:pPr>
            <a:r>
              <a:t>02</a:t>
            </a:r>
          </a:p>
        </p:txBody>
      </p:sp>
      <p:sp>
        <p:nvSpPr>
          <p:cNvPr id="13" name="TextBox 12"/>
          <p:cNvSpPr txBox="1"/>
          <p:nvPr/>
        </p:nvSpPr>
        <p:spPr>
          <a:xfrm>
            <a:off x="1897380" y="3421380"/>
            <a:ext cx="9601200" cy="448360"/>
          </a:xfrm>
          <a:prstGeom prst="rect">
            <a:avLst/>
          </a:prstGeom>
          <a:noFill/>
        </p:spPr>
        <p:txBody>
          <a:bodyPr wrap="none" anchor="t" lIns="0" rIns="0" tIns="0" bIns="0">
            <a:noAutofit/>
          </a:bodyPr>
          <a:lstStyle/>
          <a:p>
            <a:pPr>
              <a:lnSpc>
                <a:spcPts val="3050"/>
              </a:lnSpc>
              <a:spcBef>
                <a:spcPts val="0"/>
              </a:spcBef>
              <a:spcAft>
                <a:spcPts val="0"/>
              </a:spcAft>
              <a:defRPr sz="2460" b="1">
                <a:solidFill>
                  <a:srgbClr val="17283F"/>
                </a:solidFill>
                <a:latin typeface="Arial"/>
              </a:defRPr>
            </a:pPr>
            <a:r>
              <a:t>Frequência pode complementar RGB.</a:t>
            </a:r>
          </a:p>
        </p:txBody>
      </p:sp>
      <p:sp>
        <p:nvSpPr>
          <p:cNvPr id="14" name="TextBox 13"/>
          <p:cNvSpPr txBox="1"/>
          <p:nvPr/>
        </p:nvSpPr>
        <p:spPr>
          <a:xfrm>
            <a:off x="1897380" y="3947160"/>
            <a:ext cx="9601200" cy="316077"/>
          </a:xfrm>
          <a:prstGeom prst="rect">
            <a:avLst/>
          </a:prstGeom>
          <a:noFill/>
        </p:spPr>
        <p:txBody>
          <a:bodyPr wrap="none" anchor="t" lIns="0" rIns="0" tIns="0" bIns="0">
            <a:noAutofit/>
          </a:bodyPr>
          <a:lstStyle/>
          <a:p>
            <a:pPr>
              <a:lnSpc>
                <a:spcPts val="2008"/>
              </a:lnSpc>
              <a:spcBef>
                <a:spcPts val="0"/>
              </a:spcBef>
              <a:spcAft>
                <a:spcPts val="0"/>
              </a:spcAft>
              <a:defRPr sz="1620" b="0">
                <a:solidFill>
                  <a:srgbClr val="526278"/>
                </a:solidFill>
                <a:latin typeface="Arial"/>
              </a:defRPr>
            </a:pPr>
            <a:r>
              <a:t>Ganhos reportados motivam investigar as pistas realmente utilizadas.</a:t>
            </a:r>
          </a:p>
        </p:txBody>
      </p:sp>
      <p:sp>
        <p:nvSpPr>
          <p:cNvPr id="15" name="TextBox 14"/>
          <p:cNvSpPr txBox="1"/>
          <p:nvPr/>
        </p:nvSpPr>
        <p:spPr>
          <a:xfrm>
            <a:off x="624840" y="4671060"/>
            <a:ext cx="914400" cy="561746"/>
          </a:xfrm>
          <a:prstGeom prst="rect">
            <a:avLst/>
          </a:prstGeom>
          <a:noFill/>
        </p:spPr>
        <p:txBody>
          <a:bodyPr wrap="none" anchor="t" lIns="0" rIns="0" tIns="0" bIns="0">
            <a:noAutofit/>
          </a:bodyPr>
          <a:lstStyle/>
          <a:p>
            <a:pPr>
              <a:lnSpc>
                <a:spcPts val="3943"/>
              </a:lnSpc>
              <a:spcBef>
                <a:spcPts val="0"/>
              </a:spcBef>
              <a:spcAft>
                <a:spcPts val="0"/>
              </a:spcAft>
              <a:defRPr sz="3179" b="1">
                <a:solidFill>
                  <a:srgbClr val="087F7B"/>
                </a:solidFill>
                <a:latin typeface="Arial"/>
              </a:defRPr>
            </a:pPr>
            <a:r>
              <a:t>03</a:t>
            </a:r>
          </a:p>
        </p:txBody>
      </p:sp>
      <p:sp>
        <p:nvSpPr>
          <p:cNvPr id="16" name="TextBox 15"/>
          <p:cNvSpPr txBox="1"/>
          <p:nvPr/>
        </p:nvSpPr>
        <p:spPr>
          <a:xfrm>
            <a:off x="1897380" y="4686300"/>
            <a:ext cx="9601200" cy="448360"/>
          </a:xfrm>
          <a:prstGeom prst="rect">
            <a:avLst/>
          </a:prstGeom>
          <a:noFill/>
        </p:spPr>
        <p:txBody>
          <a:bodyPr wrap="none" anchor="t" lIns="0" rIns="0" tIns="0" bIns="0">
            <a:noAutofit/>
          </a:bodyPr>
          <a:lstStyle/>
          <a:p>
            <a:pPr>
              <a:lnSpc>
                <a:spcPts val="3050"/>
              </a:lnSpc>
              <a:spcBef>
                <a:spcPts val="0"/>
              </a:spcBef>
              <a:spcAft>
                <a:spcPts val="0"/>
              </a:spcAft>
              <a:defRPr sz="2460" b="1">
                <a:solidFill>
                  <a:srgbClr val="17283F"/>
                </a:solidFill>
                <a:latin typeface="Arial"/>
              </a:defRPr>
            </a:pPr>
            <a:r>
              <a:t>Explicabilidade exige controle.</a:t>
            </a:r>
          </a:p>
        </p:txBody>
      </p:sp>
      <p:sp>
        <p:nvSpPr>
          <p:cNvPr id="17" name="TextBox 16"/>
          <p:cNvSpPr txBox="1"/>
          <p:nvPr/>
        </p:nvSpPr>
        <p:spPr>
          <a:xfrm>
            <a:off x="1897380" y="5212080"/>
            <a:ext cx="9601200" cy="316077"/>
          </a:xfrm>
          <a:prstGeom prst="rect">
            <a:avLst/>
          </a:prstGeom>
          <a:noFill/>
        </p:spPr>
        <p:txBody>
          <a:bodyPr wrap="none" anchor="t" lIns="0" rIns="0" tIns="0" bIns="0">
            <a:noAutofit/>
          </a:bodyPr>
          <a:lstStyle/>
          <a:p>
            <a:pPr>
              <a:lnSpc>
                <a:spcPts val="2008"/>
              </a:lnSpc>
              <a:spcBef>
                <a:spcPts val="0"/>
              </a:spcBef>
              <a:spcAft>
                <a:spcPts val="0"/>
              </a:spcAft>
              <a:defRPr sz="1620" b="0">
                <a:solidFill>
                  <a:srgbClr val="526278"/>
                </a:solidFill>
                <a:latin typeface="Arial"/>
              </a:defRPr>
            </a:pPr>
            <a:r>
              <a:t>Mesmas imagens, alvos fixos, domínios corretos e falhas bem definidas.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487680"/>
            <a:ext cx="68580" cy="175260"/>
          </a:xfrm>
          <a:prstGeom prst="roundRect">
            <a:avLst>
              <a:gd name="adj" fmla="val 20000"/>
            </a:avLst>
          </a:prstGeom>
          <a:solidFill>
            <a:srgbClr val="087F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5340" y="449580"/>
            <a:ext cx="10439400" cy="231038"/>
          </a:xfrm>
          <a:prstGeom prst="rect">
            <a:avLst/>
          </a:prstGeom>
          <a:noFill/>
        </p:spPr>
        <p:txBody>
          <a:bodyPr wrap="none" anchor="t" lIns="0" rIns="0" tIns="0" bIns="0">
            <a:noAutofit/>
          </a:bodyPr>
          <a:lstStyle/>
          <a:p>
            <a:pPr>
              <a:lnSpc>
                <a:spcPts val="1339"/>
              </a:lnSpc>
              <a:spcBef>
                <a:spcPts val="0"/>
              </a:spcBef>
              <a:spcAft>
                <a:spcPts val="0"/>
              </a:spcAft>
              <a:defRPr sz="1080" b="1">
                <a:solidFill>
                  <a:srgbClr val="087F7B"/>
                </a:solidFill>
                <a:latin typeface="Arial"/>
              </a:defRPr>
            </a:pPr>
            <a:r>
              <a:t>RESULTADOS REPORTADOS · SEM NOVOS EXPERIMENTOS</a:t>
            </a:r>
          </a:p>
        </p:txBody>
      </p:sp>
      <p:sp>
        <p:nvSpPr>
          <p:cNvPr id="5" name="TextBox 4"/>
          <p:cNvSpPr txBox="1"/>
          <p:nvPr/>
        </p:nvSpPr>
        <p:spPr>
          <a:xfrm>
            <a:off x="609600" y="876300"/>
            <a:ext cx="10972800" cy="571195"/>
          </a:xfrm>
          <a:prstGeom prst="rect">
            <a:avLst/>
          </a:prstGeom>
          <a:noFill/>
        </p:spPr>
        <p:txBody>
          <a:bodyPr wrap="none" anchor="t" lIns="0" rIns="0" tIns="0" bIns="0">
            <a:noAutofit/>
          </a:bodyPr>
          <a:lstStyle/>
          <a:p>
            <a:pPr>
              <a:lnSpc>
                <a:spcPts val="4017"/>
              </a:lnSpc>
              <a:spcBef>
                <a:spcPts val="0"/>
              </a:spcBef>
              <a:spcAft>
                <a:spcPts val="0"/>
              </a:spcAft>
              <a:defRPr sz="3240" b="1">
                <a:solidFill>
                  <a:srgbClr val="17283F"/>
                </a:solidFill>
                <a:latin typeface="Arial"/>
              </a:defRPr>
            </a:pPr>
            <a:r>
              <a:t>Apoio · Tabela completa dos resultados RGB</a:t>
            </a:r>
          </a:p>
        </p:txBody>
      </p:sp>
      <p:cxnSp>
        <p:nvCxnSpPr>
          <p:cNvPr id="6" name="Connector 5"/>
          <p:cNvCxnSpPr/>
          <p:nvPr/>
        </p:nvCxnSpPr>
        <p:spPr>
          <a:xfrm>
            <a:off x="609600" y="6179820"/>
            <a:ext cx="10972800" cy="0"/>
          </a:xfrm>
          <a:prstGeom prst="line">
            <a:avLst/>
          </a:prstGeom>
          <a:ln w="15240">
            <a:solidFill>
              <a:srgbClr val="DDE4E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347460"/>
            <a:ext cx="10058400" cy="221589"/>
          </a:xfrm>
          <a:prstGeom prst="rect">
            <a:avLst/>
          </a:prstGeom>
          <a:noFill/>
        </p:spPr>
        <p:txBody>
          <a:bodyPr wrap="none" anchor="t" lIns="0" rIns="0" tIns="0" bIns="0">
            <a:noAutofit/>
          </a:bodyPr>
          <a:lstStyle/>
          <a:p>
            <a:pPr>
              <a:lnSpc>
                <a:spcPts val="1264"/>
              </a:lnSpc>
              <a:spcBef>
                <a:spcPts val="0"/>
              </a:spcBef>
              <a:spcAft>
                <a:spcPts val="0"/>
              </a:spcAft>
              <a:defRPr sz="1019" b="0">
                <a:solidFill>
                  <a:srgbClr val="526278"/>
                </a:solidFill>
                <a:latin typeface="Arial"/>
              </a:defRPr>
            </a:pPr>
            <a:r>
              <a:t>FONTES: A · Estudo anterior; B · seção V-A.</a:t>
            </a:r>
          </a:p>
        </p:txBody>
      </p:sp>
      <p:sp>
        <p:nvSpPr>
          <p:cNvPr id="8" name="TextBox 7"/>
          <p:cNvSpPr txBox="1"/>
          <p:nvPr/>
        </p:nvSpPr>
        <p:spPr>
          <a:xfrm>
            <a:off x="11125200" y="6309360"/>
            <a:ext cx="457200" cy="278282"/>
          </a:xfrm>
          <a:prstGeom prst="rect">
            <a:avLst/>
          </a:prstGeom>
          <a:noFill/>
        </p:spPr>
        <p:txBody>
          <a:bodyPr wrap="none" anchor="t" lIns="0" rIns="0" tIns="0" bIns="0">
            <a:noAutofit/>
          </a:bodyPr>
          <a:lstStyle/>
          <a:p>
            <a:pPr>
              <a:lnSpc>
                <a:spcPts val="1711"/>
              </a:lnSpc>
              <a:spcBef>
                <a:spcPts val="0"/>
              </a:spcBef>
              <a:spcAft>
                <a:spcPts val="0"/>
              </a:spcAft>
              <a:defRPr sz="1380" b="1">
                <a:solidFill>
                  <a:srgbClr val="526278"/>
                </a:solidFill>
                <a:latin typeface="Arial"/>
              </a:defRPr>
            </a:pPr>
            <a:r>
              <a:t>14</a:t>
            </a:r>
          </a:p>
        </p:txBody>
      </p:sp>
      <p:sp>
        <p:nvSpPr>
          <p:cNvPr id="9" name="TextBox 8"/>
          <p:cNvSpPr txBox="1"/>
          <p:nvPr/>
        </p:nvSpPr>
        <p:spPr>
          <a:xfrm>
            <a:off x="754380" y="2072640"/>
            <a:ext cx="2743200" cy="278282"/>
          </a:xfrm>
          <a:prstGeom prst="rect">
            <a:avLst/>
          </a:prstGeom>
          <a:noFill/>
        </p:spPr>
        <p:txBody>
          <a:bodyPr wrap="none" anchor="t" lIns="0" rIns="0" tIns="0" bIns="0">
            <a:noAutofit/>
          </a:bodyPr>
          <a:lstStyle/>
          <a:p>
            <a:pPr>
              <a:lnSpc>
                <a:spcPts val="1711"/>
              </a:lnSpc>
              <a:spcBef>
                <a:spcPts val="0"/>
              </a:spcBef>
              <a:spcAft>
                <a:spcPts val="0"/>
              </a:spcAft>
              <a:defRPr sz="1380" b="1">
                <a:solidFill>
                  <a:srgbClr val="526278"/>
                </a:solidFill>
                <a:latin typeface="Arial"/>
              </a:defRPr>
            </a:pPr>
            <a:r>
              <a:t>Configuração anterior</a:t>
            </a:r>
          </a:p>
        </p:txBody>
      </p:sp>
      <p:sp>
        <p:nvSpPr>
          <p:cNvPr id="10" name="TextBox 9"/>
          <p:cNvSpPr txBox="1"/>
          <p:nvPr/>
        </p:nvSpPr>
        <p:spPr>
          <a:xfrm>
            <a:off x="5562600" y="2072640"/>
            <a:ext cx="1874519" cy="278282"/>
          </a:xfrm>
          <a:prstGeom prst="rect">
            <a:avLst/>
          </a:prstGeom>
          <a:noFill/>
        </p:spPr>
        <p:txBody>
          <a:bodyPr wrap="none" anchor="t" lIns="0" rIns="0" tIns="0" bIns="0">
            <a:noAutofit/>
          </a:bodyPr>
          <a:lstStyle/>
          <a:p>
            <a:pPr>
              <a:lnSpc>
                <a:spcPts val="1711"/>
              </a:lnSpc>
              <a:spcBef>
                <a:spcPts val="0"/>
              </a:spcBef>
              <a:spcAft>
                <a:spcPts val="0"/>
              </a:spcAft>
              <a:defRPr sz="1380" b="1">
                <a:solidFill>
                  <a:srgbClr val="526278"/>
                </a:solidFill>
                <a:latin typeface="Arial"/>
              </a:defRPr>
            </a:pPr>
            <a:r>
              <a:t>Limpo</a:t>
            </a:r>
          </a:p>
        </p:txBody>
      </p:sp>
      <p:sp>
        <p:nvSpPr>
          <p:cNvPr id="11" name="TextBox 10"/>
          <p:cNvSpPr txBox="1"/>
          <p:nvPr/>
        </p:nvSpPr>
        <p:spPr>
          <a:xfrm>
            <a:off x="7505700" y="2072640"/>
            <a:ext cx="1874519" cy="278282"/>
          </a:xfrm>
          <a:prstGeom prst="rect">
            <a:avLst/>
          </a:prstGeom>
          <a:noFill/>
        </p:spPr>
        <p:txBody>
          <a:bodyPr wrap="none" anchor="t" lIns="0" rIns="0" tIns="0" bIns="0">
            <a:noAutofit/>
          </a:bodyPr>
          <a:lstStyle/>
          <a:p>
            <a:pPr>
              <a:lnSpc>
                <a:spcPts val="1711"/>
              </a:lnSpc>
              <a:spcBef>
                <a:spcPts val="0"/>
              </a:spcBef>
              <a:spcAft>
                <a:spcPts val="0"/>
              </a:spcAft>
              <a:defRPr sz="1380" b="1">
                <a:solidFill>
                  <a:srgbClr val="526278"/>
                </a:solidFill>
                <a:latin typeface="Arial"/>
              </a:defRPr>
            </a:pPr>
            <a:r>
              <a:t>Degradado</a:t>
            </a:r>
          </a:p>
        </p:txBody>
      </p:sp>
      <p:sp>
        <p:nvSpPr>
          <p:cNvPr id="12" name="TextBox 11"/>
          <p:cNvSpPr txBox="1"/>
          <p:nvPr/>
        </p:nvSpPr>
        <p:spPr>
          <a:xfrm>
            <a:off x="9601200" y="2072640"/>
            <a:ext cx="1874519" cy="278282"/>
          </a:xfrm>
          <a:prstGeom prst="rect">
            <a:avLst/>
          </a:prstGeom>
          <a:noFill/>
        </p:spPr>
        <p:txBody>
          <a:bodyPr wrap="none" anchor="t" lIns="0" rIns="0" tIns="0" bIns="0">
            <a:noAutofit/>
          </a:bodyPr>
          <a:lstStyle/>
          <a:p>
            <a:pPr>
              <a:lnSpc>
                <a:spcPts val="1711"/>
              </a:lnSpc>
              <a:spcBef>
                <a:spcPts val="0"/>
              </a:spcBef>
              <a:spcAft>
                <a:spcPts val="0"/>
              </a:spcAft>
              <a:defRPr sz="1380" b="1">
                <a:solidFill>
                  <a:srgbClr val="526278"/>
                </a:solidFill>
                <a:latin typeface="Arial"/>
              </a:defRPr>
            </a:pPr>
            <a:r>
              <a:t>Queda em AUC</a:t>
            </a:r>
          </a:p>
        </p:txBody>
      </p:sp>
      <p:cxnSp>
        <p:nvCxnSpPr>
          <p:cNvPr id="13" name="Connector 12"/>
          <p:cNvCxnSpPr/>
          <p:nvPr/>
        </p:nvCxnSpPr>
        <p:spPr>
          <a:xfrm>
            <a:off x="609600" y="2430780"/>
            <a:ext cx="10972800" cy="0"/>
          </a:xfrm>
          <a:prstGeom prst="line">
            <a:avLst/>
          </a:prstGeom>
          <a:ln w="15240">
            <a:solidFill>
              <a:srgbClr val="DDE4EC"/>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09600" y="2613660"/>
            <a:ext cx="10972800" cy="441960"/>
          </a:xfrm>
          <a:prstGeom prst="roundRect">
            <a:avLst>
              <a:gd name="adj" fmla="val 1379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54380" y="2674620"/>
            <a:ext cx="4572000" cy="325526"/>
          </a:xfrm>
          <a:prstGeom prst="rect">
            <a:avLst/>
          </a:prstGeom>
          <a:noFill/>
        </p:spPr>
        <p:txBody>
          <a:bodyPr wrap="none" anchor="t" lIns="0" rIns="0" tIns="0" bIns="0">
            <a:noAutofit/>
          </a:bodyPr>
          <a:lstStyle/>
          <a:p>
            <a:pPr>
              <a:lnSpc>
                <a:spcPts val="2083"/>
              </a:lnSpc>
              <a:spcBef>
                <a:spcPts val="0"/>
              </a:spcBef>
              <a:spcAft>
                <a:spcPts val="0"/>
              </a:spcAft>
              <a:defRPr sz="1680" b="0">
                <a:solidFill>
                  <a:srgbClr val="17283F"/>
                </a:solidFill>
                <a:latin typeface="Arial"/>
              </a:defRPr>
            </a:pPr>
            <a:r>
              <a:t>Xception · do zero</a:t>
            </a:r>
          </a:p>
        </p:txBody>
      </p:sp>
      <p:sp>
        <p:nvSpPr>
          <p:cNvPr id="16" name="TextBox 15"/>
          <p:cNvSpPr txBox="1"/>
          <p:nvPr/>
        </p:nvSpPr>
        <p:spPr>
          <a:xfrm>
            <a:off x="5562600" y="2674620"/>
            <a:ext cx="1752600" cy="334975"/>
          </a:xfrm>
          <a:prstGeom prst="rect">
            <a:avLst/>
          </a:prstGeom>
          <a:noFill/>
        </p:spPr>
        <p:txBody>
          <a:bodyPr wrap="none" anchor="t" lIns="0" rIns="0" tIns="0" bIns="0">
            <a:noAutofit/>
          </a:bodyPr>
          <a:lstStyle/>
          <a:p>
            <a:pPr>
              <a:lnSpc>
                <a:spcPts val="2157"/>
              </a:lnSpc>
              <a:spcBef>
                <a:spcPts val="0"/>
              </a:spcBef>
              <a:spcAft>
                <a:spcPts val="0"/>
              </a:spcAft>
              <a:defRPr sz="1739" b="0">
                <a:solidFill>
                  <a:srgbClr val="315FA4"/>
                </a:solidFill>
                <a:latin typeface="Arial"/>
              </a:defRPr>
            </a:pPr>
            <a:r>
              <a:t>0,884</a:t>
            </a:r>
          </a:p>
        </p:txBody>
      </p:sp>
      <p:sp>
        <p:nvSpPr>
          <p:cNvPr id="17" name="TextBox 16"/>
          <p:cNvSpPr txBox="1"/>
          <p:nvPr/>
        </p:nvSpPr>
        <p:spPr>
          <a:xfrm>
            <a:off x="7505700" y="2674620"/>
            <a:ext cx="1752600" cy="334975"/>
          </a:xfrm>
          <a:prstGeom prst="rect">
            <a:avLst/>
          </a:prstGeom>
          <a:noFill/>
        </p:spPr>
        <p:txBody>
          <a:bodyPr wrap="none" anchor="t" lIns="0" rIns="0" tIns="0" bIns="0">
            <a:noAutofit/>
          </a:bodyPr>
          <a:lstStyle/>
          <a:p>
            <a:pPr>
              <a:lnSpc>
                <a:spcPts val="2157"/>
              </a:lnSpc>
              <a:spcBef>
                <a:spcPts val="0"/>
              </a:spcBef>
              <a:spcAft>
                <a:spcPts val="0"/>
              </a:spcAft>
              <a:defRPr sz="1739" b="1">
                <a:solidFill>
                  <a:srgbClr val="087F7B"/>
                </a:solidFill>
                <a:latin typeface="Arial"/>
              </a:defRPr>
            </a:pPr>
            <a:r>
              <a:t>0,609</a:t>
            </a:r>
          </a:p>
        </p:txBody>
      </p:sp>
      <p:sp>
        <p:nvSpPr>
          <p:cNvPr id="18" name="TextBox 17"/>
          <p:cNvSpPr txBox="1"/>
          <p:nvPr/>
        </p:nvSpPr>
        <p:spPr>
          <a:xfrm>
            <a:off x="9601200" y="2674620"/>
            <a:ext cx="1866899" cy="334975"/>
          </a:xfrm>
          <a:prstGeom prst="rect">
            <a:avLst/>
          </a:prstGeom>
          <a:noFill/>
        </p:spPr>
        <p:txBody>
          <a:bodyPr wrap="none" anchor="t" lIns="0" rIns="0" tIns="0" bIns="0">
            <a:noAutofit/>
          </a:bodyPr>
          <a:lstStyle/>
          <a:p>
            <a:pPr>
              <a:lnSpc>
                <a:spcPts val="2157"/>
              </a:lnSpc>
              <a:spcBef>
                <a:spcPts val="0"/>
              </a:spcBef>
              <a:spcAft>
                <a:spcPts val="0"/>
              </a:spcAft>
              <a:defRPr sz="1739" b="0">
                <a:solidFill>
                  <a:srgbClr val="17283F"/>
                </a:solidFill>
                <a:latin typeface="Arial"/>
              </a:defRPr>
            </a:pPr>
            <a:r>
              <a:t>0,275</a:t>
            </a:r>
          </a:p>
        </p:txBody>
      </p:sp>
      <p:sp>
        <p:nvSpPr>
          <p:cNvPr id="19" name="TextBox 18"/>
          <p:cNvSpPr txBox="1"/>
          <p:nvPr/>
        </p:nvSpPr>
        <p:spPr>
          <a:xfrm>
            <a:off x="754380" y="3162300"/>
            <a:ext cx="4572000" cy="325526"/>
          </a:xfrm>
          <a:prstGeom prst="rect">
            <a:avLst/>
          </a:prstGeom>
          <a:noFill/>
        </p:spPr>
        <p:txBody>
          <a:bodyPr wrap="none" anchor="t" lIns="0" rIns="0" tIns="0" bIns="0">
            <a:noAutofit/>
          </a:bodyPr>
          <a:lstStyle/>
          <a:p>
            <a:pPr>
              <a:lnSpc>
                <a:spcPts val="2083"/>
              </a:lnSpc>
              <a:spcBef>
                <a:spcPts val="0"/>
              </a:spcBef>
              <a:spcAft>
                <a:spcPts val="0"/>
              </a:spcAft>
              <a:defRPr sz="1680" b="0">
                <a:solidFill>
                  <a:srgbClr val="17283F"/>
                </a:solidFill>
                <a:latin typeface="Arial"/>
              </a:defRPr>
            </a:pPr>
            <a:r>
              <a:t>ResNet-18 · do zero</a:t>
            </a:r>
          </a:p>
        </p:txBody>
      </p:sp>
      <p:sp>
        <p:nvSpPr>
          <p:cNvPr id="20" name="TextBox 19"/>
          <p:cNvSpPr txBox="1"/>
          <p:nvPr/>
        </p:nvSpPr>
        <p:spPr>
          <a:xfrm>
            <a:off x="5562600" y="3162300"/>
            <a:ext cx="1752600" cy="334975"/>
          </a:xfrm>
          <a:prstGeom prst="rect">
            <a:avLst/>
          </a:prstGeom>
          <a:noFill/>
        </p:spPr>
        <p:txBody>
          <a:bodyPr wrap="none" anchor="t" lIns="0" rIns="0" tIns="0" bIns="0">
            <a:noAutofit/>
          </a:bodyPr>
          <a:lstStyle/>
          <a:p>
            <a:pPr>
              <a:lnSpc>
                <a:spcPts val="2157"/>
              </a:lnSpc>
              <a:spcBef>
                <a:spcPts val="0"/>
              </a:spcBef>
              <a:spcAft>
                <a:spcPts val="0"/>
              </a:spcAft>
              <a:defRPr sz="1739" b="0">
                <a:solidFill>
                  <a:srgbClr val="315FA4"/>
                </a:solidFill>
                <a:latin typeface="Arial"/>
              </a:defRPr>
            </a:pPr>
            <a:r>
              <a:t>0,846</a:t>
            </a:r>
          </a:p>
        </p:txBody>
      </p:sp>
      <p:sp>
        <p:nvSpPr>
          <p:cNvPr id="21" name="TextBox 20"/>
          <p:cNvSpPr txBox="1"/>
          <p:nvPr/>
        </p:nvSpPr>
        <p:spPr>
          <a:xfrm>
            <a:off x="7505700" y="3162300"/>
            <a:ext cx="1752600" cy="334975"/>
          </a:xfrm>
          <a:prstGeom prst="rect">
            <a:avLst/>
          </a:prstGeom>
          <a:noFill/>
        </p:spPr>
        <p:txBody>
          <a:bodyPr wrap="none" anchor="t" lIns="0" rIns="0" tIns="0" bIns="0">
            <a:noAutofit/>
          </a:bodyPr>
          <a:lstStyle/>
          <a:p>
            <a:pPr>
              <a:lnSpc>
                <a:spcPts val="2157"/>
              </a:lnSpc>
              <a:spcBef>
                <a:spcPts val="0"/>
              </a:spcBef>
              <a:spcAft>
                <a:spcPts val="0"/>
              </a:spcAft>
              <a:defRPr sz="1739" b="1">
                <a:solidFill>
                  <a:srgbClr val="087F7B"/>
                </a:solidFill>
                <a:latin typeface="Arial"/>
              </a:defRPr>
            </a:pPr>
            <a:r>
              <a:t>0,635</a:t>
            </a:r>
          </a:p>
        </p:txBody>
      </p:sp>
      <p:sp>
        <p:nvSpPr>
          <p:cNvPr id="22" name="TextBox 21"/>
          <p:cNvSpPr txBox="1"/>
          <p:nvPr/>
        </p:nvSpPr>
        <p:spPr>
          <a:xfrm>
            <a:off x="9601200" y="3162300"/>
            <a:ext cx="1866899" cy="334975"/>
          </a:xfrm>
          <a:prstGeom prst="rect">
            <a:avLst/>
          </a:prstGeom>
          <a:noFill/>
        </p:spPr>
        <p:txBody>
          <a:bodyPr wrap="none" anchor="t" lIns="0" rIns="0" tIns="0" bIns="0">
            <a:noAutofit/>
          </a:bodyPr>
          <a:lstStyle/>
          <a:p>
            <a:pPr>
              <a:lnSpc>
                <a:spcPts val="2157"/>
              </a:lnSpc>
              <a:spcBef>
                <a:spcPts val="0"/>
              </a:spcBef>
              <a:spcAft>
                <a:spcPts val="0"/>
              </a:spcAft>
              <a:defRPr sz="1739" b="0">
                <a:solidFill>
                  <a:srgbClr val="17283F"/>
                </a:solidFill>
                <a:latin typeface="Arial"/>
              </a:defRPr>
            </a:pPr>
            <a:r>
              <a:t>0,211</a:t>
            </a:r>
          </a:p>
        </p:txBody>
      </p:sp>
      <p:sp>
        <p:nvSpPr>
          <p:cNvPr id="23" name="Rounded Rectangle 22"/>
          <p:cNvSpPr/>
          <p:nvPr/>
        </p:nvSpPr>
        <p:spPr>
          <a:xfrm>
            <a:off x="609600" y="3589020"/>
            <a:ext cx="10972800" cy="441960"/>
          </a:xfrm>
          <a:prstGeom prst="roundRect">
            <a:avLst>
              <a:gd name="adj" fmla="val 1379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54380" y="3649980"/>
            <a:ext cx="4572000" cy="325526"/>
          </a:xfrm>
          <a:prstGeom prst="rect">
            <a:avLst/>
          </a:prstGeom>
          <a:noFill/>
        </p:spPr>
        <p:txBody>
          <a:bodyPr wrap="none" anchor="t" lIns="0" rIns="0" tIns="0" bIns="0">
            <a:noAutofit/>
          </a:bodyPr>
          <a:lstStyle/>
          <a:p>
            <a:pPr>
              <a:lnSpc>
                <a:spcPts val="2083"/>
              </a:lnSpc>
              <a:spcBef>
                <a:spcPts val="0"/>
              </a:spcBef>
              <a:spcAft>
                <a:spcPts val="0"/>
              </a:spcAft>
              <a:defRPr sz="1680" b="0">
                <a:solidFill>
                  <a:srgbClr val="17283F"/>
                </a:solidFill>
                <a:latin typeface="Arial"/>
              </a:defRPr>
            </a:pPr>
            <a:r>
              <a:t>MobileNetV3 · do zero</a:t>
            </a:r>
          </a:p>
        </p:txBody>
      </p:sp>
      <p:sp>
        <p:nvSpPr>
          <p:cNvPr id="25" name="TextBox 24"/>
          <p:cNvSpPr txBox="1"/>
          <p:nvPr/>
        </p:nvSpPr>
        <p:spPr>
          <a:xfrm>
            <a:off x="5562600" y="3649980"/>
            <a:ext cx="1752600" cy="334975"/>
          </a:xfrm>
          <a:prstGeom prst="rect">
            <a:avLst/>
          </a:prstGeom>
          <a:noFill/>
        </p:spPr>
        <p:txBody>
          <a:bodyPr wrap="none" anchor="t" lIns="0" rIns="0" tIns="0" bIns="0">
            <a:noAutofit/>
          </a:bodyPr>
          <a:lstStyle/>
          <a:p>
            <a:pPr>
              <a:lnSpc>
                <a:spcPts val="2157"/>
              </a:lnSpc>
              <a:spcBef>
                <a:spcPts val="0"/>
              </a:spcBef>
              <a:spcAft>
                <a:spcPts val="0"/>
              </a:spcAft>
              <a:defRPr sz="1739" b="0">
                <a:solidFill>
                  <a:srgbClr val="315FA4"/>
                </a:solidFill>
                <a:latin typeface="Arial"/>
              </a:defRPr>
            </a:pPr>
            <a:r>
              <a:t>0,839</a:t>
            </a:r>
          </a:p>
        </p:txBody>
      </p:sp>
      <p:sp>
        <p:nvSpPr>
          <p:cNvPr id="26" name="TextBox 25"/>
          <p:cNvSpPr txBox="1"/>
          <p:nvPr/>
        </p:nvSpPr>
        <p:spPr>
          <a:xfrm>
            <a:off x="7505700" y="3649980"/>
            <a:ext cx="1752600" cy="334975"/>
          </a:xfrm>
          <a:prstGeom prst="rect">
            <a:avLst/>
          </a:prstGeom>
          <a:noFill/>
        </p:spPr>
        <p:txBody>
          <a:bodyPr wrap="none" anchor="t" lIns="0" rIns="0" tIns="0" bIns="0">
            <a:noAutofit/>
          </a:bodyPr>
          <a:lstStyle/>
          <a:p>
            <a:pPr>
              <a:lnSpc>
                <a:spcPts val="2157"/>
              </a:lnSpc>
              <a:spcBef>
                <a:spcPts val="0"/>
              </a:spcBef>
              <a:spcAft>
                <a:spcPts val="0"/>
              </a:spcAft>
              <a:defRPr sz="1739" b="1">
                <a:solidFill>
                  <a:srgbClr val="087F7B"/>
                </a:solidFill>
                <a:latin typeface="Arial"/>
              </a:defRPr>
            </a:pPr>
            <a:r>
              <a:t>0,594</a:t>
            </a:r>
          </a:p>
        </p:txBody>
      </p:sp>
      <p:sp>
        <p:nvSpPr>
          <p:cNvPr id="27" name="TextBox 26"/>
          <p:cNvSpPr txBox="1"/>
          <p:nvPr/>
        </p:nvSpPr>
        <p:spPr>
          <a:xfrm>
            <a:off x="9601200" y="3649980"/>
            <a:ext cx="1866899" cy="334975"/>
          </a:xfrm>
          <a:prstGeom prst="rect">
            <a:avLst/>
          </a:prstGeom>
          <a:noFill/>
        </p:spPr>
        <p:txBody>
          <a:bodyPr wrap="none" anchor="t" lIns="0" rIns="0" tIns="0" bIns="0">
            <a:noAutofit/>
          </a:bodyPr>
          <a:lstStyle/>
          <a:p>
            <a:pPr>
              <a:lnSpc>
                <a:spcPts val="2157"/>
              </a:lnSpc>
              <a:spcBef>
                <a:spcPts val="0"/>
              </a:spcBef>
              <a:spcAft>
                <a:spcPts val="0"/>
              </a:spcAft>
              <a:defRPr sz="1739" b="0">
                <a:solidFill>
                  <a:srgbClr val="17283F"/>
                </a:solidFill>
                <a:latin typeface="Arial"/>
              </a:defRPr>
            </a:pPr>
            <a:r>
              <a:t>0,245</a:t>
            </a:r>
          </a:p>
        </p:txBody>
      </p:sp>
      <p:sp>
        <p:nvSpPr>
          <p:cNvPr id="28" name="TextBox 27"/>
          <p:cNvSpPr txBox="1"/>
          <p:nvPr/>
        </p:nvSpPr>
        <p:spPr>
          <a:xfrm>
            <a:off x="754380" y="4137660"/>
            <a:ext cx="4572000" cy="325526"/>
          </a:xfrm>
          <a:prstGeom prst="rect">
            <a:avLst/>
          </a:prstGeom>
          <a:noFill/>
        </p:spPr>
        <p:txBody>
          <a:bodyPr wrap="none" anchor="t" lIns="0" rIns="0" tIns="0" bIns="0">
            <a:noAutofit/>
          </a:bodyPr>
          <a:lstStyle/>
          <a:p>
            <a:pPr>
              <a:lnSpc>
                <a:spcPts val="2083"/>
              </a:lnSpc>
              <a:spcBef>
                <a:spcPts val="0"/>
              </a:spcBef>
              <a:spcAft>
                <a:spcPts val="0"/>
              </a:spcAft>
              <a:defRPr sz="1680" b="0">
                <a:solidFill>
                  <a:srgbClr val="17283F"/>
                </a:solidFill>
                <a:latin typeface="Arial"/>
              </a:defRPr>
            </a:pPr>
            <a:r>
              <a:t>ViT · do zero</a:t>
            </a:r>
          </a:p>
        </p:txBody>
      </p:sp>
      <p:sp>
        <p:nvSpPr>
          <p:cNvPr id="29" name="TextBox 28"/>
          <p:cNvSpPr txBox="1"/>
          <p:nvPr/>
        </p:nvSpPr>
        <p:spPr>
          <a:xfrm>
            <a:off x="5562600" y="4137660"/>
            <a:ext cx="1752600" cy="334975"/>
          </a:xfrm>
          <a:prstGeom prst="rect">
            <a:avLst/>
          </a:prstGeom>
          <a:noFill/>
        </p:spPr>
        <p:txBody>
          <a:bodyPr wrap="none" anchor="t" lIns="0" rIns="0" tIns="0" bIns="0">
            <a:noAutofit/>
          </a:bodyPr>
          <a:lstStyle/>
          <a:p>
            <a:pPr>
              <a:lnSpc>
                <a:spcPts val="2157"/>
              </a:lnSpc>
              <a:spcBef>
                <a:spcPts val="0"/>
              </a:spcBef>
              <a:spcAft>
                <a:spcPts val="0"/>
              </a:spcAft>
              <a:defRPr sz="1739" b="0">
                <a:solidFill>
                  <a:srgbClr val="315FA4"/>
                </a:solidFill>
                <a:latin typeface="Arial"/>
              </a:defRPr>
            </a:pPr>
            <a:r>
              <a:t>0,624</a:t>
            </a:r>
          </a:p>
        </p:txBody>
      </p:sp>
      <p:sp>
        <p:nvSpPr>
          <p:cNvPr id="30" name="TextBox 29"/>
          <p:cNvSpPr txBox="1"/>
          <p:nvPr/>
        </p:nvSpPr>
        <p:spPr>
          <a:xfrm>
            <a:off x="7505700" y="4137660"/>
            <a:ext cx="1752600" cy="334975"/>
          </a:xfrm>
          <a:prstGeom prst="rect">
            <a:avLst/>
          </a:prstGeom>
          <a:noFill/>
        </p:spPr>
        <p:txBody>
          <a:bodyPr wrap="none" anchor="t" lIns="0" rIns="0" tIns="0" bIns="0">
            <a:noAutofit/>
          </a:bodyPr>
          <a:lstStyle/>
          <a:p>
            <a:pPr>
              <a:lnSpc>
                <a:spcPts val="2157"/>
              </a:lnSpc>
              <a:spcBef>
                <a:spcPts val="0"/>
              </a:spcBef>
              <a:spcAft>
                <a:spcPts val="0"/>
              </a:spcAft>
              <a:defRPr sz="1739" b="1">
                <a:solidFill>
                  <a:srgbClr val="087F7B"/>
                </a:solidFill>
                <a:latin typeface="Arial"/>
              </a:defRPr>
            </a:pPr>
            <a:r>
              <a:t>0,608</a:t>
            </a:r>
          </a:p>
        </p:txBody>
      </p:sp>
      <p:sp>
        <p:nvSpPr>
          <p:cNvPr id="31" name="TextBox 30"/>
          <p:cNvSpPr txBox="1"/>
          <p:nvPr/>
        </p:nvSpPr>
        <p:spPr>
          <a:xfrm>
            <a:off x="9601200" y="4137660"/>
            <a:ext cx="1866899" cy="334975"/>
          </a:xfrm>
          <a:prstGeom prst="rect">
            <a:avLst/>
          </a:prstGeom>
          <a:noFill/>
        </p:spPr>
        <p:txBody>
          <a:bodyPr wrap="none" anchor="t" lIns="0" rIns="0" tIns="0" bIns="0">
            <a:noAutofit/>
          </a:bodyPr>
          <a:lstStyle/>
          <a:p>
            <a:pPr>
              <a:lnSpc>
                <a:spcPts val="2157"/>
              </a:lnSpc>
              <a:spcBef>
                <a:spcPts val="0"/>
              </a:spcBef>
              <a:spcAft>
                <a:spcPts val="0"/>
              </a:spcAft>
              <a:defRPr sz="1739" b="0">
                <a:solidFill>
                  <a:srgbClr val="17283F"/>
                </a:solidFill>
                <a:latin typeface="Arial"/>
              </a:defRPr>
            </a:pPr>
            <a:r>
              <a:t>0,016</a:t>
            </a:r>
          </a:p>
        </p:txBody>
      </p:sp>
      <p:sp>
        <p:nvSpPr>
          <p:cNvPr id="32" name="Rounded Rectangle 31"/>
          <p:cNvSpPr/>
          <p:nvPr/>
        </p:nvSpPr>
        <p:spPr>
          <a:xfrm>
            <a:off x="609600" y="4564380"/>
            <a:ext cx="10972800" cy="441960"/>
          </a:xfrm>
          <a:prstGeom prst="roundRect">
            <a:avLst>
              <a:gd name="adj" fmla="val 1379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54380" y="4625340"/>
            <a:ext cx="4572000" cy="325526"/>
          </a:xfrm>
          <a:prstGeom prst="rect">
            <a:avLst/>
          </a:prstGeom>
          <a:noFill/>
        </p:spPr>
        <p:txBody>
          <a:bodyPr wrap="none" anchor="t" lIns="0" rIns="0" tIns="0" bIns="0">
            <a:noAutofit/>
          </a:bodyPr>
          <a:lstStyle/>
          <a:p>
            <a:pPr>
              <a:lnSpc>
                <a:spcPts val="2083"/>
              </a:lnSpc>
              <a:spcBef>
                <a:spcPts val="0"/>
              </a:spcBef>
              <a:spcAft>
                <a:spcPts val="0"/>
              </a:spcAft>
              <a:defRPr sz="1680" b="0">
                <a:solidFill>
                  <a:srgbClr val="17283F"/>
                </a:solidFill>
                <a:latin typeface="Arial"/>
              </a:defRPr>
            </a:pPr>
            <a:r>
              <a:t>CLIP-style · do zero</a:t>
            </a:r>
          </a:p>
        </p:txBody>
      </p:sp>
      <p:sp>
        <p:nvSpPr>
          <p:cNvPr id="34" name="TextBox 33"/>
          <p:cNvSpPr txBox="1"/>
          <p:nvPr/>
        </p:nvSpPr>
        <p:spPr>
          <a:xfrm>
            <a:off x="5562600" y="4625340"/>
            <a:ext cx="1752600" cy="334975"/>
          </a:xfrm>
          <a:prstGeom prst="rect">
            <a:avLst/>
          </a:prstGeom>
          <a:noFill/>
        </p:spPr>
        <p:txBody>
          <a:bodyPr wrap="none" anchor="t" lIns="0" rIns="0" tIns="0" bIns="0">
            <a:noAutofit/>
          </a:bodyPr>
          <a:lstStyle/>
          <a:p>
            <a:pPr>
              <a:lnSpc>
                <a:spcPts val="2157"/>
              </a:lnSpc>
              <a:spcBef>
                <a:spcPts val="0"/>
              </a:spcBef>
              <a:spcAft>
                <a:spcPts val="0"/>
              </a:spcAft>
              <a:defRPr sz="1739" b="0">
                <a:solidFill>
                  <a:srgbClr val="315FA4"/>
                </a:solidFill>
                <a:latin typeface="Arial"/>
              </a:defRPr>
            </a:pPr>
            <a:r>
              <a:t>0,750</a:t>
            </a:r>
          </a:p>
        </p:txBody>
      </p:sp>
      <p:sp>
        <p:nvSpPr>
          <p:cNvPr id="35" name="TextBox 34"/>
          <p:cNvSpPr txBox="1"/>
          <p:nvPr/>
        </p:nvSpPr>
        <p:spPr>
          <a:xfrm>
            <a:off x="7505700" y="4625340"/>
            <a:ext cx="1752600" cy="334975"/>
          </a:xfrm>
          <a:prstGeom prst="rect">
            <a:avLst/>
          </a:prstGeom>
          <a:noFill/>
        </p:spPr>
        <p:txBody>
          <a:bodyPr wrap="none" anchor="t" lIns="0" rIns="0" tIns="0" bIns="0">
            <a:noAutofit/>
          </a:bodyPr>
          <a:lstStyle/>
          <a:p>
            <a:pPr>
              <a:lnSpc>
                <a:spcPts val="2157"/>
              </a:lnSpc>
              <a:spcBef>
                <a:spcPts val="0"/>
              </a:spcBef>
              <a:spcAft>
                <a:spcPts val="0"/>
              </a:spcAft>
              <a:defRPr sz="1739" b="1">
                <a:solidFill>
                  <a:srgbClr val="087F7B"/>
                </a:solidFill>
                <a:latin typeface="Arial"/>
              </a:defRPr>
            </a:pPr>
            <a:r>
              <a:t>0,619</a:t>
            </a:r>
          </a:p>
        </p:txBody>
      </p:sp>
      <p:sp>
        <p:nvSpPr>
          <p:cNvPr id="36" name="TextBox 35"/>
          <p:cNvSpPr txBox="1"/>
          <p:nvPr/>
        </p:nvSpPr>
        <p:spPr>
          <a:xfrm>
            <a:off x="9601200" y="4625340"/>
            <a:ext cx="1866899" cy="334975"/>
          </a:xfrm>
          <a:prstGeom prst="rect">
            <a:avLst/>
          </a:prstGeom>
          <a:noFill/>
        </p:spPr>
        <p:txBody>
          <a:bodyPr wrap="none" anchor="t" lIns="0" rIns="0" tIns="0" bIns="0">
            <a:noAutofit/>
          </a:bodyPr>
          <a:lstStyle/>
          <a:p>
            <a:pPr>
              <a:lnSpc>
                <a:spcPts val="2157"/>
              </a:lnSpc>
              <a:spcBef>
                <a:spcPts val="0"/>
              </a:spcBef>
              <a:spcAft>
                <a:spcPts val="0"/>
              </a:spcAft>
              <a:defRPr sz="1739" b="0">
                <a:solidFill>
                  <a:srgbClr val="17283F"/>
                </a:solidFill>
                <a:latin typeface="Arial"/>
              </a:defRPr>
            </a:pPr>
            <a:r>
              <a:t>0,131</a:t>
            </a:r>
          </a:p>
        </p:txBody>
      </p:sp>
      <p:sp>
        <p:nvSpPr>
          <p:cNvPr id="37" name="TextBox 36"/>
          <p:cNvSpPr txBox="1"/>
          <p:nvPr/>
        </p:nvSpPr>
        <p:spPr>
          <a:xfrm>
            <a:off x="754380" y="5113020"/>
            <a:ext cx="4572000" cy="325526"/>
          </a:xfrm>
          <a:prstGeom prst="rect">
            <a:avLst/>
          </a:prstGeom>
          <a:noFill/>
        </p:spPr>
        <p:txBody>
          <a:bodyPr wrap="none" anchor="t" lIns="0" rIns="0" tIns="0" bIns="0">
            <a:noAutofit/>
          </a:bodyPr>
          <a:lstStyle/>
          <a:p>
            <a:pPr>
              <a:lnSpc>
                <a:spcPts val="2083"/>
              </a:lnSpc>
              <a:spcBef>
                <a:spcPts val="0"/>
              </a:spcBef>
              <a:spcAft>
                <a:spcPts val="0"/>
              </a:spcAft>
              <a:defRPr sz="1680" b="1">
                <a:solidFill>
                  <a:srgbClr val="17283F"/>
                </a:solidFill>
                <a:latin typeface="Arial"/>
              </a:defRPr>
            </a:pPr>
            <a:r>
              <a:t>DINOv3 · congelado</a:t>
            </a:r>
          </a:p>
        </p:txBody>
      </p:sp>
      <p:sp>
        <p:nvSpPr>
          <p:cNvPr id="38" name="TextBox 37"/>
          <p:cNvSpPr txBox="1"/>
          <p:nvPr/>
        </p:nvSpPr>
        <p:spPr>
          <a:xfrm>
            <a:off x="5562600" y="5113020"/>
            <a:ext cx="1752600" cy="334975"/>
          </a:xfrm>
          <a:prstGeom prst="rect">
            <a:avLst/>
          </a:prstGeom>
          <a:noFill/>
        </p:spPr>
        <p:txBody>
          <a:bodyPr wrap="none" anchor="t" lIns="0" rIns="0" tIns="0" bIns="0">
            <a:noAutofit/>
          </a:bodyPr>
          <a:lstStyle/>
          <a:p>
            <a:pPr>
              <a:lnSpc>
                <a:spcPts val="2157"/>
              </a:lnSpc>
              <a:spcBef>
                <a:spcPts val="0"/>
              </a:spcBef>
              <a:spcAft>
                <a:spcPts val="0"/>
              </a:spcAft>
              <a:defRPr sz="1739" b="0">
                <a:solidFill>
                  <a:srgbClr val="315FA4"/>
                </a:solidFill>
                <a:latin typeface="Arial"/>
              </a:defRPr>
            </a:pPr>
            <a:r>
              <a:t>0,809</a:t>
            </a:r>
          </a:p>
        </p:txBody>
      </p:sp>
      <p:sp>
        <p:nvSpPr>
          <p:cNvPr id="39" name="TextBox 38"/>
          <p:cNvSpPr txBox="1"/>
          <p:nvPr/>
        </p:nvSpPr>
        <p:spPr>
          <a:xfrm>
            <a:off x="7505700" y="5113020"/>
            <a:ext cx="1752600" cy="334975"/>
          </a:xfrm>
          <a:prstGeom prst="rect">
            <a:avLst/>
          </a:prstGeom>
          <a:noFill/>
        </p:spPr>
        <p:txBody>
          <a:bodyPr wrap="none" anchor="t" lIns="0" rIns="0" tIns="0" bIns="0">
            <a:noAutofit/>
          </a:bodyPr>
          <a:lstStyle/>
          <a:p>
            <a:pPr>
              <a:lnSpc>
                <a:spcPts val="2157"/>
              </a:lnSpc>
              <a:spcBef>
                <a:spcPts val="0"/>
              </a:spcBef>
              <a:spcAft>
                <a:spcPts val="0"/>
              </a:spcAft>
              <a:defRPr sz="1739" b="1">
                <a:solidFill>
                  <a:srgbClr val="087F7B"/>
                </a:solidFill>
                <a:latin typeface="Arial"/>
              </a:defRPr>
            </a:pPr>
            <a:r>
              <a:t>0,726</a:t>
            </a:r>
          </a:p>
        </p:txBody>
      </p:sp>
      <p:sp>
        <p:nvSpPr>
          <p:cNvPr id="40" name="TextBox 39"/>
          <p:cNvSpPr txBox="1"/>
          <p:nvPr/>
        </p:nvSpPr>
        <p:spPr>
          <a:xfrm>
            <a:off x="9601200" y="5113020"/>
            <a:ext cx="1866899" cy="334975"/>
          </a:xfrm>
          <a:prstGeom prst="rect">
            <a:avLst/>
          </a:prstGeom>
          <a:noFill/>
        </p:spPr>
        <p:txBody>
          <a:bodyPr wrap="none" anchor="t" lIns="0" rIns="0" tIns="0" bIns="0">
            <a:noAutofit/>
          </a:bodyPr>
          <a:lstStyle/>
          <a:p>
            <a:pPr>
              <a:lnSpc>
                <a:spcPts val="2157"/>
              </a:lnSpc>
              <a:spcBef>
                <a:spcPts val="0"/>
              </a:spcBef>
              <a:spcAft>
                <a:spcPts val="0"/>
              </a:spcAft>
              <a:defRPr sz="1739" b="0">
                <a:solidFill>
                  <a:srgbClr val="17283F"/>
                </a:solidFill>
                <a:latin typeface="Arial"/>
              </a:defRPr>
            </a:pPr>
            <a:r>
              <a:t>0,083</a:t>
            </a:r>
          </a:p>
        </p:txBody>
      </p:sp>
      <p:sp>
        <p:nvSpPr>
          <p:cNvPr id="41" name="TextBox 40"/>
          <p:cNvSpPr txBox="1"/>
          <p:nvPr/>
        </p:nvSpPr>
        <p:spPr>
          <a:xfrm>
            <a:off x="632460" y="5722620"/>
            <a:ext cx="10896600" cy="306628"/>
          </a:xfrm>
          <a:prstGeom prst="rect">
            <a:avLst/>
          </a:prstGeom>
          <a:noFill/>
        </p:spPr>
        <p:txBody>
          <a:bodyPr wrap="none" anchor="t" lIns="0" rIns="0" tIns="0" bIns="0">
            <a:noAutofit/>
          </a:bodyPr>
          <a:lstStyle/>
          <a:p>
            <a:pPr>
              <a:lnSpc>
                <a:spcPts val="1934"/>
              </a:lnSpc>
              <a:spcBef>
                <a:spcPts val="0"/>
              </a:spcBef>
              <a:spcAft>
                <a:spcPts val="0"/>
              </a:spcAft>
              <a:defRPr sz="1560" b="0">
                <a:solidFill>
                  <a:srgbClr val="526278"/>
                </a:solidFill>
                <a:latin typeface="Arial"/>
              </a:defRPr>
            </a:pPr>
            <a:r>
              <a:t>Diferenças das médias arredondadas; não representam significância estatística.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7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487680"/>
            <a:ext cx="68580" cy="175260"/>
          </a:xfrm>
          <a:prstGeom prst="roundRect">
            <a:avLst>
              <a:gd name="adj" fmla="val 20000"/>
            </a:avLst>
          </a:prstGeom>
          <a:solidFill>
            <a:srgbClr val="087F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15340" y="449580"/>
            <a:ext cx="10439400" cy="231038"/>
          </a:xfrm>
          <a:prstGeom prst="rect">
            <a:avLst/>
          </a:prstGeom>
          <a:noFill/>
        </p:spPr>
        <p:txBody>
          <a:bodyPr wrap="none" anchor="t" lIns="0" rIns="0" tIns="0" bIns="0">
            <a:noAutofit/>
          </a:bodyPr>
          <a:lstStyle/>
          <a:p>
            <a:pPr>
              <a:lnSpc>
                <a:spcPts val="1339"/>
              </a:lnSpc>
              <a:spcBef>
                <a:spcPts val="0"/>
              </a:spcBef>
              <a:spcAft>
                <a:spcPts val="0"/>
              </a:spcAft>
              <a:defRPr sz="1080" b="1">
                <a:solidFill>
                  <a:srgbClr val="087F7B"/>
                </a:solidFill>
                <a:latin typeface="Arial"/>
              </a:defRPr>
            </a:pPr>
            <a:r>
              <a:t>REFERÊNCIAS</a:t>
            </a:r>
          </a:p>
        </p:txBody>
      </p:sp>
      <p:sp>
        <p:nvSpPr>
          <p:cNvPr id="5" name="TextBox 4"/>
          <p:cNvSpPr txBox="1"/>
          <p:nvPr/>
        </p:nvSpPr>
        <p:spPr>
          <a:xfrm>
            <a:off x="609600" y="876300"/>
            <a:ext cx="10972800" cy="571195"/>
          </a:xfrm>
          <a:prstGeom prst="rect">
            <a:avLst/>
          </a:prstGeom>
          <a:noFill/>
        </p:spPr>
        <p:txBody>
          <a:bodyPr wrap="none" anchor="t" lIns="0" rIns="0" tIns="0" bIns="0">
            <a:noAutofit/>
          </a:bodyPr>
          <a:lstStyle/>
          <a:p>
            <a:pPr>
              <a:lnSpc>
                <a:spcPts val="4017"/>
              </a:lnSpc>
              <a:spcBef>
                <a:spcPts val="0"/>
              </a:spcBef>
              <a:spcAft>
                <a:spcPts val="0"/>
              </a:spcAft>
              <a:defRPr sz="3240" b="1">
                <a:solidFill>
                  <a:srgbClr val="17283F"/>
                </a:solidFill>
                <a:latin typeface="Arial"/>
              </a:defRPr>
            </a:pPr>
            <a:r>
              <a:t>Fontes e material de apoio</a:t>
            </a:r>
          </a:p>
        </p:txBody>
      </p:sp>
      <p:cxnSp>
        <p:nvCxnSpPr>
          <p:cNvPr id="6" name="Connector 5"/>
          <p:cNvCxnSpPr/>
          <p:nvPr/>
        </p:nvCxnSpPr>
        <p:spPr>
          <a:xfrm>
            <a:off x="609600" y="6179820"/>
            <a:ext cx="10972800" cy="0"/>
          </a:xfrm>
          <a:prstGeom prst="line">
            <a:avLst/>
          </a:prstGeom>
          <a:ln w="15240">
            <a:solidFill>
              <a:srgbClr val="DDE4EC"/>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347460"/>
            <a:ext cx="10058400" cy="221589"/>
          </a:xfrm>
          <a:prstGeom prst="rect">
            <a:avLst/>
          </a:prstGeom>
          <a:noFill/>
        </p:spPr>
        <p:txBody>
          <a:bodyPr wrap="none" anchor="t" lIns="0" rIns="0" tIns="0" bIns="0">
            <a:noAutofit/>
          </a:bodyPr>
          <a:lstStyle/>
          <a:p>
            <a:pPr>
              <a:lnSpc>
                <a:spcPts val="1264"/>
              </a:lnSpc>
              <a:spcBef>
                <a:spcPts val="0"/>
              </a:spcBef>
              <a:spcAft>
                <a:spcPts val="0"/>
              </a:spcAft>
              <a:defRPr sz="1019" b="0">
                <a:solidFill>
                  <a:srgbClr val="526278"/>
                </a:solidFill>
                <a:latin typeface="Arial"/>
              </a:defRPr>
            </a:pPr>
            <a:r>
              <a:t>FONTES: Links completos em dados.json, roteiro.md e apresentacao.ipynb.</a:t>
            </a:r>
          </a:p>
        </p:txBody>
      </p:sp>
      <p:sp>
        <p:nvSpPr>
          <p:cNvPr id="8" name="TextBox 7"/>
          <p:cNvSpPr txBox="1"/>
          <p:nvPr/>
        </p:nvSpPr>
        <p:spPr>
          <a:xfrm>
            <a:off x="11125200" y="6309360"/>
            <a:ext cx="457200" cy="278282"/>
          </a:xfrm>
          <a:prstGeom prst="rect">
            <a:avLst/>
          </a:prstGeom>
          <a:noFill/>
        </p:spPr>
        <p:txBody>
          <a:bodyPr wrap="none" anchor="t" lIns="0" rIns="0" tIns="0" bIns="0">
            <a:noAutofit/>
          </a:bodyPr>
          <a:lstStyle/>
          <a:p>
            <a:pPr>
              <a:lnSpc>
                <a:spcPts val="1711"/>
              </a:lnSpc>
              <a:spcBef>
                <a:spcPts val="0"/>
              </a:spcBef>
              <a:spcAft>
                <a:spcPts val="0"/>
              </a:spcAft>
              <a:defRPr sz="1380" b="1">
                <a:solidFill>
                  <a:srgbClr val="526278"/>
                </a:solidFill>
                <a:latin typeface="Arial"/>
              </a:defRPr>
            </a:pPr>
            <a:r>
              <a:t>15</a:t>
            </a:r>
          </a:p>
        </p:txBody>
      </p:sp>
      <p:sp>
        <p:nvSpPr>
          <p:cNvPr id="9" name="TextBox 8"/>
          <p:cNvSpPr txBox="1"/>
          <p:nvPr/>
        </p:nvSpPr>
        <p:spPr>
          <a:xfrm>
            <a:off x="609600" y="2141220"/>
            <a:ext cx="495299" cy="363321"/>
          </a:xfrm>
          <a:prstGeom prst="rect">
            <a:avLst/>
          </a:prstGeom>
          <a:noFill/>
        </p:spPr>
        <p:txBody>
          <a:bodyPr wrap="none" anchor="t" lIns="0" rIns="0" tIns="0" bIns="0">
            <a:noAutofit/>
          </a:bodyPr>
          <a:lstStyle/>
          <a:p>
            <a:pPr>
              <a:lnSpc>
                <a:spcPts val="2380"/>
              </a:lnSpc>
              <a:spcBef>
                <a:spcPts val="0"/>
              </a:spcBef>
              <a:spcAft>
                <a:spcPts val="0"/>
              </a:spcAft>
              <a:defRPr sz="1920" b="1">
                <a:solidFill>
                  <a:srgbClr val="087F7B"/>
                </a:solidFill>
                <a:latin typeface="Arial"/>
              </a:defRPr>
            </a:pPr>
            <a:r>
              <a:t>A</a:t>
            </a:r>
          </a:p>
        </p:txBody>
      </p:sp>
      <p:sp>
        <p:nvSpPr>
          <p:cNvPr id="10" name="TextBox 9"/>
          <p:cNvSpPr txBox="1"/>
          <p:nvPr/>
        </p:nvSpPr>
        <p:spPr>
          <a:xfrm>
            <a:off x="1143000" y="2141220"/>
            <a:ext cx="4610100" cy="334975"/>
          </a:xfrm>
          <a:prstGeom prst="rect">
            <a:avLst/>
          </a:prstGeom>
          <a:noFill/>
        </p:spPr>
        <p:txBody>
          <a:bodyPr wrap="none" anchor="t" lIns="0" rIns="0" tIns="0" bIns="0">
            <a:noAutofit/>
          </a:bodyPr>
          <a:lstStyle/>
          <a:p>
            <a:pPr>
              <a:lnSpc>
                <a:spcPts val="2157"/>
              </a:lnSpc>
              <a:spcBef>
                <a:spcPts val="0"/>
              </a:spcBef>
              <a:spcAft>
                <a:spcPts val="0"/>
              </a:spcAft>
              <a:defRPr sz="1739" b="1">
                <a:solidFill>
                  <a:srgbClr val="17283F"/>
                </a:solidFill>
                <a:latin typeface="Arial"/>
              </a:defRPr>
            </a:pPr>
            <a:r>
              <a:t>Estudo anterior</a:t>
            </a:r>
          </a:p>
        </p:txBody>
      </p:sp>
      <p:sp>
        <p:nvSpPr>
          <p:cNvPr id="11" name="TextBox 10"/>
          <p:cNvSpPr txBox="1"/>
          <p:nvPr/>
        </p:nvSpPr>
        <p:spPr>
          <a:xfrm>
            <a:off x="1143000" y="2506980"/>
            <a:ext cx="4610100" cy="287731"/>
          </a:xfrm>
          <a:prstGeom prst="rect">
            <a:avLst/>
          </a:prstGeom>
          <a:noFill/>
        </p:spPr>
        <p:txBody>
          <a:bodyPr wrap="none" anchor="t" lIns="0" rIns="0" tIns="0" bIns="0">
            <a:noAutofit/>
          </a:bodyPr>
          <a:lstStyle/>
          <a:p>
            <a:pPr>
              <a:lnSpc>
                <a:spcPts val="1785"/>
              </a:lnSpc>
              <a:spcBef>
                <a:spcPts val="0"/>
              </a:spcBef>
              <a:spcAft>
                <a:spcPts val="0"/>
              </a:spcAft>
              <a:defRPr sz="1439" b="0">
                <a:solidFill>
                  <a:srgbClr val="526278"/>
                </a:solidFill>
                <a:latin typeface="Arial"/>
              </a:defRPr>
            </a:pPr>
            <a:r>
              <a:t>Cunha et al. · Tabela III e seção IV</a:t>
            </a:r>
          </a:p>
        </p:txBody>
      </p:sp>
      <p:sp>
        <p:nvSpPr>
          <p:cNvPr id="12" name="TextBox 11"/>
          <p:cNvSpPr txBox="1"/>
          <p:nvPr/>
        </p:nvSpPr>
        <p:spPr>
          <a:xfrm>
            <a:off x="609600" y="2994660"/>
            <a:ext cx="495299" cy="363321"/>
          </a:xfrm>
          <a:prstGeom prst="rect">
            <a:avLst/>
          </a:prstGeom>
          <a:noFill/>
        </p:spPr>
        <p:txBody>
          <a:bodyPr wrap="none" anchor="t" lIns="0" rIns="0" tIns="0" bIns="0">
            <a:noAutofit/>
          </a:bodyPr>
          <a:lstStyle/>
          <a:p>
            <a:pPr>
              <a:lnSpc>
                <a:spcPts val="2380"/>
              </a:lnSpc>
              <a:spcBef>
                <a:spcPts val="0"/>
              </a:spcBef>
              <a:spcAft>
                <a:spcPts val="0"/>
              </a:spcAft>
              <a:defRPr sz="1920" b="1">
                <a:solidFill>
                  <a:srgbClr val="087F7B"/>
                </a:solidFill>
                <a:latin typeface="Arial"/>
              </a:defRPr>
            </a:pPr>
            <a:r>
              <a:t>B</a:t>
            </a:r>
          </a:p>
        </p:txBody>
      </p:sp>
      <p:sp>
        <p:nvSpPr>
          <p:cNvPr id="13" name="TextBox 12"/>
          <p:cNvSpPr txBox="1"/>
          <p:nvPr/>
        </p:nvSpPr>
        <p:spPr>
          <a:xfrm>
            <a:off x="1143000" y="2994660"/>
            <a:ext cx="4610100" cy="334975"/>
          </a:xfrm>
          <a:prstGeom prst="rect">
            <a:avLst/>
          </a:prstGeom>
          <a:noFill/>
        </p:spPr>
        <p:txBody>
          <a:bodyPr wrap="none" anchor="t" lIns="0" rIns="0" tIns="0" bIns="0">
            <a:noAutofit/>
          </a:bodyPr>
          <a:lstStyle/>
          <a:p>
            <a:pPr>
              <a:lnSpc>
                <a:spcPts val="2157"/>
              </a:lnSpc>
              <a:spcBef>
                <a:spcPts val="0"/>
              </a:spcBef>
              <a:spcAft>
                <a:spcPts val="0"/>
              </a:spcAft>
              <a:defRPr sz="1739" b="1">
                <a:solidFill>
                  <a:srgbClr val="17283F"/>
                </a:solidFill>
                <a:latin typeface="Arial"/>
              </a:defRPr>
            </a:pPr>
            <a:r>
              <a:t>Manuscrito de seis páginas</a:t>
            </a:r>
          </a:p>
        </p:txBody>
      </p:sp>
      <p:sp>
        <p:nvSpPr>
          <p:cNvPr id="14" name="TextBox 13"/>
          <p:cNvSpPr txBox="1"/>
          <p:nvPr/>
        </p:nvSpPr>
        <p:spPr>
          <a:xfrm>
            <a:off x="1143000" y="3360420"/>
            <a:ext cx="4610100" cy="287731"/>
          </a:xfrm>
          <a:prstGeom prst="rect">
            <a:avLst/>
          </a:prstGeom>
          <a:noFill/>
        </p:spPr>
        <p:txBody>
          <a:bodyPr wrap="none" anchor="t" lIns="0" rIns="0" tIns="0" bIns="0">
            <a:noAutofit/>
          </a:bodyPr>
          <a:lstStyle/>
          <a:p>
            <a:pPr>
              <a:lnSpc>
                <a:spcPts val="1785"/>
              </a:lnSpc>
              <a:spcBef>
                <a:spcPts val="0"/>
              </a:spcBef>
              <a:spcAft>
                <a:spcPts val="0"/>
              </a:spcAft>
              <a:defRPr sz="1439" b="0">
                <a:solidFill>
                  <a:srgbClr val="526278"/>
                </a:solidFill>
                <a:latin typeface="Arial"/>
              </a:defRPr>
            </a:pPr>
            <a:r>
              <a:t>Resultados anteriores e protocolos</a:t>
            </a:r>
          </a:p>
        </p:txBody>
      </p:sp>
      <p:sp>
        <p:nvSpPr>
          <p:cNvPr id="15" name="TextBox 14"/>
          <p:cNvSpPr txBox="1"/>
          <p:nvPr/>
        </p:nvSpPr>
        <p:spPr>
          <a:xfrm>
            <a:off x="609600" y="3848099"/>
            <a:ext cx="495299" cy="363321"/>
          </a:xfrm>
          <a:prstGeom prst="rect">
            <a:avLst/>
          </a:prstGeom>
          <a:noFill/>
        </p:spPr>
        <p:txBody>
          <a:bodyPr wrap="none" anchor="t" lIns="0" rIns="0" tIns="0" bIns="0">
            <a:noAutofit/>
          </a:bodyPr>
          <a:lstStyle/>
          <a:p>
            <a:pPr>
              <a:lnSpc>
                <a:spcPts val="2380"/>
              </a:lnSpc>
              <a:spcBef>
                <a:spcPts val="0"/>
              </a:spcBef>
              <a:spcAft>
                <a:spcPts val="0"/>
              </a:spcAft>
              <a:defRPr sz="1920" b="1">
                <a:solidFill>
                  <a:srgbClr val="087F7B"/>
                </a:solidFill>
                <a:latin typeface="Arial"/>
              </a:defRPr>
            </a:pPr>
            <a:r>
              <a:t>C</a:t>
            </a:r>
          </a:p>
        </p:txBody>
      </p:sp>
      <p:sp>
        <p:nvSpPr>
          <p:cNvPr id="16" name="TextBox 15"/>
          <p:cNvSpPr txBox="1"/>
          <p:nvPr/>
        </p:nvSpPr>
        <p:spPr>
          <a:xfrm>
            <a:off x="1143000" y="3848099"/>
            <a:ext cx="4610100" cy="334975"/>
          </a:xfrm>
          <a:prstGeom prst="rect">
            <a:avLst/>
          </a:prstGeom>
          <a:noFill/>
        </p:spPr>
        <p:txBody>
          <a:bodyPr wrap="none" anchor="t" lIns="0" rIns="0" tIns="0" bIns="0">
            <a:noAutofit/>
          </a:bodyPr>
          <a:lstStyle/>
          <a:p>
            <a:pPr>
              <a:lnSpc>
                <a:spcPts val="2157"/>
              </a:lnSpc>
              <a:spcBef>
                <a:spcPts val="0"/>
              </a:spcBef>
              <a:spcAft>
                <a:spcPts val="0"/>
              </a:spcAft>
              <a:defRPr sz="1739" b="1">
                <a:solidFill>
                  <a:srgbClr val="17283F"/>
                </a:solidFill>
                <a:latin typeface="Arial"/>
              </a:defRPr>
            </a:pPr>
            <a:r>
              <a:t>Guia e configuração</a:t>
            </a:r>
          </a:p>
        </p:txBody>
      </p:sp>
      <p:sp>
        <p:nvSpPr>
          <p:cNvPr id="17" name="TextBox 16"/>
          <p:cNvSpPr txBox="1"/>
          <p:nvPr/>
        </p:nvSpPr>
        <p:spPr>
          <a:xfrm>
            <a:off x="1143000" y="4213860"/>
            <a:ext cx="4610100" cy="287731"/>
          </a:xfrm>
          <a:prstGeom prst="rect">
            <a:avLst/>
          </a:prstGeom>
          <a:noFill/>
        </p:spPr>
        <p:txBody>
          <a:bodyPr wrap="none" anchor="t" lIns="0" rIns="0" tIns="0" bIns="0">
            <a:noAutofit/>
          </a:bodyPr>
          <a:lstStyle/>
          <a:p>
            <a:pPr>
              <a:lnSpc>
                <a:spcPts val="1785"/>
              </a:lnSpc>
              <a:spcBef>
                <a:spcPts val="0"/>
              </a:spcBef>
              <a:spcAft>
                <a:spcPts val="0"/>
              </a:spcAft>
              <a:defRPr sz="1439" b="0">
                <a:solidFill>
                  <a:srgbClr val="526278"/>
                </a:solidFill>
                <a:latin typeface="Arial"/>
              </a:defRPr>
            </a:pPr>
            <a:r>
              <a:t>Execução, artefatos e limites</a:t>
            </a:r>
          </a:p>
        </p:txBody>
      </p:sp>
      <p:sp>
        <p:nvSpPr>
          <p:cNvPr id="18" name="TextBox 17"/>
          <p:cNvSpPr txBox="1"/>
          <p:nvPr/>
        </p:nvSpPr>
        <p:spPr>
          <a:xfrm>
            <a:off x="609600" y="4701540"/>
            <a:ext cx="495299" cy="363321"/>
          </a:xfrm>
          <a:prstGeom prst="rect">
            <a:avLst/>
          </a:prstGeom>
          <a:noFill/>
        </p:spPr>
        <p:txBody>
          <a:bodyPr wrap="none" anchor="t" lIns="0" rIns="0" tIns="0" bIns="0">
            <a:noAutofit/>
          </a:bodyPr>
          <a:lstStyle/>
          <a:p>
            <a:pPr>
              <a:lnSpc>
                <a:spcPts val="2380"/>
              </a:lnSpc>
              <a:spcBef>
                <a:spcPts val="0"/>
              </a:spcBef>
              <a:spcAft>
                <a:spcPts val="0"/>
              </a:spcAft>
              <a:defRPr sz="1920" b="1">
                <a:solidFill>
                  <a:srgbClr val="087F7B"/>
                </a:solidFill>
                <a:latin typeface="Arial"/>
              </a:defRPr>
            </a:pPr>
            <a:r>
              <a:t>D</a:t>
            </a:r>
          </a:p>
        </p:txBody>
      </p:sp>
      <p:sp>
        <p:nvSpPr>
          <p:cNvPr id="19" name="TextBox 18"/>
          <p:cNvSpPr txBox="1"/>
          <p:nvPr/>
        </p:nvSpPr>
        <p:spPr>
          <a:xfrm>
            <a:off x="1143000" y="4701540"/>
            <a:ext cx="4610100" cy="334975"/>
          </a:xfrm>
          <a:prstGeom prst="rect">
            <a:avLst/>
          </a:prstGeom>
          <a:noFill/>
        </p:spPr>
        <p:txBody>
          <a:bodyPr wrap="none" anchor="t" lIns="0" rIns="0" tIns="0" bIns="0">
            <a:noAutofit/>
          </a:bodyPr>
          <a:lstStyle/>
          <a:p>
            <a:pPr>
              <a:lnSpc>
                <a:spcPts val="2157"/>
              </a:lnSpc>
              <a:spcBef>
                <a:spcPts val="0"/>
              </a:spcBef>
              <a:spcAft>
                <a:spcPts val="0"/>
              </a:spcAft>
              <a:defRPr sz="1739" b="1">
                <a:solidFill>
                  <a:srgbClr val="17283F"/>
                </a:solidFill>
                <a:latin typeface="Arial"/>
              </a:defRPr>
            </a:pPr>
            <a:r>
              <a:t>Integrated Gradients</a:t>
            </a:r>
          </a:p>
        </p:txBody>
      </p:sp>
      <p:sp>
        <p:nvSpPr>
          <p:cNvPr id="20" name="TextBox 19"/>
          <p:cNvSpPr txBox="1"/>
          <p:nvPr/>
        </p:nvSpPr>
        <p:spPr>
          <a:xfrm>
            <a:off x="1143000" y="5067300"/>
            <a:ext cx="4610100" cy="287731"/>
          </a:xfrm>
          <a:prstGeom prst="rect">
            <a:avLst/>
          </a:prstGeom>
          <a:noFill/>
        </p:spPr>
        <p:txBody>
          <a:bodyPr wrap="none" anchor="t" lIns="0" rIns="0" tIns="0" bIns="0">
            <a:noAutofit/>
          </a:bodyPr>
          <a:lstStyle/>
          <a:p>
            <a:pPr>
              <a:lnSpc>
                <a:spcPts val="1785"/>
              </a:lnSpc>
              <a:spcBef>
                <a:spcPts val="0"/>
              </a:spcBef>
              <a:spcAft>
                <a:spcPts val="0"/>
              </a:spcAft>
              <a:defRPr sz="1439" b="0">
                <a:solidFill>
                  <a:srgbClr val="526278"/>
                </a:solidFill>
                <a:latin typeface="Arial"/>
              </a:defRPr>
            </a:pPr>
            <a:r>
              <a:t>Sundararajan et al. · ICML 2017</a:t>
            </a:r>
          </a:p>
        </p:txBody>
      </p:sp>
      <p:sp>
        <p:nvSpPr>
          <p:cNvPr id="21" name="TextBox 20"/>
          <p:cNvSpPr txBox="1"/>
          <p:nvPr/>
        </p:nvSpPr>
        <p:spPr>
          <a:xfrm>
            <a:off x="6324600" y="2141220"/>
            <a:ext cx="495299" cy="363321"/>
          </a:xfrm>
          <a:prstGeom prst="rect">
            <a:avLst/>
          </a:prstGeom>
          <a:noFill/>
        </p:spPr>
        <p:txBody>
          <a:bodyPr wrap="none" anchor="t" lIns="0" rIns="0" tIns="0" bIns="0">
            <a:noAutofit/>
          </a:bodyPr>
          <a:lstStyle/>
          <a:p>
            <a:pPr>
              <a:lnSpc>
                <a:spcPts val="2380"/>
              </a:lnSpc>
              <a:spcBef>
                <a:spcPts val="0"/>
              </a:spcBef>
              <a:spcAft>
                <a:spcPts val="0"/>
              </a:spcAft>
              <a:defRPr sz="1920" b="1">
                <a:solidFill>
                  <a:srgbClr val="087F7B"/>
                </a:solidFill>
                <a:latin typeface="Arial"/>
              </a:defRPr>
            </a:pPr>
            <a:r>
              <a:t>E</a:t>
            </a:r>
          </a:p>
        </p:txBody>
      </p:sp>
      <p:sp>
        <p:nvSpPr>
          <p:cNvPr id="22" name="TextBox 21"/>
          <p:cNvSpPr txBox="1"/>
          <p:nvPr/>
        </p:nvSpPr>
        <p:spPr>
          <a:xfrm>
            <a:off x="6858000" y="2141220"/>
            <a:ext cx="4610100" cy="334975"/>
          </a:xfrm>
          <a:prstGeom prst="rect">
            <a:avLst/>
          </a:prstGeom>
          <a:noFill/>
        </p:spPr>
        <p:txBody>
          <a:bodyPr wrap="none" anchor="t" lIns="0" rIns="0" tIns="0" bIns="0">
            <a:noAutofit/>
          </a:bodyPr>
          <a:lstStyle/>
          <a:p>
            <a:pPr>
              <a:lnSpc>
                <a:spcPts val="2157"/>
              </a:lnSpc>
              <a:spcBef>
                <a:spcPts val="0"/>
              </a:spcBef>
              <a:spcAft>
                <a:spcPts val="0"/>
              </a:spcAft>
              <a:defRPr sz="1739" b="1">
                <a:solidFill>
                  <a:srgbClr val="17283F"/>
                </a:solidFill>
                <a:latin typeface="Arial"/>
              </a:defRPr>
            </a:pPr>
            <a:r>
              <a:t>Grad-CAM</a:t>
            </a:r>
          </a:p>
        </p:txBody>
      </p:sp>
      <p:sp>
        <p:nvSpPr>
          <p:cNvPr id="23" name="TextBox 22"/>
          <p:cNvSpPr txBox="1"/>
          <p:nvPr/>
        </p:nvSpPr>
        <p:spPr>
          <a:xfrm>
            <a:off x="6858000" y="2506980"/>
            <a:ext cx="4610100" cy="287731"/>
          </a:xfrm>
          <a:prstGeom prst="rect">
            <a:avLst/>
          </a:prstGeom>
          <a:noFill/>
        </p:spPr>
        <p:txBody>
          <a:bodyPr wrap="none" anchor="t" lIns="0" rIns="0" tIns="0" bIns="0">
            <a:noAutofit/>
          </a:bodyPr>
          <a:lstStyle/>
          <a:p>
            <a:pPr>
              <a:lnSpc>
                <a:spcPts val="1785"/>
              </a:lnSpc>
              <a:spcBef>
                <a:spcPts val="0"/>
              </a:spcBef>
              <a:spcAft>
                <a:spcPts val="0"/>
              </a:spcAft>
              <a:defRPr sz="1439" b="0">
                <a:solidFill>
                  <a:srgbClr val="526278"/>
                </a:solidFill>
                <a:latin typeface="Arial"/>
              </a:defRPr>
            </a:pPr>
            <a:r>
              <a:t>Selvaraju et al. · ICCV 2017</a:t>
            </a:r>
          </a:p>
        </p:txBody>
      </p:sp>
      <p:sp>
        <p:nvSpPr>
          <p:cNvPr id="24" name="TextBox 23"/>
          <p:cNvSpPr txBox="1"/>
          <p:nvPr/>
        </p:nvSpPr>
        <p:spPr>
          <a:xfrm>
            <a:off x="6324600" y="2994660"/>
            <a:ext cx="495299" cy="363321"/>
          </a:xfrm>
          <a:prstGeom prst="rect">
            <a:avLst/>
          </a:prstGeom>
          <a:noFill/>
        </p:spPr>
        <p:txBody>
          <a:bodyPr wrap="none" anchor="t" lIns="0" rIns="0" tIns="0" bIns="0">
            <a:noAutofit/>
          </a:bodyPr>
          <a:lstStyle/>
          <a:p>
            <a:pPr>
              <a:lnSpc>
                <a:spcPts val="2380"/>
              </a:lnSpc>
              <a:spcBef>
                <a:spcPts val="0"/>
              </a:spcBef>
              <a:spcAft>
                <a:spcPts val="0"/>
              </a:spcAft>
              <a:defRPr sz="1920" b="1">
                <a:solidFill>
                  <a:srgbClr val="087F7B"/>
                </a:solidFill>
                <a:latin typeface="Arial"/>
              </a:defRPr>
            </a:pPr>
            <a:r>
              <a:t>F</a:t>
            </a:r>
          </a:p>
        </p:txBody>
      </p:sp>
      <p:sp>
        <p:nvSpPr>
          <p:cNvPr id="25" name="TextBox 24"/>
          <p:cNvSpPr txBox="1"/>
          <p:nvPr/>
        </p:nvSpPr>
        <p:spPr>
          <a:xfrm>
            <a:off x="6858000" y="2994660"/>
            <a:ext cx="4610100" cy="334975"/>
          </a:xfrm>
          <a:prstGeom prst="rect">
            <a:avLst/>
          </a:prstGeom>
          <a:noFill/>
        </p:spPr>
        <p:txBody>
          <a:bodyPr wrap="none" anchor="t" lIns="0" rIns="0" tIns="0" bIns="0">
            <a:noAutofit/>
          </a:bodyPr>
          <a:lstStyle/>
          <a:p>
            <a:pPr>
              <a:lnSpc>
                <a:spcPts val="2157"/>
              </a:lnSpc>
              <a:spcBef>
                <a:spcPts val="0"/>
              </a:spcBef>
              <a:spcAft>
                <a:spcPts val="0"/>
              </a:spcAft>
              <a:defRPr sz="1739" b="1">
                <a:solidFill>
                  <a:srgbClr val="17283F"/>
                </a:solidFill>
                <a:latin typeface="Arial"/>
              </a:defRPr>
            </a:pPr>
            <a:r>
              <a:t>Sanity Checks for Saliency Maps</a:t>
            </a:r>
          </a:p>
        </p:txBody>
      </p:sp>
      <p:sp>
        <p:nvSpPr>
          <p:cNvPr id="26" name="TextBox 25"/>
          <p:cNvSpPr txBox="1"/>
          <p:nvPr/>
        </p:nvSpPr>
        <p:spPr>
          <a:xfrm>
            <a:off x="6858000" y="3360420"/>
            <a:ext cx="4610100" cy="287731"/>
          </a:xfrm>
          <a:prstGeom prst="rect">
            <a:avLst/>
          </a:prstGeom>
          <a:noFill/>
        </p:spPr>
        <p:txBody>
          <a:bodyPr wrap="none" anchor="t" lIns="0" rIns="0" tIns="0" bIns="0">
            <a:noAutofit/>
          </a:bodyPr>
          <a:lstStyle/>
          <a:p>
            <a:pPr>
              <a:lnSpc>
                <a:spcPts val="1785"/>
              </a:lnSpc>
              <a:spcBef>
                <a:spcPts val="0"/>
              </a:spcBef>
              <a:spcAft>
                <a:spcPts val="0"/>
              </a:spcAft>
              <a:defRPr sz="1439" b="0">
                <a:solidFill>
                  <a:srgbClr val="526278"/>
                </a:solidFill>
                <a:latin typeface="Arial"/>
              </a:defRPr>
            </a:pPr>
            <a:r>
              <a:t>Adebayo et al. · NeurIPS 2018</a:t>
            </a:r>
          </a:p>
        </p:txBody>
      </p:sp>
      <p:sp>
        <p:nvSpPr>
          <p:cNvPr id="27" name="TextBox 26"/>
          <p:cNvSpPr txBox="1"/>
          <p:nvPr/>
        </p:nvSpPr>
        <p:spPr>
          <a:xfrm>
            <a:off x="6324600" y="3848099"/>
            <a:ext cx="495299" cy="363321"/>
          </a:xfrm>
          <a:prstGeom prst="rect">
            <a:avLst/>
          </a:prstGeom>
          <a:noFill/>
        </p:spPr>
        <p:txBody>
          <a:bodyPr wrap="none" anchor="t" lIns="0" rIns="0" tIns="0" bIns="0">
            <a:noAutofit/>
          </a:bodyPr>
          <a:lstStyle/>
          <a:p>
            <a:pPr>
              <a:lnSpc>
                <a:spcPts val="2380"/>
              </a:lnSpc>
              <a:spcBef>
                <a:spcPts val="0"/>
              </a:spcBef>
              <a:spcAft>
                <a:spcPts val="0"/>
              </a:spcAft>
              <a:defRPr sz="1920" b="1">
                <a:solidFill>
                  <a:srgbClr val="087F7B"/>
                </a:solidFill>
                <a:latin typeface="Arial"/>
              </a:defRPr>
            </a:pPr>
            <a:r>
              <a:t>G</a:t>
            </a:r>
          </a:p>
        </p:txBody>
      </p:sp>
      <p:sp>
        <p:nvSpPr>
          <p:cNvPr id="28" name="TextBox 27"/>
          <p:cNvSpPr txBox="1"/>
          <p:nvPr/>
        </p:nvSpPr>
        <p:spPr>
          <a:xfrm>
            <a:off x="6858000" y="3848099"/>
            <a:ext cx="4610100" cy="334975"/>
          </a:xfrm>
          <a:prstGeom prst="rect">
            <a:avLst/>
          </a:prstGeom>
          <a:noFill/>
        </p:spPr>
        <p:txBody>
          <a:bodyPr wrap="none" anchor="t" lIns="0" rIns="0" tIns="0" bIns="0">
            <a:noAutofit/>
          </a:bodyPr>
          <a:lstStyle/>
          <a:p>
            <a:pPr>
              <a:lnSpc>
                <a:spcPts val="2157"/>
              </a:lnSpc>
              <a:spcBef>
                <a:spcPts val="0"/>
              </a:spcBef>
              <a:spcAft>
                <a:spcPts val="0"/>
              </a:spcAft>
              <a:defRPr sz="1739" b="1">
                <a:solidFill>
                  <a:srgbClr val="17283F"/>
                </a:solidFill>
                <a:latin typeface="Arial"/>
              </a:defRPr>
            </a:pPr>
            <a:r>
              <a:t>Quantus</a:t>
            </a:r>
          </a:p>
        </p:txBody>
      </p:sp>
      <p:sp>
        <p:nvSpPr>
          <p:cNvPr id="29" name="TextBox 28"/>
          <p:cNvSpPr txBox="1"/>
          <p:nvPr/>
        </p:nvSpPr>
        <p:spPr>
          <a:xfrm>
            <a:off x="6858000" y="4213860"/>
            <a:ext cx="4610100" cy="287731"/>
          </a:xfrm>
          <a:prstGeom prst="rect">
            <a:avLst/>
          </a:prstGeom>
          <a:noFill/>
        </p:spPr>
        <p:txBody>
          <a:bodyPr wrap="none" anchor="t" lIns="0" rIns="0" tIns="0" bIns="0">
            <a:noAutofit/>
          </a:bodyPr>
          <a:lstStyle/>
          <a:p>
            <a:pPr>
              <a:lnSpc>
                <a:spcPts val="1785"/>
              </a:lnSpc>
              <a:spcBef>
                <a:spcPts val="0"/>
              </a:spcBef>
              <a:spcAft>
                <a:spcPts val="0"/>
              </a:spcAft>
              <a:defRPr sz="1439" b="0">
                <a:solidFill>
                  <a:srgbClr val="526278"/>
                </a:solidFill>
                <a:latin typeface="Arial"/>
              </a:defRPr>
            </a:pPr>
            <a:r>
              <a:t>Hedström et al. · JMLR 2023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Detecção de falsificações faciais — resultados e explicabilidade</dc:title>
  <dc:subject>Apresentação pt-BR; resultados publicados e protocolos pré-execução</dc:subject>
  <dc:creator>Equipe de pesquisa — PUCPR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